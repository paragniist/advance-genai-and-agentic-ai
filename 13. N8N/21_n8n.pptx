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bookmarkIdSeed="2">
  <p:sldMasterIdLst>
    <p:sldMasterId id="2147483648" r:id="rId1"/>
  </p:sldMasterIdLst>
  <p:notesMasterIdLst>
    <p:notesMasterId r:id="rId11"/>
  </p:notesMasterIdLst>
  <p:sldIdLst>
    <p:sldId id="274" r:id="rId2"/>
    <p:sldId id="554" r:id="rId3"/>
    <p:sldId id="556" r:id="rId4"/>
    <p:sldId id="548" r:id="rId5"/>
    <p:sldId id="549" r:id="rId6"/>
    <p:sldId id="555" r:id="rId7"/>
    <p:sldId id="529" r:id="rId8"/>
    <p:sldId id="557" r:id="rId9"/>
    <p:sldId id="27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0HItghaSvE5eHsZb5weJ9w==" hashData="BoQOqkvidmGk1j3tAAkWyLrWfmmiZbhdOM4LiouzRHv5YU7Y0H2FUqTU2PWlcw/mpOiqD1h3VQuDsMtRXwqlLw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06" autoAdjust="0"/>
    <p:restoredTop sz="88806" autoAdjust="0"/>
  </p:normalViewPr>
  <p:slideViewPr>
    <p:cSldViewPr snapToGrid="0">
      <p:cViewPr varScale="1">
        <p:scale>
          <a:sx n="77" d="100"/>
          <a:sy n="77" d="100"/>
        </p:scale>
        <p:origin x="6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65ECAA-268E-4C0D-9FC7-17C53698496D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84D035-8484-4F58-9D29-A39A493CE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566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578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042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 smtClean="0"/>
              <a:t>npm</a:t>
            </a:r>
            <a:r>
              <a:rPr lang="en-US" b="1" dirty="0" smtClean="0"/>
              <a:t> (Node Package Manager)</a:t>
            </a:r>
            <a:r>
              <a:rPr lang="en-US" dirty="0" smtClean="0"/>
              <a:t> is the tool that installs packages. </a:t>
            </a:r>
          </a:p>
          <a:p>
            <a:endParaRPr lang="en-US" dirty="0" smtClean="0"/>
          </a:p>
          <a:p>
            <a:r>
              <a:rPr lang="en-US" dirty="0" smtClean="0"/>
              <a:t>When you run </a:t>
            </a:r>
            <a:r>
              <a:rPr lang="en-US" b="1" dirty="0" err="1" smtClean="0"/>
              <a:t>npm</a:t>
            </a:r>
            <a:r>
              <a:rPr lang="en-US" b="1" dirty="0" smtClean="0"/>
              <a:t> install n8n -g</a:t>
            </a:r>
            <a:r>
              <a:rPr lang="en-US" dirty="0" smtClean="0"/>
              <a:t>, it downloads n8n and saves it permanently to your system so you can run n8n as a command anytime afterward.</a:t>
            </a:r>
          </a:p>
          <a:p>
            <a:endParaRPr lang="en-US" b="1" dirty="0" smtClean="0"/>
          </a:p>
          <a:p>
            <a:r>
              <a:rPr lang="en-US" b="1" dirty="0" err="1" smtClean="0"/>
              <a:t>npx</a:t>
            </a:r>
            <a:r>
              <a:rPr lang="en-US" b="1" dirty="0" smtClean="0"/>
              <a:t> (Node Package Executor)</a:t>
            </a:r>
            <a:r>
              <a:rPr lang="en-US" dirty="0" smtClean="0"/>
              <a:t> is a runner that comes bundled with </a:t>
            </a:r>
            <a:r>
              <a:rPr lang="en-US" dirty="0" err="1" smtClean="0"/>
              <a:t>npm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When you run </a:t>
            </a:r>
            <a:r>
              <a:rPr lang="en-US" b="1" dirty="0" err="1" smtClean="0"/>
              <a:t>npx</a:t>
            </a:r>
            <a:r>
              <a:rPr lang="en-US" b="1" dirty="0" smtClean="0"/>
              <a:t> n8n</a:t>
            </a:r>
            <a:r>
              <a:rPr lang="en-US" dirty="0" smtClean="0"/>
              <a:t>, it temporarily downloads and executes n8n without permanently installing it. Once the process ends, nothing is left behind on your system.</a:t>
            </a:r>
          </a:p>
          <a:p>
            <a:endParaRPr lang="en-US" dirty="0" smtClean="0"/>
          </a:p>
          <a:p>
            <a:r>
              <a:rPr lang="en-US" b="1" dirty="0" smtClean="0"/>
              <a:t>The practical difference:</a:t>
            </a:r>
          </a:p>
          <a:p>
            <a:r>
              <a:rPr lang="en-US" dirty="0" err="1" smtClean="0"/>
              <a:t>npm</a:t>
            </a:r>
            <a:r>
              <a:rPr lang="en-US" dirty="0" smtClean="0"/>
              <a:t> install n8n -g then n8n start — installs once, run many times, faster on subsequent runs</a:t>
            </a:r>
          </a:p>
          <a:p>
            <a:r>
              <a:rPr lang="en-US" dirty="0" err="1" smtClean="0"/>
              <a:t>npx</a:t>
            </a:r>
            <a:r>
              <a:rPr lang="en-US" dirty="0" smtClean="0"/>
              <a:t> n8n — no installation step, always fetches the latest version, great for one-off runs or trying something out</a:t>
            </a:r>
          </a:p>
          <a:p>
            <a:endParaRPr lang="en-IN" dirty="0" smtClean="0"/>
          </a:p>
          <a:p>
            <a:r>
              <a:rPr lang="en-US" dirty="0" smtClean="0"/>
              <a:t>When n8n runs (whether via </a:t>
            </a:r>
            <a:r>
              <a:rPr lang="en-US" dirty="0" err="1" smtClean="0"/>
              <a:t>npx</a:t>
            </a:r>
            <a:r>
              <a:rPr lang="en-US" dirty="0" smtClean="0"/>
              <a:t> or </a:t>
            </a:r>
            <a:r>
              <a:rPr lang="en-US" dirty="0" err="1" smtClean="0"/>
              <a:t>npm</a:t>
            </a:r>
            <a:r>
              <a:rPr lang="en-US" dirty="0" smtClean="0"/>
              <a:t>), it immediately creates a data folder on your system:</a:t>
            </a:r>
          </a:p>
          <a:p>
            <a:r>
              <a:rPr lang="en-US" b="1" dirty="0" smtClean="0"/>
              <a:t>Linux/Mac:</a:t>
            </a:r>
            <a:r>
              <a:rPr lang="en-US" dirty="0" smtClean="0"/>
              <a:t> ~/.n8n/</a:t>
            </a:r>
          </a:p>
          <a:p>
            <a:r>
              <a:rPr lang="en-US" b="1" dirty="0" smtClean="0"/>
              <a:t>Windows:</a:t>
            </a:r>
            <a:r>
              <a:rPr lang="en-US" dirty="0" smtClean="0"/>
              <a:t> C:\Users\YourName\.n8n\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393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docker.n8n.io  /  n8nio/n8n  :  latest</a:t>
            </a:r>
          </a:p>
          <a:p>
            <a:r>
              <a:rPr lang="pt-BR" dirty="0" smtClean="0"/>
              <a:t>   registry       image name    tag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838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docker.n8n.io  /  n8nio/n8n  :  latest</a:t>
            </a:r>
          </a:p>
          <a:p>
            <a:r>
              <a:rPr lang="pt-BR" dirty="0" smtClean="0"/>
              <a:t>   registry       image name    tag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4059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 smtClean="0"/>
              <a:t>Webhook</a:t>
            </a:r>
            <a:r>
              <a:rPr lang="en-US" b="1" dirty="0" smtClean="0"/>
              <a:t> </a:t>
            </a:r>
            <a:r>
              <a:rPr lang="en-US" dirty="0" smtClean="0"/>
              <a:t>Starts a workflow when an HTTP request is received. External application sends data to n8n to trigger.</a:t>
            </a:r>
          </a:p>
          <a:p>
            <a:r>
              <a:rPr lang="en-US" b="1" dirty="0" smtClean="0"/>
              <a:t>HTTP Request</a:t>
            </a:r>
            <a:r>
              <a:rPr lang="en-US" b="0" baseline="0" dirty="0" smtClean="0"/>
              <a:t> make</a:t>
            </a:r>
            <a:r>
              <a:rPr lang="en-US" dirty="0" smtClean="0"/>
              <a:t> API requests (GET, POST, PUT, DELETE) to external services. Fetch data from an external API.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352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 smtClean="0"/>
              <a:t>Webhook</a:t>
            </a:r>
            <a:r>
              <a:rPr lang="en-US" b="1" dirty="0" smtClean="0"/>
              <a:t> </a:t>
            </a:r>
            <a:r>
              <a:rPr lang="en-US" dirty="0" smtClean="0"/>
              <a:t>Starts a workflow when an HTTP request is received. External application sends data to n8n to trigger.</a:t>
            </a:r>
          </a:p>
          <a:p>
            <a:r>
              <a:rPr lang="en-US" b="1" dirty="0" smtClean="0"/>
              <a:t>HTTP Request</a:t>
            </a:r>
            <a:r>
              <a:rPr lang="en-US" b="0" baseline="0" dirty="0" smtClean="0"/>
              <a:t> make</a:t>
            </a:r>
            <a:r>
              <a:rPr lang="en-US" dirty="0" smtClean="0"/>
              <a:t> API requests (GET, POST, PUT, DELETE) to external services. Fetch data from an external API.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434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7991F-E995-897B-29EE-7B505AB664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B67F7B-139D-FBEE-5DC8-2E47E96F6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4AFDF-4EB4-2154-D568-E99CEAE5B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859FE-B4A5-F459-6D01-CA55616D4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A9D83-4AD0-F06F-1BFD-7335E67B4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258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E64DD-1124-594C-D6C3-30AC77D82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956EB-D5B0-F889-4D83-707F88584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DB960-C94C-3229-A8BF-3F24767F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BC9D0-5AF0-DB1E-FCC8-DF40FBA80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28B43-188B-BE7E-1FAD-B28D9A1D4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307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E9EB8-B517-7328-045D-4B42F4BE5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749FE-223B-0565-51D9-E7E53B557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3461B-39F7-04FD-57A8-48AD930AE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0593-5333-C224-E1B2-B9C4B7D4A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4ADE0-4449-0BD6-D966-CBE20849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112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2BC8-D36F-6117-FAEA-86021EC6D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5CDAA-66A4-B827-7699-008FFE7F0D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FF1F8-BAE7-DDAA-F6CA-97D830A92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F4065-84FE-70CE-9B5B-A521F70EB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FADE3-3E99-1A24-242B-3D30AA30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D6DFB-8246-E19B-62C9-847771CAA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462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9FF33-E1F9-C9DF-28CF-2D93FA989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1D9D4-7C67-8F4B-F2C9-B50F979E9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47A6A-A844-7785-EC67-177F6B94B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9B2FA6-D7BB-E706-A3E8-01420028AA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08A30B-A453-4BFC-A2CB-5A150DDC4F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7DCAD0-84E3-47EE-3D70-9F876F0B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432BE6-EB1D-4DA5-DB48-B58D962A5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2746C8-70CA-3360-6BC6-A40F5F239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395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445D-64B1-38C3-5E24-38598BEBE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786F1-B775-4C52-E819-3543529F9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73C8A-E876-90D6-B15F-115238CF9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0A1262-279B-4A6C-5CC3-C6A8887A5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27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D09089-4275-1048-CEE7-0A08D71C9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724FCE-FC51-100D-7EB4-2F6914D23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BE78A-DA65-3C14-808A-55415599C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753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B034B-8224-5F4C-8974-BA0376FEB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8BB6E-D8F6-DC0B-FCAC-E415397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3FDD0-87F9-F157-8C07-205CD29C1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131F2-E21E-1789-5933-56F48882B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1DBC4-505F-2A13-B335-1FE99DB35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D1DE6-DFF0-9B32-8951-71B5CAE27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492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93B5-339E-870A-6EE5-0B819E5BA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56FB93-2AEC-67EB-4024-437105D2FB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BA8DE-B9F6-F250-1B1E-B6DB595B1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4E7EB-F1EF-3651-2266-5B1F5AAF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F8B12-A386-0FB5-44B5-2D7767357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B1C7B-6BD8-92FA-C044-366FF654F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001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36908-04DA-A591-9C9B-1F097FDDA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AE0DE2-418D-750C-597F-38D94976F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9CDEA-53E8-2C23-CC9E-AF5A3901B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CAD83-374B-35CE-53E8-8899EA9B3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EC723-68AA-7191-39BE-8F208C92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964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231BD8-F8EB-C0C4-26BA-CA01B0753E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D1228-3044-8025-2371-BBC89DB83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A1DCB-8164-1EF0-D63F-0D51A08A3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40341-CF13-2A66-53D2-588E571DD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17D7C-CC1C-1264-2DA1-295E6D1A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761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700B29-40C6-2BA3-A1E6-F3D6B197A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F8C6B-3E6D-5141-6436-161A08D0D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8DBB8-43B9-9730-B866-9A749FCB3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2066A6-D1A9-4114-9E94-251832C69923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D5448-9797-D45F-7189-84C1AE1CA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D67D6-EA6E-021B-9B76-56F9014206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883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localhost:5678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ker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38EA56-8646-05A2-36D5-9122791CB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3250" y="1014884"/>
            <a:ext cx="6105194" cy="3283103"/>
          </a:xfrm>
        </p:spPr>
        <p:txBody>
          <a:bodyPr>
            <a:normAutofit/>
          </a:bodyPr>
          <a:lstStyle/>
          <a:p>
            <a:r>
              <a:rPr lang="en-US" sz="66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N8N</a:t>
            </a:r>
            <a:endParaRPr lang="en-IN" sz="6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415" y="75515"/>
            <a:ext cx="610970" cy="61097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CC98F91-2037-6AAF-7C21-34FAB6DA435D}"/>
              </a:ext>
            </a:extLst>
          </p:cNvPr>
          <p:cNvGrpSpPr/>
          <p:nvPr/>
        </p:nvGrpSpPr>
        <p:grpSpPr>
          <a:xfrm>
            <a:off x="3626418" y="4759020"/>
            <a:ext cx="4445785" cy="589558"/>
            <a:chOff x="3614024" y="4908823"/>
            <a:chExt cx="4445785" cy="589558"/>
          </a:xfrm>
        </p:grpSpPr>
        <p:sp>
          <p:nvSpPr>
            <p:cNvPr id="18" name="Title 1">
              <a:extLst>
                <a:ext uri="{FF2B5EF4-FFF2-40B4-BE49-F238E27FC236}">
                  <a16:creationId xmlns:a16="http://schemas.microsoft.com/office/drawing/2014/main" id="{D64B9545-AA74-9959-DEF7-A5E273646E5C}"/>
                </a:ext>
              </a:extLst>
            </p:cNvPr>
            <p:cNvSpPr txBox="1">
              <a:spLocks/>
            </p:cNvSpPr>
            <p:nvPr/>
          </p:nvSpPr>
          <p:spPr>
            <a:xfrm>
              <a:off x="3614024" y="4908823"/>
              <a:ext cx="4445785" cy="58955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3200" dirty="0" smtClean="0"/>
                <a:t>By</a:t>
              </a:r>
              <a:r>
                <a:rPr lang="en-US" sz="3200" b="1" dirty="0" smtClean="0">
                  <a:solidFill>
                    <a:srgbClr val="00B0F0"/>
                  </a:solidFill>
                </a:rPr>
                <a:t> </a:t>
              </a:r>
              <a:endParaRPr lang="en-US" sz="3200" b="1" dirty="0">
                <a:solidFill>
                  <a:srgbClr val="00B050"/>
                </a:solidFill>
              </a:endParaRPr>
            </a:p>
          </p:txBody>
        </p:sp>
        <p:pic>
          <p:nvPicPr>
            <p:cNvPr id="19" name="Picture 18" descr="A blue and green logo&#10;&#10;Description automatically generated">
              <a:extLst>
                <a:ext uri="{FF2B5EF4-FFF2-40B4-BE49-F238E27FC236}">
                  <a16:creationId xmlns:a16="http://schemas.microsoft.com/office/drawing/2014/main" id="{93B8DE8A-D399-DD1D-681B-D87204E48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7646" y="4908823"/>
              <a:ext cx="589558" cy="5895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8675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N8N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4237278"/>
              </p:ext>
            </p:extLst>
          </p:nvPr>
        </p:nvGraphicFramePr>
        <p:xfrm>
          <a:off x="699135" y="1756674"/>
          <a:ext cx="10930255" cy="4450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75187">
                  <a:extLst>
                    <a:ext uri="{9D8B030D-6E8A-4147-A177-3AD203B41FA5}">
                      <a16:colId xmlns:a16="http://schemas.microsoft.com/office/drawing/2014/main" val="1190565068"/>
                    </a:ext>
                  </a:extLst>
                </a:gridCol>
                <a:gridCol w="8455068">
                  <a:extLst>
                    <a:ext uri="{9D8B030D-6E8A-4147-A177-3AD203B41FA5}">
                      <a16:colId xmlns:a16="http://schemas.microsoft.com/office/drawing/2014/main" val="28769891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7783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n8n is a low-code workflow automation platform used to integrate applications and automate tasks.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2186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Visual Workflow Editor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Drag-and-drop canvas to design workflows visually without writing much code.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6327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Node-Based 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Workflows are built using nodes that represent actions, triggers, or logic steps.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9911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Flow (JSON)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moves between nodes as structured JSON objects, enabling flexible data transformations.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0554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Expressions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Dynamic variables like {{$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json.field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}} allow referencing outputs from previous nodes.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5651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Supports 400+ integrations with tools like Slack, Google Sheets, and GitHub.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9621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Workflow Execution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Workflows can run manually, on schedule (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cron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), or via event triggers.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8101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Credential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Secure storage for API keys, OAuth tokens, and other service credentials.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8815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Self-Hosting &amp; cloud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 be deployed on private infrastructure using tools like Docker or </a:t>
                      </a:r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Node.js</a:t>
                      </a:r>
                      <a:r>
                        <a:rPr lang="en-US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and has cloud offering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0091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 / LLM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Supports </a:t>
                      </a: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 </a:t>
                      </a:r>
                      <a:r>
                        <a:rPr lang="en-US" sz="1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workflows, RAG </a:t>
                      </a: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 agents 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via frameworks like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LangChain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8370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Licensing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Uses a Fair-Code license, allowing free internal use with restrictions on commercial resale.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646422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99135" y="882075"/>
            <a:ext cx="109931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n8n is a low-code workflow automation platform that lets users visually orchestrate APIs, services, and AI pipelines through node-based workflows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326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N8N self hosted vs Cloud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885227"/>
              </p:ext>
            </p:extLst>
          </p:nvPr>
        </p:nvGraphicFramePr>
        <p:xfrm>
          <a:off x="1053548" y="1349030"/>
          <a:ext cx="10224052" cy="4043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13991">
                  <a:extLst>
                    <a:ext uri="{9D8B030D-6E8A-4147-A177-3AD203B41FA5}">
                      <a16:colId xmlns:a16="http://schemas.microsoft.com/office/drawing/2014/main" val="892015391"/>
                    </a:ext>
                  </a:extLst>
                </a:gridCol>
                <a:gridCol w="3995531">
                  <a:extLst>
                    <a:ext uri="{9D8B030D-6E8A-4147-A177-3AD203B41FA5}">
                      <a16:colId xmlns:a16="http://schemas.microsoft.com/office/drawing/2014/main" val="1784116480"/>
                    </a:ext>
                  </a:extLst>
                </a:gridCol>
                <a:gridCol w="3614530">
                  <a:extLst>
                    <a:ext uri="{9D8B030D-6E8A-4147-A177-3AD203B41FA5}">
                      <a16:colId xmlns:a16="http://schemas.microsoft.com/office/drawing/2014/main" val="3559308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Self-Hosted n8n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n8n Cloud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4091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Install using Docker or Node.js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installation required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006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 manage server, updates, backups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Managed by n8n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86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Full control over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Stored on cloud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08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Free software (pay only for infrastructure)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Subscription based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1054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Customization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Limited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3319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Best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Enterprises, private deployments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Quick </a:t>
                      </a:r>
                      <a:r>
                        <a:rPr lang="en-IN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 for</a:t>
                      </a:r>
                      <a:r>
                        <a:rPr lang="en-IN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both small and enterprises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3456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Security &amp; Compliance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 run inside private networks or enterprise environments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Standard cloud security provided by n8n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8634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0201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N8N installation using Node.js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955275"/>
              </p:ext>
            </p:extLst>
          </p:nvPr>
        </p:nvGraphicFramePr>
        <p:xfrm>
          <a:off x="856593" y="1055996"/>
          <a:ext cx="9476829" cy="2595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15004">
                  <a:extLst>
                    <a:ext uri="{9D8B030D-6E8A-4147-A177-3AD203B41FA5}">
                      <a16:colId xmlns:a16="http://schemas.microsoft.com/office/drawing/2014/main" val="722863822"/>
                    </a:ext>
                  </a:extLst>
                </a:gridCol>
                <a:gridCol w="4124706">
                  <a:extLst>
                    <a:ext uri="{9D8B030D-6E8A-4147-A177-3AD203B41FA5}">
                      <a16:colId xmlns:a16="http://schemas.microsoft.com/office/drawing/2014/main" val="427808227"/>
                    </a:ext>
                  </a:extLst>
                </a:gridCol>
                <a:gridCol w="4437119">
                  <a:extLst>
                    <a:ext uri="{9D8B030D-6E8A-4147-A177-3AD203B41FA5}">
                      <a16:colId xmlns:a16="http://schemas.microsoft.com/office/drawing/2014/main" val="36974927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Command / Link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6643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Install </a:t>
                      </a:r>
                      <a:r>
                        <a:rPr lang="en-IN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Node.js (includes </a:t>
                      </a:r>
                      <a:r>
                        <a:rPr lang="en-IN" sz="16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npm</a:t>
                      </a:r>
                      <a:r>
                        <a:rPr lang="en-IN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  <a:hlinkClick r:id="rId3"/>
                        </a:rPr>
                        <a:t>https://nodejs.org</a:t>
                      </a:r>
                      <a:endParaRPr lang="en-IN" sz="16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3718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Verify installation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node -v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5563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Verify npm installation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npm</a:t>
                      </a:r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7697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Install </a:t>
                      </a:r>
                      <a:r>
                        <a:rPr lang="en-IN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n8n globally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npm install -g n8n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226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 n8n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n8n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038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 n8n </a:t>
                      </a:r>
                      <a:r>
                        <a:rPr lang="en-IN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UI in browser (5678 default</a:t>
                      </a:r>
                      <a:r>
                        <a:rPr lang="en-IN" sz="16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port)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4"/>
                        </a:rPr>
                        <a:t>http://localhost:5678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4373734"/>
                  </a:ext>
                </a:extLst>
              </a:tr>
            </a:tbl>
          </a:graphicData>
        </a:graphic>
      </p:graphicFrame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762000" y="3915788"/>
            <a:ext cx="610826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Alternative (Run without installing globally)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663656"/>
              </p:ext>
            </p:extLst>
          </p:nvPr>
        </p:nvGraphicFramePr>
        <p:xfrm>
          <a:off x="856592" y="4507941"/>
          <a:ext cx="9476829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200191">
                  <a:extLst>
                    <a:ext uri="{9D8B030D-6E8A-4147-A177-3AD203B41FA5}">
                      <a16:colId xmlns:a16="http://schemas.microsoft.com/office/drawing/2014/main" val="816908711"/>
                    </a:ext>
                  </a:extLst>
                </a:gridCol>
                <a:gridCol w="3276638">
                  <a:extLst>
                    <a:ext uri="{9D8B030D-6E8A-4147-A177-3AD203B41FA5}">
                      <a16:colId xmlns:a16="http://schemas.microsoft.com/office/drawing/2014/main" val="6632470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4672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Run n8n directly using </a:t>
                      </a:r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NPX (removes</a:t>
                      </a:r>
                      <a:r>
                        <a:rPr lang="en-US" sz="16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after closing)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npx</a:t>
                      </a:r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n8n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4328839"/>
                  </a:ext>
                </a:extLst>
              </a:tr>
            </a:tbl>
          </a:graphicData>
        </a:graphic>
      </p:graphicFrame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762000" y="5664211"/>
            <a:ext cx="1091133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When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n8n runs (whether via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npx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npm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), it immediately creates a 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permanent data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folder on your system: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Linux/Mac: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~/.n8n/ 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Windows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C:\Users\YourName\.n8n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\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89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N8N installation using </a:t>
            </a:r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ocker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422056"/>
              </p:ext>
            </p:extLst>
          </p:nvPr>
        </p:nvGraphicFramePr>
        <p:xfrm>
          <a:off x="1292086" y="1206684"/>
          <a:ext cx="9750288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685567">
                  <a:extLst>
                    <a:ext uri="{9D8B030D-6E8A-4147-A177-3AD203B41FA5}">
                      <a16:colId xmlns:a16="http://schemas.microsoft.com/office/drawing/2014/main" val="3823126743"/>
                    </a:ext>
                  </a:extLst>
                </a:gridCol>
                <a:gridCol w="6064721">
                  <a:extLst>
                    <a:ext uri="{9D8B030D-6E8A-4147-A177-3AD203B41FA5}">
                      <a16:colId xmlns:a16="http://schemas.microsoft.com/office/drawing/2014/main" val="2489939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Steps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Command / Link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5593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Install Docker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3"/>
                        </a:rPr>
                        <a:t>https://www.docker.com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2236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Pull n8n image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docker</a:t>
                      </a: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pull </a:t>
                      </a:r>
                      <a:r>
                        <a:rPr lang="en-IN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pt-BR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docker.n8n.io/</a:t>
                      </a:r>
                      <a:r>
                        <a:rPr lang="en-IN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n8nio/n8n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9883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Run container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docker run -it --rm -p 5678:5678 </a:t>
                      </a:r>
                      <a:r>
                        <a:rPr lang="pt-BR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docker.n8n.io/</a:t>
                      </a:r>
                      <a:r>
                        <a:rPr lang="pt-BR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n8nio/n8n</a:t>
                      </a:r>
                      <a:endParaRPr lang="pt-B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3375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Access 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http://localhost:5678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5157680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142999" y="3621881"/>
            <a:ext cx="6096000" cy="280076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volume create n8n_data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run -it --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rm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\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--name n8n \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-p 5678:5678 \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-e GENERIC_TIMEZONE="Asia/Calcutta" \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-e TZ="Asia/Calcutta" \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-e N8N_ENFORCE_SETTINGS_FILE_PERMISSIONS=true \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-e N8N_RUNNERS_ENABLED=true \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-v n8n_data:/home/node/.n8n \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docker.n8n.io/n8nio/n8n</a:t>
            </a:r>
          </a:p>
        </p:txBody>
      </p:sp>
    </p:spTree>
    <p:extLst>
      <p:ext uri="{BB962C8B-B14F-4D97-AF65-F5344CB8AC3E}">
        <p14:creationId xmlns:p14="http://schemas.microsoft.com/office/powerpoint/2010/main" val="1582877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N8N installation using </a:t>
            </a:r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ocker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235651"/>
              </p:ext>
            </p:extLst>
          </p:nvPr>
        </p:nvGraphicFramePr>
        <p:xfrm>
          <a:off x="609641" y="1016203"/>
          <a:ext cx="11088715" cy="5679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82725">
                  <a:extLst>
                    <a:ext uri="{9D8B030D-6E8A-4147-A177-3AD203B41FA5}">
                      <a16:colId xmlns:a16="http://schemas.microsoft.com/office/drawing/2014/main" val="1471629223"/>
                    </a:ext>
                  </a:extLst>
                </a:gridCol>
                <a:gridCol w="3076072">
                  <a:extLst>
                    <a:ext uri="{9D8B030D-6E8A-4147-A177-3AD203B41FA5}">
                      <a16:colId xmlns:a16="http://schemas.microsoft.com/office/drawing/2014/main" val="577629357"/>
                    </a:ext>
                  </a:extLst>
                </a:gridCol>
                <a:gridCol w="6029918">
                  <a:extLst>
                    <a:ext uri="{9D8B030D-6E8A-4147-A177-3AD203B41FA5}">
                      <a16:colId xmlns:a16="http://schemas.microsoft.com/office/drawing/2014/main" val="24727420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Command Part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2252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Run container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docker run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Starts a new Docker container.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287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Interactive mode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Runs the container in interactive terminal mode.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8558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 remove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--</a:t>
                      </a:r>
                      <a:r>
                        <a:rPr lang="en-IN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Automatically removes the container when it stops.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5346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Container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--name n8n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Assigns the container the name </a:t>
                      </a: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n8n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for easier management.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0650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Port mapping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-p 5678:5678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Maps host port </a:t>
                      </a:r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5678</a:t>
                      </a:r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to container port </a:t>
                      </a:r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5678</a:t>
                      </a:r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so the UI can be accessed in the browser.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4772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Timezone</a:t>
                      </a:r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-e GENERIC_TIMEZONE="Asia/Calcutta"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Sets the default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timezone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for workflow scheduling.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293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System timezone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-e TZ="Asia/Calcutta"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Sets the container system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timezone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1853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Security setting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-e N8N_ENFORCE_SETTINGS_FILE_PERMISSIONS=true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Ensures secure file permissions for configuration files.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4171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Task runners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-e N8N_RUNNERS_ENABLED=true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Enables workflow execution runners for improved job handling.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2230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Volume 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-v n8n_data:/home/node/.n8n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Mounts the </a:t>
                      </a:r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host permanent volume “n8n_data”</a:t>
                      </a:r>
                      <a:r>
                        <a:rPr lang="en-US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to temp container column.</a:t>
                      </a:r>
                    </a:p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written inside /home/node/.n8n in the container is actually stored in the </a:t>
                      </a:r>
                      <a:r>
                        <a:rPr lang="en-US" sz="1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host volume “n8n_data”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4324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Image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docker.n8n.io/n8nio/n8n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Official Docker image of n8n.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0015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1861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N8N nodes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8" name="Group 137"/>
          <p:cNvGrpSpPr/>
          <p:nvPr/>
        </p:nvGrpSpPr>
        <p:grpSpPr>
          <a:xfrm>
            <a:off x="1659967" y="996249"/>
            <a:ext cx="8613648" cy="2143407"/>
            <a:chOff x="1659967" y="996249"/>
            <a:chExt cx="8613648" cy="2143407"/>
          </a:xfrm>
        </p:grpSpPr>
        <p:sp>
          <p:nvSpPr>
            <p:cNvPr id="9" name="Shape 5"/>
            <p:cNvSpPr/>
            <p:nvPr/>
          </p:nvSpPr>
          <p:spPr>
            <a:xfrm>
              <a:off x="1659967" y="996249"/>
              <a:ext cx="2029968" cy="7315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noFill/>
            </a:ln>
          </p:spPr>
          <p:txBody>
            <a:bodyPr/>
            <a:lstStyle/>
            <a:p>
              <a:endParaRPr lang="en-IN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Shape 6"/>
            <p:cNvSpPr/>
            <p:nvPr/>
          </p:nvSpPr>
          <p:spPr>
            <a:xfrm>
              <a:off x="1659967" y="996249"/>
              <a:ext cx="2029968" cy="77724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noFill/>
            </a:ln>
          </p:spPr>
          <p:txBody>
            <a:bodyPr/>
            <a:lstStyle/>
            <a:p>
              <a:endParaRPr lang="en-IN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Shape 7"/>
            <p:cNvSpPr/>
            <p:nvPr/>
          </p:nvSpPr>
          <p:spPr>
            <a:xfrm>
              <a:off x="1659967" y="996249"/>
              <a:ext cx="2029968" cy="7315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noFill/>
            </a:ln>
          </p:spPr>
          <p:txBody>
            <a:bodyPr/>
            <a:lstStyle/>
            <a:p>
              <a:endParaRPr lang="en-IN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 8"/>
            <p:cNvSpPr/>
            <p:nvPr/>
          </p:nvSpPr>
          <p:spPr>
            <a:xfrm>
              <a:off x="1659967" y="1069401"/>
              <a:ext cx="2029968" cy="231535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noFill/>
            </a:ln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⚡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 9"/>
            <p:cNvSpPr/>
            <p:nvPr/>
          </p:nvSpPr>
          <p:spPr>
            <a:xfrm>
              <a:off x="1659967" y="1453449"/>
              <a:ext cx="2029968" cy="1736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noFill/>
            </a:ln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b="1" dirty="0">
                  <a:solidFill>
                    <a:srgbClr val="FF6D5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Trigger Nodes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 10"/>
            <p:cNvSpPr/>
            <p:nvPr/>
          </p:nvSpPr>
          <p:spPr>
            <a:xfrm>
              <a:off x="1659967" y="1746057"/>
              <a:ext cx="2029968" cy="12734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noFill/>
            </a:ln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Start a workflow</a:t>
              </a:r>
            </a:p>
          </p:txBody>
        </p:sp>
        <p:sp>
          <p:nvSpPr>
            <p:cNvPr id="15" name="Shape 11"/>
            <p:cNvSpPr/>
            <p:nvPr/>
          </p:nvSpPr>
          <p:spPr>
            <a:xfrm>
              <a:off x="1769695" y="2023956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/>
            <a:lstStyle/>
            <a:p>
              <a:endParaRPr lang="en-IN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 12"/>
            <p:cNvSpPr/>
            <p:nvPr/>
          </p:nvSpPr>
          <p:spPr>
            <a:xfrm>
              <a:off x="1769695" y="2023956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Webhook</a:t>
              </a:r>
            </a:p>
          </p:txBody>
        </p:sp>
        <p:sp>
          <p:nvSpPr>
            <p:cNvPr id="17" name="Shape 13"/>
            <p:cNvSpPr/>
            <p:nvPr/>
          </p:nvSpPr>
          <p:spPr>
            <a:xfrm>
              <a:off x="1769695" y="2267268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/>
            <a:lstStyle/>
            <a:p>
              <a:endParaRPr lang="en-IN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 14"/>
            <p:cNvSpPr/>
            <p:nvPr/>
          </p:nvSpPr>
          <p:spPr>
            <a:xfrm>
              <a:off x="1769695" y="2267268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Schedule/Cron</a:t>
              </a:r>
            </a:p>
          </p:txBody>
        </p:sp>
        <p:sp>
          <p:nvSpPr>
            <p:cNvPr id="19" name="Shape 15"/>
            <p:cNvSpPr/>
            <p:nvPr/>
          </p:nvSpPr>
          <p:spPr>
            <a:xfrm>
              <a:off x="1769695" y="2500641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/>
            <a:lstStyle/>
            <a:p>
              <a:endParaRPr lang="en-IN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Text 16"/>
            <p:cNvSpPr/>
            <p:nvPr/>
          </p:nvSpPr>
          <p:spPr>
            <a:xfrm>
              <a:off x="1769695" y="2500641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Email Trigger</a:t>
              </a:r>
            </a:p>
          </p:txBody>
        </p:sp>
        <p:sp>
          <p:nvSpPr>
            <p:cNvPr id="21" name="Shape 17"/>
            <p:cNvSpPr/>
            <p:nvPr/>
          </p:nvSpPr>
          <p:spPr>
            <a:xfrm>
              <a:off x="1769695" y="2734014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/>
            <a:lstStyle/>
            <a:p>
              <a:endParaRPr lang="en-IN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 18"/>
            <p:cNvSpPr/>
            <p:nvPr/>
          </p:nvSpPr>
          <p:spPr>
            <a:xfrm>
              <a:off x="1769695" y="2734014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Form Trigger</a:t>
              </a:r>
            </a:p>
          </p:txBody>
        </p:sp>
        <p:sp>
          <p:nvSpPr>
            <p:cNvPr id="23" name="Shape 19"/>
            <p:cNvSpPr/>
            <p:nvPr/>
          </p:nvSpPr>
          <p:spPr>
            <a:xfrm>
              <a:off x="1769695" y="2957448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/>
            <a:lstStyle/>
            <a:p>
              <a:endParaRPr lang="en-IN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 20"/>
            <p:cNvSpPr/>
            <p:nvPr/>
          </p:nvSpPr>
          <p:spPr>
            <a:xfrm>
              <a:off x="1769695" y="2957448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Chat Trigger</a:t>
              </a:r>
            </a:p>
          </p:txBody>
        </p:sp>
        <p:sp>
          <p:nvSpPr>
            <p:cNvPr id="25" name="Shape 22"/>
            <p:cNvSpPr/>
            <p:nvPr/>
          </p:nvSpPr>
          <p:spPr>
            <a:xfrm>
              <a:off x="3854527" y="996249"/>
              <a:ext cx="2029968" cy="7315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noFill/>
            </a:ln>
          </p:spPr>
          <p:txBody>
            <a:bodyPr/>
            <a:lstStyle/>
            <a:p>
              <a:endParaRPr lang="en-IN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Shape 23"/>
            <p:cNvSpPr/>
            <p:nvPr/>
          </p:nvSpPr>
          <p:spPr>
            <a:xfrm>
              <a:off x="3854527" y="996249"/>
              <a:ext cx="2029968" cy="77724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noFill/>
            </a:ln>
          </p:spPr>
          <p:txBody>
            <a:bodyPr/>
            <a:lstStyle/>
            <a:p>
              <a:endParaRPr lang="en-IN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Shape 24"/>
            <p:cNvSpPr/>
            <p:nvPr/>
          </p:nvSpPr>
          <p:spPr>
            <a:xfrm>
              <a:off x="3854527" y="996249"/>
              <a:ext cx="2029968" cy="7315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noFill/>
            </a:ln>
          </p:spPr>
          <p:txBody>
            <a:bodyPr/>
            <a:lstStyle/>
            <a:p>
              <a:endParaRPr lang="en-IN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 25"/>
            <p:cNvSpPr/>
            <p:nvPr/>
          </p:nvSpPr>
          <p:spPr>
            <a:xfrm>
              <a:off x="3854527" y="1069401"/>
              <a:ext cx="2029968" cy="231535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noFill/>
            </a:ln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⚙️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Text 26"/>
            <p:cNvSpPr/>
            <p:nvPr/>
          </p:nvSpPr>
          <p:spPr>
            <a:xfrm>
              <a:off x="3854527" y="1453449"/>
              <a:ext cx="2029968" cy="1736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noFill/>
            </a:ln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b="1" dirty="0">
                  <a:solidFill>
                    <a:srgbClr val="6C63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Action Nodes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Text 27"/>
            <p:cNvSpPr/>
            <p:nvPr/>
          </p:nvSpPr>
          <p:spPr>
            <a:xfrm>
              <a:off x="3854527" y="1746057"/>
              <a:ext cx="2029968" cy="12734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noFill/>
            </a:ln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Perform operations</a:t>
              </a:r>
            </a:p>
          </p:txBody>
        </p:sp>
        <p:sp>
          <p:nvSpPr>
            <p:cNvPr id="31" name="Shape 28"/>
            <p:cNvSpPr/>
            <p:nvPr/>
          </p:nvSpPr>
          <p:spPr>
            <a:xfrm>
              <a:off x="3964255" y="2023956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/>
            <a:lstStyle/>
            <a:p>
              <a:endParaRPr lang="en-IN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Text 29"/>
            <p:cNvSpPr/>
            <p:nvPr/>
          </p:nvSpPr>
          <p:spPr>
            <a:xfrm>
              <a:off x="3964255" y="2023956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Send Email</a:t>
              </a:r>
            </a:p>
          </p:txBody>
        </p:sp>
        <p:sp>
          <p:nvSpPr>
            <p:cNvPr id="33" name="Shape 30"/>
            <p:cNvSpPr/>
            <p:nvPr/>
          </p:nvSpPr>
          <p:spPr>
            <a:xfrm>
              <a:off x="3964255" y="2267268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/>
            <a:lstStyle/>
            <a:p>
              <a:endParaRPr lang="en-IN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Text 31"/>
            <p:cNvSpPr/>
            <p:nvPr/>
          </p:nvSpPr>
          <p:spPr>
            <a:xfrm>
              <a:off x="3964255" y="2267268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Create Record</a:t>
              </a:r>
            </a:p>
          </p:txBody>
        </p:sp>
        <p:sp>
          <p:nvSpPr>
            <p:cNvPr id="35" name="Shape 32"/>
            <p:cNvSpPr/>
            <p:nvPr/>
          </p:nvSpPr>
          <p:spPr>
            <a:xfrm>
              <a:off x="3964255" y="2500641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/>
            <a:lstStyle/>
            <a:p>
              <a:endParaRPr lang="en-IN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Text 33"/>
            <p:cNvSpPr/>
            <p:nvPr/>
          </p:nvSpPr>
          <p:spPr>
            <a:xfrm>
              <a:off x="3964255" y="2500641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HTTP Request</a:t>
              </a:r>
            </a:p>
          </p:txBody>
        </p:sp>
        <p:sp>
          <p:nvSpPr>
            <p:cNvPr id="37" name="Shape 34"/>
            <p:cNvSpPr/>
            <p:nvPr/>
          </p:nvSpPr>
          <p:spPr>
            <a:xfrm>
              <a:off x="3964255" y="2734014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/>
            <a:lstStyle/>
            <a:p>
              <a:endParaRPr lang="en-IN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Text 35"/>
            <p:cNvSpPr/>
            <p:nvPr/>
          </p:nvSpPr>
          <p:spPr>
            <a:xfrm>
              <a:off x="3964255" y="2734014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Set Variable</a:t>
              </a:r>
            </a:p>
          </p:txBody>
        </p:sp>
        <p:sp>
          <p:nvSpPr>
            <p:cNvPr id="39" name="Shape 36"/>
            <p:cNvSpPr/>
            <p:nvPr/>
          </p:nvSpPr>
          <p:spPr>
            <a:xfrm>
              <a:off x="3964255" y="2957448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/>
            <a:lstStyle/>
            <a:p>
              <a:endParaRPr lang="en-IN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Text 37"/>
            <p:cNvSpPr/>
            <p:nvPr/>
          </p:nvSpPr>
          <p:spPr>
            <a:xfrm>
              <a:off x="3964255" y="2957448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Execute Code</a:t>
              </a:r>
            </a:p>
          </p:txBody>
        </p:sp>
        <p:sp>
          <p:nvSpPr>
            <p:cNvPr id="41" name="Shape 39"/>
            <p:cNvSpPr/>
            <p:nvPr/>
          </p:nvSpPr>
          <p:spPr>
            <a:xfrm>
              <a:off x="6049087" y="996249"/>
              <a:ext cx="2029968" cy="7315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noFill/>
            </a:ln>
          </p:spPr>
          <p:txBody>
            <a:bodyPr/>
            <a:lstStyle/>
            <a:p>
              <a:endParaRPr lang="en-IN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Shape 40"/>
            <p:cNvSpPr/>
            <p:nvPr/>
          </p:nvSpPr>
          <p:spPr>
            <a:xfrm>
              <a:off x="6049087" y="996249"/>
              <a:ext cx="2029968" cy="77724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noFill/>
            </a:ln>
          </p:spPr>
          <p:txBody>
            <a:bodyPr/>
            <a:lstStyle/>
            <a:p>
              <a:endParaRPr lang="en-IN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Shape 41"/>
            <p:cNvSpPr/>
            <p:nvPr/>
          </p:nvSpPr>
          <p:spPr>
            <a:xfrm>
              <a:off x="6049087" y="996249"/>
              <a:ext cx="2029968" cy="7315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noFill/>
            </a:ln>
          </p:spPr>
          <p:txBody>
            <a:bodyPr/>
            <a:lstStyle/>
            <a:p>
              <a:endParaRPr lang="en-IN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Text 42"/>
            <p:cNvSpPr/>
            <p:nvPr/>
          </p:nvSpPr>
          <p:spPr>
            <a:xfrm>
              <a:off x="6049087" y="1069401"/>
              <a:ext cx="2029968" cy="231535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noFill/>
            </a:ln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🔀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Text 43"/>
            <p:cNvSpPr/>
            <p:nvPr/>
          </p:nvSpPr>
          <p:spPr>
            <a:xfrm>
              <a:off x="6049087" y="1453449"/>
              <a:ext cx="2029968" cy="1736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noFill/>
            </a:ln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b="1" dirty="0">
                  <a:solidFill>
                    <a:srgbClr val="00D4A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Core / Logic Nodes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Text 44"/>
            <p:cNvSpPr/>
            <p:nvPr/>
          </p:nvSpPr>
          <p:spPr>
            <a:xfrm>
              <a:off x="6049087" y="1746057"/>
              <a:ext cx="2029968" cy="12734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noFill/>
            </a:ln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Control flow</a:t>
              </a:r>
            </a:p>
          </p:txBody>
        </p:sp>
        <p:sp>
          <p:nvSpPr>
            <p:cNvPr id="47" name="Shape 45"/>
            <p:cNvSpPr/>
            <p:nvPr/>
          </p:nvSpPr>
          <p:spPr>
            <a:xfrm>
              <a:off x="6158815" y="2023956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/>
            <a:lstStyle/>
            <a:p>
              <a:endParaRPr lang="en-IN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Text 46"/>
            <p:cNvSpPr/>
            <p:nvPr/>
          </p:nvSpPr>
          <p:spPr>
            <a:xfrm>
              <a:off x="6158815" y="2023956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IF / Switch</a:t>
              </a:r>
            </a:p>
          </p:txBody>
        </p:sp>
        <p:sp>
          <p:nvSpPr>
            <p:cNvPr id="49" name="Shape 47"/>
            <p:cNvSpPr/>
            <p:nvPr/>
          </p:nvSpPr>
          <p:spPr>
            <a:xfrm>
              <a:off x="6158815" y="2267268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/>
            <a:lstStyle/>
            <a:p>
              <a:endParaRPr lang="en-IN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Text 48"/>
            <p:cNvSpPr/>
            <p:nvPr/>
          </p:nvSpPr>
          <p:spPr>
            <a:xfrm>
              <a:off x="6158815" y="2267268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Merge</a:t>
              </a:r>
            </a:p>
          </p:txBody>
        </p:sp>
        <p:sp>
          <p:nvSpPr>
            <p:cNvPr id="51" name="Shape 49"/>
            <p:cNvSpPr/>
            <p:nvPr/>
          </p:nvSpPr>
          <p:spPr>
            <a:xfrm>
              <a:off x="6158815" y="2500641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/>
            <a:lstStyle/>
            <a:p>
              <a:endParaRPr lang="en-IN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 50"/>
            <p:cNvSpPr/>
            <p:nvPr/>
          </p:nvSpPr>
          <p:spPr>
            <a:xfrm>
              <a:off x="6158815" y="2500641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Loop Over Items</a:t>
              </a:r>
            </a:p>
          </p:txBody>
        </p:sp>
        <p:sp>
          <p:nvSpPr>
            <p:cNvPr id="53" name="Shape 51"/>
            <p:cNvSpPr/>
            <p:nvPr/>
          </p:nvSpPr>
          <p:spPr>
            <a:xfrm>
              <a:off x="6158815" y="2734014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/>
            <a:lstStyle/>
            <a:p>
              <a:endParaRPr lang="en-IN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Text 52"/>
            <p:cNvSpPr/>
            <p:nvPr/>
          </p:nvSpPr>
          <p:spPr>
            <a:xfrm>
              <a:off x="6158815" y="2734014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Split In Batches</a:t>
              </a:r>
            </a:p>
          </p:txBody>
        </p:sp>
        <p:sp>
          <p:nvSpPr>
            <p:cNvPr id="55" name="Shape 53"/>
            <p:cNvSpPr/>
            <p:nvPr/>
          </p:nvSpPr>
          <p:spPr>
            <a:xfrm>
              <a:off x="6158815" y="2957448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/>
            <a:lstStyle/>
            <a:p>
              <a:endParaRPr lang="en-IN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Text 54"/>
            <p:cNvSpPr/>
            <p:nvPr/>
          </p:nvSpPr>
          <p:spPr>
            <a:xfrm>
              <a:off x="6158815" y="2957448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Wait</a:t>
              </a:r>
            </a:p>
          </p:txBody>
        </p:sp>
        <p:sp>
          <p:nvSpPr>
            <p:cNvPr id="57" name="Shape 56"/>
            <p:cNvSpPr/>
            <p:nvPr/>
          </p:nvSpPr>
          <p:spPr>
            <a:xfrm>
              <a:off x="8243647" y="996249"/>
              <a:ext cx="2029968" cy="7315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noFill/>
            </a:ln>
          </p:spPr>
          <p:txBody>
            <a:bodyPr/>
            <a:lstStyle/>
            <a:p>
              <a:endParaRPr lang="en-IN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Shape 57"/>
            <p:cNvSpPr/>
            <p:nvPr/>
          </p:nvSpPr>
          <p:spPr>
            <a:xfrm>
              <a:off x="8243647" y="996249"/>
              <a:ext cx="2029968" cy="77724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noFill/>
            </a:ln>
          </p:spPr>
          <p:txBody>
            <a:bodyPr/>
            <a:lstStyle/>
            <a:p>
              <a:endParaRPr lang="en-IN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Shape 58"/>
            <p:cNvSpPr/>
            <p:nvPr/>
          </p:nvSpPr>
          <p:spPr>
            <a:xfrm>
              <a:off x="8243647" y="996249"/>
              <a:ext cx="2029968" cy="7315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noFill/>
            </a:ln>
          </p:spPr>
          <p:txBody>
            <a:bodyPr/>
            <a:lstStyle/>
            <a:p>
              <a:endParaRPr lang="en-IN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Text 59"/>
            <p:cNvSpPr/>
            <p:nvPr/>
          </p:nvSpPr>
          <p:spPr>
            <a:xfrm>
              <a:off x="8243647" y="1069401"/>
              <a:ext cx="2029968" cy="231535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noFill/>
            </a:ln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🔌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Text 60"/>
            <p:cNvSpPr/>
            <p:nvPr/>
          </p:nvSpPr>
          <p:spPr>
            <a:xfrm>
              <a:off x="8243647" y="1453449"/>
              <a:ext cx="2029968" cy="1736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noFill/>
            </a:ln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b="1" dirty="0">
                  <a:solidFill>
                    <a:srgbClr val="F5A62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App Nodes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Text 61"/>
            <p:cNvSpPr/>
            <p:nvPr/>
          </p:nvSpPr>
          <p:spPr>
            <a:xfrm>
              <a:off x="8243647" y="1746057"/>
              <a:ext cx="2029968" cy="12734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noFill/>
            </a:ln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Third-party apps</a:t>
              </a:r>
            </a:p>
          </p:txBody>
        </p:sp>
        <p:sp>
          <p:nvSpPr>
            <p:cNvPr id="63" name="Shape 62"/>
            <p:cNvSpPr/>
            <p:nvPr/>
          </p:nvSpPr>
          <p:spPr>
            <a:xfrm>
              <a:off x="8353375" y="2023956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/>
            <a:lstStyle/>
            <a:p>
              <a:endParaRPr lang="en-IN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Text 63"/>
            <p:cNvSpPr/>
            <p:nvPr/>
          </p:nvSpPr>
          <p:spPr>
            <a:xfrm>
              <a:off x="8353375" y="2023956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Slack</a:t>
              </a:r>
            </a:p>
          </p:txBody>
        </p:sp>
        <p:sp>
          <p:nvSpPr>
            <p:cNvPr id="65" name="Shape 64"/>
            <p:cNvSpPr/>
            <p:nvPr/>
          </p:nvSpPr>
          <p:spPr>
            <a:xfrm>
              <a:off x="8353375" y="2267268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/>
            <a:lstStyle/>
            <a:p>
              <a:endParaRPr lang="en-IN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Text 65"/>
            <p:cNvSpPr/>
            <p:nvPr/>
          </p:nvSpPr>
          <p:spPr>
            <a:xfrm>
              <a:off x="8353375" y="2267268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Gmail</a:t>
              </a:r>
            </a:p>
          </p:txBody>
        </p:sp>
        <p:sp>
          <p:nvSpPr>
            <p:cNvPr id="67" name="Shape 66"/>
            <p:cNvSpPr/>
            <p:nvPr/>
          </p:nvSpPr>
          <p:spPr>
            <a:xfrm>
              <a:off x="8353375" y="2500641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/>
            <a:lstStyle/>
            <a:p>
              <a:endParaRPr lang="en-IN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Text 67"/>
            <p:cNvSpPr/>
            <p:nvPr/>
          </p:nvSpPr>
          <p:spPr>
            <a:xfrm>
              <a:off x="8353375" y="2500641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Notion</a:t>
              </a:r>
            </a:p>
          </p:txBody>
        </p:sp>
        <p:sp>
          <p:nvSpPr>
            <p:cNvPr id="69" name="Shape 68"/>
            <p:cNvSpPr/>
            <p:nvPr/>
          </p:nvSpPr>
          <p:spPr>
            <a:xfrm>
              <a:off x="8353375" y="2734014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/>
            <a:lstStyle/>
            <a:p>
              <a:endParaRPr lang="en-IN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Text 69"/>
            <p:cNvSpPr/>
            <p:nvPr/>
          </p:nvSpPr>
          <p:spPr>
            <a:xfrm>
              <a:off x="8353375" y="2734014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Airtable</a:t>
              </a:r>
            </a:p>
          </p:txBody>
        </p:sp>
        <p:sp>
          <p:nvSpPr>
            <p:cNvPr id="71" name="Shape 70"/>
            <p:cNvSpPr/>
            <p:nvPr/>
          </p:nvSpPr>
          <p:spPr>
            <a:xfrm>
              <a:off x="8353375" y="2957448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/>
            <a:lstStyle/>
            <a:p>
              <a:endParaRPr lang="en-IN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Text 71"/>
            <p:cNvSpPr/>
            <p:nvPr/>
          </p:nvSpPr>
          <p:spPr>
            <a:xfrm>
              <a:off x="8353375" y="2957448"/>
              <a:ext cx="1810512" cy="18220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GitHub</a:t>
              </a:r>
            </a:p>
          </p:txBody>
        </p:sp>
      </p:grpSp>
      <p:graphicFrame>
        <p:nvGraphicFramePr>
          <p:cNvPr id="73" name="Table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02616"/>
              </p:ext>
            </p:extLst>
          </p:nvPr>
        </p:nvGraphicFramePr>
        <p:xfrm>
          <a:off x="965620" y="3552319"/>
          <a:ext cx="10386390" cy="29311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462130">
                  <a:extLst>
                    <a:ext uri="{9D8B030D-6E8A-4147-A177-3AD203B41FA5}">
                      <a16:colId xmlns:a16="http://schemas.microsoft.com/office/drawing/2014/main" val="460960224"/>
                    </a:ext>
                  </a:extLst>
                </a:gridCol>
                <a:gridCol w="3462130">
                  <a:extLst>
                    <a:ext uri="{9D8B030D-6E8A-4147-A177-3AD203B41FA5}">
                      <a16:colId xmlns:a16="http://schemas.microsoft.com/office/drawing/2014/main" val="3681155186"/>
                    </a:ext>
                  </a:extLst>
                </a:gridCol>
                <a:gridCol w="3462130">
                  <a:extLst>
                    <a:ext uri="{9D8B030D-6E8A-4147-A177-3AD203B41FA5}">
                      <a16:colId xmlns:a16="http://schemas.microsoft.com/office/drawing/2014/main" val="33667668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Node 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 Nodes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694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Trigger Nodes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 a workflow when a specific event occurs in n8n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Webhook, Schedule/Cron, Email Trigger, Form Trigger, Chat Trigger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4305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Action Nodes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 operations or tasks after the workflow starts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Send Email, Create Record, HTTP Request, Set Variable, Execute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6900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Core / Logic Nodes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 the workflow logic and data flow between nodes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 / Switch, Merge, Loop Over Items, Split In Batches, Wait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5755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 Nodes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Integrate with third-party applications and 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Slack, Gmail, Notion, </a:t>
                      </a:r>
                      <a:r>
                        <a:rPr lang="en-US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Airtable</a:t>
                      </a: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GitHub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4780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7800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Other Platforms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844819"/>
              </p:ext>
            </p:extLst>
          </p:nvPr>
        </p:nvGraphicFramePr>
        <p:xfrm>
          <a:off x="924340" y="1296136"/>
          <a:ext cx="10353260" cy="5064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88315">
                  <a:extLst>
                    <a:ext uri="{9D8B030D-6E8A-4147-A177-3AD203B41FA5}">
                      <a16:colId xmlns:a16="http://schemas.microsoft.com/office/drawing/2014/main" val="3544725635"/>
                    </a:ext>
                  </a:extLst>
                </a:gridCol>
                <a:gridCol w="2588315">
                  <a:extLst>
                    <a:ext uri="{9D8B030D-6E8A-4147-A177-3AD203B41FA5}">
                      <a16:colId xmlns:a16="http://schemas.microsoft.com/office/drawing/2014/main" val="1903026905"/>
                    </a:ext>
                  </a:extLst>
                </a:gridCol>
                <a:gridCol w="2588315">
                  <a:extLst>
                    <a:ext uri="{9D8B030D-6E8A-4147-A177-3AD203B41FA5}">
                      <a16:colId xmlns:a16="http://schemas.microsoft.com/office/drawing/2014/main" val="137976059"/>
                    </a:ext>
                  </a:extLst>
                </a:gridCol>
                <a:gridCol w="2588315">
                  <a:extLst>
                    <a:ext uri="{9D8B030D-6E8A-4147-A177-3AD203B41FA5}">
                      <a16:colId xmlns:a16="http://schemas.microsoft.com/office/drawing/2014/main" val="38777222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6143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Zapier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No-code automation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Simple app-to-app automation for non-technical users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Cloud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535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Make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Visual workflow automation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Complex multi-step workflows with branching and 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Cloud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9069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n8n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Low-code automation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Advanced automation with custom code and integrations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Self-host / Cloud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4785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Langflow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 workflow builder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Build RAG pipelines and LLM applications visually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Self-host / Cloud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3396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Flowise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LLM app builder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Create AI chatbots and LangChain-based workflows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Self-host / Cloud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1625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Apache Airflow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pipeline orchestration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Schedule and manage ETL / data workflows using Python DAGs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Self-host / Cloud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2776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8000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38EA56-8646-05A2-36D5-9122791CB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chemeClr val="tx2"/>
                </a:solidFill>
              </a:rPr>
              <a:t>Thank you</a:t>
            </a:r>
            <a:endParaRPr lang="en-IN" sz="6600" b="1" dirty="0">
              <a:solidFill>
                <a:schemeClr val="tx2"/>
              </a:solidFill>
            </a:endParaRPr>
          </a:p>
        </p:txBody>
      </p:sp>
      <p:pic>
        <p:nvPicPr>
          <p:cNvPr id="16" name="Picture 15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415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714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1217</Words>
  <Application>Microsoft Office PowerPoint</Application>
  <PresentationFormat>Widescreen</PresentationFormat>
  <Paragraphs>250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N8N</vt:lpstr>
      <vt:lpstr>N8N</vt:lpstr>
      <vt:lpstr>N8N self hosted vs Cloud</vt:lpstr>
      <vt:lpstr>N8N installation using Node.js</vt:lpstr>
      <vt:lpstr>N8N installation using Docker</vt:lpstr>
      <vt:lpstr>N8N installation using Docker</vt:lpstr>
      <vt:lpstr>N8N nodes</vt:lpstr>
      <vt:lpstr>Other Platforms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</dc:title>
  <dc:creator/>
  <cp:lastModifiedBy/>
  <cp:revision>1184</cp:revision>
  <dcterms:created xsi:type="dcterms:W3CDTF">2024-09-04T04:29:20Z</dcterms:created>
  <dcterms:modified xsi:type="dcterms:W3CDTF">2026-04-14T02:24:22Z</dcterms:modified>
</cp:coreProperties>
</file>