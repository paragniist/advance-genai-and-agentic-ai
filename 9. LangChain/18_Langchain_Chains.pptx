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9"/>
  </p:notesMasterIdLst>
  <p:sldIdLst>
    <p:sldId id="274" r:id="rId2"/>
    <p:sldId id="505" r:id="rId3"/>
    <p:sldId id="520" r:id="rId4"/>
    <p:sldId id="521" r:id="rId5"/>
    <p:sldId id="522" r:id="rId6"/>
    <p:sldId id="523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0HItghaSvE5eHsZb5weJ9w==" hashData="BoQOqkvidmGk1j3tAAkWyLrWfmmiZbhdOM4LiouzRHv5YU7Y0H2FUqTU2PWlcw/mpOiqD1h3VQuDsMtRXwqlL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06" autoAdjust="0"/>
    <p:restoredTop sz="95274" autoAdjust="0"/>
  </p:normalViewPr>
  <p:slideViewPr>
    <p:cSldViewPr snapToGrid="0">
      <p:cViewPr varScale="1">
        <p:scale>
          <a:sx n="87" d="100"/>
          <a:sy n="87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ECAA-268E-4C0D-9FC7-17C53698496D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4D035-8484-4F58-9D29-A39A493CE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56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7991F-E995-897B-29EE-7B505AB66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67F7B-139D-FBEE-5DC8-2E47E96F6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4AFDF-4EB4-2154-D568-E99CEAE5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859FE-B4A5-F459-6D01-CA55616D4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9D83-4AD0-F06F-1BFD-7335E67B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58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E64DD-1124-594C-D6C3-30AC77D8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56EB-D5B0-F889-4D83-707F88584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DB960-C94C-3229-A8BF-3F24767F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BC9D0-5AF0-DB1E-FCC8-DF40FBA8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8B43-188B-BE7E-1FAD-B28D9A1D4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07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9EB8-B517-7328-045D-4B42F4BE5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749FE-223B-0565-51D9-E7E53B557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461B-39F7-04FD-57A8-48AD930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0593-5333-C224-E1B2-B9C4B7D4A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4ADE0-4449-0BD6-D966-CBE20849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11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2BC8-D36F-6117-FAEA-86021EC6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5CDAA-66A4-B827-7699-008FFE7F0D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FF1F8-BAE7-DDAA-F6CA-97D830A92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F4065-84FE-70CE-9B5B-A521F70E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FADE3-3E99-1A24-242B-3D30AA30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BD6DFB-8246-E19B-62C9-847771CAA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629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6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9FF33-E1F9-C9DF-28CF-2D93FA98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1D9D4-7C67-8F4B-F2C9-B50F979E9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47A6A-A844-7785-EC67-177F6B94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9B2FA6-D7BB-E706-A3E8-01420028AA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08A30B-A453-4BFC-A2CB-5A150DDC4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7DCAD0-84E3-47EE-3D70-9F876F0B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432BE6-EB1D-4DA5-DB48-B58D962A5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746C8-70CA-3360-6BC6-A40F5F239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39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45D-64B1-38C3-5E24-38598BEB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786F1-B775-4C52-E819-3543529F9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73C8A-E876-90D6-B15F-115238CF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A1262-279B-4A6C-5CC3-C6A8887A5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27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09089-4275-1048-CEE7-0A08D71C9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4FCE-FC51-100D-7EB4-2F6914D2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E78A-DA65-3C14-808A-55415599C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5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034B-8224-5F4C-8974-BA0376FEB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BB6E-D8F6-DC0B-FCAC-E41539735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3FDD0-87F9-F157-8C07-205CD29C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131F2-E21E-1789-5933-56F48882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DBC4-505F-2A13-B335-1FE99DB35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D1DE6-DFF0-9B32-8951-71B5CAE2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049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93B5-339E-870A-6EE5-0B819E5BA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6FB93-2AEC-67EB-4024-437105D2F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BA8DE-B9F6-F250-1B1E-B6DB595B1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7EB-F1EF-3651-2266-5B1F5AAF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F8B12-A386-0FB5-44B5-2D776735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B1C7B-6BD8-92FA-C044-366FF654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00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6908-04DA-A591-9C9B-1F097FDDA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E0DE2-418D-750C-597F-38D94976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9CDEA-53E8-2C23-CC9E-AF5A3901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AD83-374B-35CE-53E8-8899EA9B3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EC723-68AA-7191-39BE-8F208C92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6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31BD8-F8EB-C0C4-26BA-CA01B0753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D1228-3044-8025-2371-BBC89DB83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A1DCB-8164-1EF0-D63F-0D51A08A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066A6-D1A9-4114-9E94-251832C6992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40341-CF13-2A66-53D2-588E571D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7D7C-CC1C-1264-2DA1-295E6D1A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61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00B29-40C6-2BA3-A1E6-F3D6B19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F8C6B-3E6D-5141-6436-161A08D0D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8DBB8-43B9-9730-B866-9A749FCB3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2066A6-D1A9-4114-9E94-251832C69923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D5448-9797-D45F-7189-84C1AE1CA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67D6-EA6E-021B-9B76-56F901420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E4596-51ED-496E-8BF6-E6E70F95E6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3250" y="1014884"/>
            <a:ext cx="6105194" cy="3283103"/>
          </a:xfrm>
        </p:spPr>
        <p:txBody>
          <a:bodyPr>
            <a:normAutofit/>
          </a:bodyPr>
          <a:lstStyle/>
          <a:p>
            <a:r>
              <a:rPr lang="en-US" sz="66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66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-Chains</a:t>
            </a:r>
            <a:endParaRPr lang="en-IN" sz="66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CC98F91-2037-6AAF-7C21-34FAB6DA435D}"/>
              </a:ext>
            </a:extLst>
          </p:cNvPr>
          <p:cNvGrpSpPr/>
          <p:nvPr/>
        </p:nvGrpSpPr>
        <p:grpSpPr>
          <a:xfrm>
            <a:off x="3626418" y="4759020"/>
            <a:ext cx="4445785" cy="589558"/>
            <a:chOff x="3614024" y="4908823"/>
            <a:chExt cx="4445785" cy="589558"/>
          </a:xfrm>
        </p:grpSpPr>
        <p:sp>
          <p:nvSpPr>
            <p:cNvPr id="18" name="Title 1">
              <a:extLst>
                <a:ext uri="{FF2B5EF4-FFF2-40B4-BE49-F238E27FC236}">
                  <a16:creationId xmlns:a16="http://schemas.microsoft.com/office/drawing/2014/main" id="{D64B9545-AA74-9959-DEF7-A5E273646E5C}"/>
                </a:ext>
              </a:extLst>
            </p:cNvPr>
            <p:cNvSpPr txBox="1">
              <a:spLocks/>
            </p:cNvSpPr>
            <p:nvPr/>
          </p:nvSpPr>
          <p:spPr>
            <a:xfrm>
              <a:off x="3614024" y="4908823"/>
              <a:ext cx="4445785" cy="589558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sz="3200" dirty="0" smtClean="0"/>
                <a:t>By</a:t>
              </a:r>
              <a:r>
                <a:rPr lang="en-US" sz="3200" b="1" dirty="0" smtClean="0">
                  <a:solidFill>
                    <a:srgbClr val="00B0F0"/>
                  </a:solidFill>
                </a:rPr>
                <a:t> </a:t>
              </a:r>
              <a:endParaRPr lang="en-US" sz="3200" b="1" dirty="0">
                <a:solidFill>
                  <a:srgbClr val="00B050"/>
                </a:solidFill>
              </a:endParaRPr>
            </a:p>
          </p:txBody>
        </p:sp>
        <p:pic>
          <p:nvPicPr>
            <p:cNvPr id="19" name="Picture 18" descr="A blue and green logo&#10;&#10;Description automatically generated">
              <a:extLst>
                <a:ext uri="{FF2B5EF4-FFF2-40B4-BE49-F238E27FC236}">
                  <a16:creationId xmlns:a16="http://schemas.microsoft.com/office/drawing/2014/main" id="{93B8DE8A-D399-DD1D-681B-D87204E48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7646" y="4908823"/>
              <a:ext cx="589558" cy="589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675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Chains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2000" y="1110231"/>
            <a:ext cx="1067679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chains define how multiple steps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(Prompts, LLMs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parsers, functions)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are executed together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three important execution patterns are: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Sequential chains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Parallel chains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Conditional chains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25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Sequencial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chains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0" y="1282184"/>
            <a:ext cx="817098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Sequential Chain (Step-by-step execution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Output of Step 1 → becomes input of Step 2 → becomes input of Step 3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lvl="0"/>
            <a:endParaRPr lang="en-US" alt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altLang="en-US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  <a:r>
              <a:rPr lang="en-US" altLang="en-US" sz="1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pipe</a:t>
            </a:r>
            <a:r>
              <a:rPr lang="en-US" altLang="en-US" sz="1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operator 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makes it </a:t>
            </a:r>
            <a:r>
              <a:rPr lang="en-US" alt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sequential</a:t>
            </a: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49571" y="2718561"/>
            <a:ext cx="8713176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prompt1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PromptTemplate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template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'Generate a detailed report on 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{topic}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input_variables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'topic'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prompt2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PromptTemplate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template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'Generate a 5 pointer summary from the following text </a:t>
            </a:r>
            <a:r>
              <a:rPr lang="en-IN" sz="1400" dirty="0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onsolas" panose="020B0609020204030204" pitchFamily="49" charset="0"/>
              </a:rPr>
              <a:t>{text}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I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input_variables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'text'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model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ChatGoogleGenerativeAI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model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"gemini-2.5-flash"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parser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267F99"/>
                </a:solidFill>
                <a:latin typeface="Consolas" panose="020B0609020204030204" pitchFamily="49" charset="0"/>
              </a:rPr>
              <a:t>StrOutputParser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chain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prompt1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795E26"/>
                </a:solidFill>
                <a:latin typeface="Consolas" panose="020B0609020204030204" pitchFamily="49" charset="0"/>
              </a:rPr>
              <a:t>|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model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795E26"/>
                </a:solidFill>
                <a:latin typeface="Consolas" panose="020B0609020204030204" pitchFamily="49" charset="0"/>
              </a:rPr>
              <a:t>|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parser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795E26"/>
                </a:solidFill>
                <a:latin typeface="Consolas" panose="020B0609020204030204" pitchFamily="49" charset="0"/>
              </a:rPr>
              <a:t>|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prompt2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795E26"/>
                </a:solidFill>
                <a:latin typeface="Consolas" panose="020B0609020204030204" pitchFamily="49" charset="0"/>
              </a:rPr>
              <a:t>|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model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795E26"/>
                </a:solidFill>
                <a:latin typeface="Consolas" panose="020B0609020204030204" pitchFamily="49" charset="0"/>
              </a:rPr>
              <a:t>|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parser</a:t>
            </a:r>
            <a:endParaRPr lang="en-IN" sz="1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IN" sz="1400" dirty="0">
                <a:solidFill>
                  <a:srgbClr val="001080"/>
                </a:solidFill>
                <a:latin typeface="Consolas" panose="020B0609020204030204" pitchFamily="49" charset="0"/>
              </a:rPr>
              <a:t>result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1080"/>
                </a:solidFill>
                <a:latin typeface="Consolas" panose="020B0609020204030204" pitchFamily="49" charset="0"/>
              </a:rPr>
              <a:t>chain</a:t>
            </a:r>
            <a:r>
              <a:rPr lang="en-IN" sz="1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IN" sz="1400" dirty="0" err="1">
                <a:solidFill>
                  <a:srgbClr val="795E26"/>
                </a:solidFill>
                <a:latin typeface="Consolas" panose="020B0609020204030204" pitchFamily="49" charset="0"/>
              </a:rPr>
              <a:t>invoke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({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'topic'</a:t>
            </a:r>
            <a:r>
              <a:rPr lang="en-IN" sz="1400" dirty="0">
                <a:solidFill>
                  <a:srgbClr val="3B3B3B"/>
                </a:solidFill>
                <a:latin typeface="Consolas" panose="020B0609020204030204" pitchFamily="49" charset="0"/>
              </a:rPr>
              <a:t>: 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IN" sz="1400" dirty="0" smtClean="0">
                <a:solidFill>
                  <a:srgbClr val="3B3B3B"/>
                </a:solidFill>
                <a:latin typeface="Consolas" panose="020B0609020204030204" pitchFamily="49" charset="0"/>
              </a:rPr>
              <a:t>GPU usage in INDIA</a:t>
            </a:r>
            <a:r>
              <a:rPr lang="en-IN" sz="14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IN" sz="1400" dirty="0" smtClean="0">
                <a:solidFill>
                  <a:srgbClr val="3B3B3B"/>
                </a:solidFill>
                <a:latin typeface="Consolas" panose="020B0609020204030204" pitchFamily="49" charset="0"/>
              </a:rPr>
              <a:t>})</a:t>
            </a:r>
            <a:endParaRPr lang="en-IN" sz="1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12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Parallel chains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0" y="1021326"/>
            <a:ext cx="8170985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Run multiple steps at same time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Same input → multiple chains → executed simultaneously → results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combined</a:t>
            </a:r>
          </a:p>
          <a:p>
            <a:endParaRPr lang="en-US" alt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altLang="en-US" sz="1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use </a:t>
            </a:r>
            <a:r>
              <a:rPr lang="en-US" altLang="en-US" sz="14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RunnableParallel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96815" y="2458591"/>
            <a:ext cx="935501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langchain_core.runnables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RunnableParallel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summary_chain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= (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ChatPromptTemplate.from_template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("Summarize:\n{text}")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| model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|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StrOutputParser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sentiment_chain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= (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ChatPromptTemplate.from_template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("What is the sentiment?\n{text}")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| model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|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StrOutputParser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parallel_chain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RunnableParallel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summary=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summary_chain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   sentiment=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sentiment_chain</a:t>
            </a:r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result = 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parallel_chain.invoke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({"text": "</a:t>
            </a:r>
            <a:r>
              <a:rPr lang="en-IN" sz="12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 is powerful and flexible."})</a:t>
            </a:r>
          </a:p>
          <a:p>
            <a:r>
              <a:rPr lang="en-IN" sz="1200" dirty="0">
                <a:latin typeface="Arial" panose="020B0604020202020204" pitchFamily="34" charset="0"/>
                <a:cs typeface="Arial" panose="020B0604020202020204" pitchFamily="34" charset="0"/>
              </a:rPr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297155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Conditional chains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62000" y="1021326"/>
            <a:ext cx="817098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Conditional Chain (If-Else logic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Will use </a:t>
            </a:r>
            <a:r>
              <a:rPr lang="en-US" sz="1400" b="1" dirty="0" err="1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RunnableBranch</a:t>
            </a:r>
            <a:endParaRPr lang="en-US" sz="1400" b="1" dirty="0" smtClean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Branch_chain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RunnableBranch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pPr lvl="4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(Condition1, chain1),</a:t>
            </a:r>
          </a:p>
          <a:p>
            <a:pPr lvl="4"/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(Condition2, chain2)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4"/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default chain</a:t>
            </a:r>
          </a:p>
          <a:p>
            <a:pPr lvl="4"/>
            <a:r>
              <a:rPr lang="en-US" alt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)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03706" y="1258873"/>
            <a:ext cx="540726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langchain_core.runnables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import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RunnableBranch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is_question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(input):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return "?" in input["text"]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question_chain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 (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ChatPromptTemplate.from_template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("Answer this:\n{text}")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| model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|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StrOutputParser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statement_chain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 (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ChatPromptTemplate.from_template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("Summarize this:\n{text}")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| model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|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StrOutputParser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conditional_chain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RunnableBranch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(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is_question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question_chain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),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statement_chain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# default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result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conditional_chain.invoke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({"text": "What is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?"})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print(result)</a:t>
            </a:r>
          </a:p>
        </p:txBody>
      </p:sp>
    </p:spTree>
    <p:extLst>
      <p:ext uri="{BB962C8B-B14F-4D97-AF65-F5344CB8AC3E}">
        <p14:creationId xmlns:p14="http://schemas.microsoft.com/office/powerpoint/2010/main" val="1662079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8672-BCCD-358E-1B1C-899E93B0C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8194"/>
            <a:ext cx="10515600" cy="595418"/>
          </a:xfrm>
        </p:spPr>
        <p:txBody>
          <a:bodyPr>
            <a:normAutofit/>
          </a:bodyPr>
          <a:lstStyle/>
          <a:p>
            <a:pPr algn="ctr" fontAlgn="base"/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IN" sz="32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RunnableLambda</a:t>
            </a:r>
            <a:endParaRPr lang="en-IN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611B996-6893-C9B0-E3A0-CA5FBBA2E16F}"/>
              </a:ext>
            </a:extLst>
          </p:cNvPr>
          <p:cNvSpPr txBox="1">
            <a:spLocks/>
          </p:cNvSpPr>
          <p:nvPr/>
        </p:nvSpPr>
        <p:spPr>
          <a:xfrm>
            <a:off x="699135" y="753612"/>
            <a:ext cx="10911840" cy="713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/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37105" y="4149300"/>
            <a:ext cx="43551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lambda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is an anonymous (unnamed) function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Syntax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: lambda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parameters: 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expression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Only </a:t>
            </a:r>
            <a:r>
              <a:rPr lang="en-US" altLang="en-US" sz="1400" b="1" dirty="0">
                <a:latin typeface="Arial" panose="020B0604020202020204" pitchFamily="34" charset="0"/>
              </a:rPr>
              <a:t>one expression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No multiple lines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Arial" panose="020B0604020202020204" pitchFamily="34" charset="0"/>
              </a:rPr>
              <a:t>Automatically returns the expression</a:t>
            </a:r>
          </a:p>
          <a:p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753123" y="4375510"/>
            <a:ext cx="28975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check_positive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   return </a:t>
            </a:r>
            <a:r>
              <a:rPr lang="en-IN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x.sentiment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== "positive"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014832" y="4383651"/>
            <a:ext cx="29690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lambda x: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x.sentiment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== "positive"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50630" y="4335812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endParaRPr lang="en-IN" sz="2400" dirty="0">
              <a:solidFill>
                <a:schemeClr val="accent2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014832" y="5192484"/>
            <a:ext cx="14029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lambda x: x + 1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2769" y="5192484"/>
            <a:ext cx="14978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add_one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(x):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return x + 1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50630" y="5146317"/>
            <a:ext cx="364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endParaRPr lang="en-IN" sz="2400" dirty="0">
              <a:solidFill>
                <a:schemeClr val="accent2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2515" y="1277750"/>
            <a:ext cx="46963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Example </a:t>
            </a:r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1: </a:t>
            </a:r>
            <a:endParaRPr lang="en-IN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def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preprocess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(x):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x["text"] = x["text"].lower()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   return x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pre = </a:t>
            </a:r>
            <a:r>
              <a:rPr lang="en-I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RunnableLambda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preprocess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chain =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pre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| prompt | model |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StrOutputParser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87915" y="1279921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 2: </a:t>
            </a:r>
          </a:p>
          <a:p>
            <a:r>
              <a:rPr lang="en-IN" sz="1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format_output</a:t>
            </a:r>
            <a:r>
              <a:rPr lang="en-IN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RunnableLambda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(lambda x: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x.strip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())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chain = prompt | model |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StrOutputParser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() |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format_output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67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A438EA56-8646-05A2-36D5-9122791CB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tx2"/>
                </a:solidFill>
              </a:rPr>
              <a:t>Thank you</a:t>
            </a:r>
            <a:endParaRPr lang="en-IN" sz="6600" b="1" dirty="0">
              <a:solidFill>
                <a:schemeClr val="tx2"/>
              </a:solidFill>
            </a:endParaRPr>
          </a:p>
        </p:txBody>
      </p:sp>
      <p:pic>
        <p:nvPicPr>
          <p:cNvPr id="16" name="Picture 15" descr="A blue and green logo&#10;&#10;Description automatically generated">
            <a:extLst>
              <a:ext uri="{FF2B5EF4-FFF2-40B4-BE49-F238E27FC236}">
                <a16:creationId xmlns:a16="http://schemas.microsoft.com/office/drawing/2014/main" id="{18C91886-4610-0E6C-8B52-92F6E363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7415" y="75515"/>
            <a:ext cx="610970" cy="61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1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Office PowerPoint</Application>
  <PresentationFormat>Widescreen</PresentationFormat>
  <Paragraphs>116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Office Theme</vt:lpstr>
      <vt:lpstr>LangChain -Chains</vt:lpstr>
      <vt:lpstr>LangChain - Chains</vt:lpstr>
      <vt:lpstr>LangChain – Sequencial chains</vt:lpstr>
      <vt:lpstr>LangChain – Parallel chains</vt:lpstr>
      <vt:lpstr>LangChain – Conditional chains</vt:lpstr>
      <vt:lpstr>LangChain – RunnableLambda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/>
  <cp:lastModifiedBy/>
  <cp:revision>1184</cp:revision>
  <dcterms:created xsi:type="dcterms:W3CDTF">2024-09-04T04:29:20Z</dcterms:created>
  <dcterms:modified xsi:type="dcterms:W3CDTF">2026-02-26T17:49:34Z</dcterms:modified>
</cp:coreProperties>
</file>