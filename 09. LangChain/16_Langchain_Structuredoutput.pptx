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2"/>
  </p:notesMasterIdLst>
  <p:sldIdLst>
    <p:sldId id="274" r:id="rId2"/>
    <p:sldId id="505" r:id="rId3"/>
    <p:sldId id="506" r:id="rId4"/>
    <p:sldId id="507" r:id="rId5"/>
    <p:sldId id="509" r:id="rId6"/>
    <p:sldId id="510" r:id="rId7"/>
    <p:sldId id="511" r:id="rId8"/>
    <p:sldId id="512" r:id="rId9"/>
    <p:sldId id="513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0HItghaSvE5eHsZb5weJ9w==" hashData="BoQOqkvidmGk1j3tAAkWyLrWfmmiZbhdOM4LiouzRHv5YU7Y0H2FUqTU2PWlcw/mpOiqD1h3VQuDsMtRXwqlL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06" autoAdjust="0"/>
    <p:restoredTop sz="95274" autoAdjust="0"/>
  </p:normalViewPr>
  <p:slideViewPr>
    <p:cSldViewPr snapToGrid="0">
      <p:cViewPr varScale="1">
        <p:scale>
          <a:sx n="87" d="100"/>
          <a:sy n="87" d="100"/>
        </p:scale>
        <p:origin x="302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5ECAA-268E-4C0D-9FC7-17C53698496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4D035-8484-4F58-9D29-A39A493CE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56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7991F-E995-897B-29EE-7B505AB66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67F7B-139D-FBEE-5DC8-2E47E96F6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4AFDF-4EB4-2154-D568-E99CEAE5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859FE-B4A5-F459-6D01-CA55616D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A9D83-4AD0-F06F-1BFD-7335E67B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25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64DD-1124-594C-D6C3-30AC77D8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956EB-D5B0-F889-4D83-707F88584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DB960-C94C-3229-A8BF-3F24767F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C9D0-5AF0-DB1E-FCC8-DF40FBA8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28B43-188B-BE7E-1FAD-B28D9A1D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0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9EB8-B517-7328-045D-4B42F4BE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749FE-223B-0565-51D9-E7E53B557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461B-39F7-04FD-57A8-48AD930A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0593-5333-C224-E1B2-B9C4B7D4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ADE0-4449-0BD6-D966-CBE20849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11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2BC8-D36F-6117-FAEA-86021EC6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5CDAA-66A4-B827-7699-008FFE7F0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FF1F8-BAE7-DDAA-F6CA-97D830A92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F4065-84FE-70CE-9B5B-A521F70E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FADE3-3E99-1A24-242B-3D30AA30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D6DFB-8246-E19B-62C9-847771CA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62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FF33-E1F9-C9DF-28CF-2D93FA98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1D9D4-7C67-8F4B-F2C9-B50F979E9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47A6A-A844-7785-EC67-177F6B94B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B2FA6-D7BB-E706-A3E8-01420028A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8A30B-A453-4BFC-A2CB-5A150DDC4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DCAD0-84E3-47EE-3D70-9F876F0B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32BE6-EB1D-4DA5-DB48-B58D962A5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2746C8-70CA-3360-6BC6-A40F5F23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39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445D-64B1-38C3-5E24-38598BEB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786F1-B775-4C52-E819-3543529F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73C8A-E876-90D6-B15F-115238CF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A1262-279B-4A6C-5CC3-C6A8887A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27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09089-4275-1048-CEE7-0A08D71C9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24FCE-FC51-100D-7EB4-2F6914D23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BE78A-DA65-3C14-808A-55415599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75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034B-8224-5F4C-8974-BA0376FE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BB6E-D8F6-DC0B-FCAC-E415397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3FDD0-87F9-F157-8C07-205CD29C1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131F2-E21E-1789-5933-56F48882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1DBC4-505F-2A13-B335-1FE99DB3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D1DE6-DFF0-9B32-8951-71B5CAE2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49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93B5-339E-870A-6EE5-0B819E5BA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6FB93-2AEC-67EB-4024-437105D2F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BA8DE-B9F6-F250-1B1E-B6DB595B1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7EB-F1EF-3651-2266-5B1F5AAF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F8B12-A386-0FB5-44B5-2D776735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B1C7B-6BD8-92FA-C044-366FF654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00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6908-04DA-A591-9C9B-1F097FDDA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E0DE2-418D-750C-597F-38D94976F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9CDEA-53E8-2C23-CC9E-AF5A3901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CAD83-374B-35CE-53E8-8899EA9B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EC723-68AA-7191-39BE-8F208C92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96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31BD8-F8EB-C0C4-26BA-CA01B0753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D1228-3044-8025-2371-BBC89DB83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A1DCB-8164-1EF0-D63F-0D51A08A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40341-CF13-2A66-53D2-588E571D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17D7C-CC1C-1264-2DA1-295E6D1A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76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00B29-40C6-2BA3-A1E6-F3D6B197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F8C6B-3E6D-5141-6436-161A08D0D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8DBB8-43B9-9730-B866-9A749FCB3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D5448-9797-D45F-7189-84C1AE1CA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D67D6-EA6E-021B-9B76-56F901420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8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3250" y="1014884"/>
            <a:ext cx="6105194" cy="3283103"/>
          </a:xfrm>
        </p:spPr>
        <p:txBody>
          <a:bodyPr>
            <a:normAutofit/>
          </a:bodyPr>
          <a:lstStyle/>
          <a:p>
            <a:r>
              <a:rPr lang="en-US" sz="66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sz="66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Structured Output</a:t>
            </a:r>
            <a:endParaRPr lang="en-IN" sz="6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CC98F91-2037-6AAF-7C21-34FAB6DA435D}"/>
              </a:ext>
            </a:extLst>
          </p:cNvPr>
          <p:cNvGrpSpPr/>
          <p:nvPr/>
        </p:nvGrpSpPr>
        <p:grpSpPr>
          <a:xfrm>
            <a:off x="3626418" y="4759020"/>
            <a:ext cx="4445785" cy="589558"/>
            <a:chOff x="3614024" y="4908823"/>
            <a:chExt cx="4445785" cy="589558"/>
          </a:xfrm>
        </p:grpSpPr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D64B9545-AA74-9959-DEF7-A5E273646E5C}"/>
                </a:ext>
              </a:extLst>
            </p:cNvPr>
            <p:cNvSpPr txBox="1">
              <a:spLocks/>
            </p:cNvSpPr>
            <p:nvPr/>
          </p:nvSpPr>
          <p:spPr>
            <a:xfrm>
              <a:off x="3614024" y="4908823"/>
              <a:ext cx="4445785" cy="58955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200" dirty="0" smtClean="0"/>
                <a:t>By</a:t>
              </a:r>
              <a:r>
                <a:rPr lang="en-US" sz="3200" b="1" dirty="0" smtClean="0">
                  <a:solidFill>
                    <a:srgbClr val="00B0F0"/>
                  </a:solidFill>
                </a:rPr>
                <a:t> </a:t>
              </a:r>
              <a:endParaRPr lang="en-US" sz="3200" b="1" dirty="0">
                <a:solidFill>
                  <a:srgbClr val="00B050"/>
                </a:solidFill>
              </a:endParaRPr>
            </a:p>
          </p:txBody>
        </p:sp>
        <p:pic>
          <p:nvPicPr>
            <p:cNvPr id="19" name="Picture 18" descr="A blue and green logo&#10;&#10;Description automatically generated">
              <a:extLst>
                <a:ext uri="{FF2B5EF4-FFF2-40B4-BE49-F238E27FC236}">
                  <a16:creationId xmlns:a16="http://schemas.microsoft.com/office/drawing/2014/main" id="{93B8DE8A-D399-DD1D-681B-D87204E48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7646" y="4908823"/>
              <a:ext cx="589558" cy="5895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67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- output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34560" y="1013516"/>
            <a:ext cx="9551377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Structured Output → LLM is FORCED to output your schema.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Output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Parsers → You FIX the LLM output AFTER it is generated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Structured Output (LLM produces perfect structured JSON/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Pydantic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✔️ You tell the model the exact schema</a:t>
            </a:r>
          </a:p>
          <a:p>
            <a:pPr lvl="1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✔️ Model MUST output that schema</a:t>
            </a:r>
          </a:p>
          <a:p>
            <a:pPr lvl="1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✔️ No need for parsing</a:t>
            </a:r>
          </a:p>
          <a:p>
            <a:pPr lvl="1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✔️ Most reliable and recommended</a:t>
            </a:r>
          </a:p>
          <a:p>
            <a:endParaRPr lang="en-U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happens </a:t>
            </a:r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generation.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model is constrained at generation time.</a:t>
            </a:r>
          </a:p>
          <a:p>
            <a:endParaRPr lang="en-U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2. Output Parsers (LLM outputs text → You parse it later)</a:t>
            </a:r>
          </a:p>
          <a:p>
            <a:pPr lvl="1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✔️ LLM writes freely</a:t>
            </a:r>
          </a:p>
          <a:p>
            <a:pPr lvl="1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✔️ You try to extract structure after the fact</a:t>
            </a:r>
          </a:p>
          <a:p>
            <a:pPr lvl="1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❌ Not guaranteed to follow schema</a:t>
            </a:r>
          </a:p>
          <a:p>
            <a:pPr lvl="1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❌ More error-prone</a:t>
            </a:r>
          </a:p>
          <a:p>
            <a:endParaRPr lang="en-U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happens </a:t>
            </a:r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after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generation.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You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clean/process the text.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2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When to use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34560" y="1013516"/>
            <a:ext cx="955137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When to Use What (Rule of Thumb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✔️ Use Structured Output when: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You need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fixed JSON schema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You are building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RAG pipelines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You are building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agents &amp; tool calls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You need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reliable API-like responses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You want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zero parsing 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errors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✔ Use Output Parsers when: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LLM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output can be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free-flowing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You only want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small extraction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You want flexibility over strictness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You work with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unstructured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769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With_structured_output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TypeDict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34560" y="1013516"/>
            <a:ext cx="9551377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langchain_google_genai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ChatGoogleGenerativeAI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model =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ChatGoogleGenerativeAI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(model="gemini-2.5-flash")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class Person(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TypedDict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   name: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   age: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   DOB: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structured_model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model.with_structured_output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(Person)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structured_model.invoke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("From this provide name of the player and age. Context 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Sachin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Tendulkar is 52 years old, as of November 2025. He was born on April 24, 1973.")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30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TypeDict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- Annotated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6299" y="1110231"/>
            <a:ext cx="1040130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from typing import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TypedDict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Annotated, Optional,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Literal     ###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Annotated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comes from </a:t>
            </a:r>
            <a:r>
              <a:rPr lang="en-US" alt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typing.Annotated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alt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“Annotated” 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attach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extra information (metadata)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to a type — typically used by frameworks like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to provide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descriptions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4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Annotated[</a:t>
            </a:r>
            <a:r>
              <a:rPr lang="en-US" sz="1400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actual_type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metadata</a:t>
            </a:r>
            <a:r>
              <a:rPr lang="en-US" sz="1400" dirty="0" smtClean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US" sz="1400" dirty="0" smtClean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Ex: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summary</a:t>
            </a:r>
            <a:r>
              <a:rPr lang="en-US" sz="1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Annotated[</a:t>
            </a:r>
            <a:r>
              <a:rPr lang="en-US" sz="14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"A brief summary of the review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"]     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 smtClean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Actual_type</a:t>
            </a:r>
            <a:r>
              <a:rPr lang="en-US" sz="1400" dirty="0" smtClean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can be </a:t>
            </a:r>
            <a:r>
              <a:rPr lang="en-US" sz="1400" dirty="0" err="1" smtClean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n-US" sz="1400" dirty="0" smtClean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Optional or List[</a:t>
            </a:r>
            <a:r>
              <a:rPr lang="en-US" sz="1400" dirty="0" err="1" smtClean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n-US" sz="1400" dirty="0" smtClean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etc.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Optional[T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]: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  The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value can be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None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Ex: name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Annotated[Optional[</a:t>
            </a:r>
            <a:r>
              <a:rPr lang="en-US" sz="14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n-US" sz="1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],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"Write the name of the reviewer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"]</a:t>
            </a:r>
          </a:p>
          <a:p>
            <a:pPr lvl="1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strenth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Annotated[Optional[list[</a:t>
            </a:r>
            <a:r>
              <a:rPr lang="en-US" sz="14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n-US" sz="1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]],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"Write down all the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strenth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inside a list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"]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62804"/>
              </p:ext>
            </p:extLst>
          </p:nvPr>
        </p:nvGraphicFramePr>
        <p:xfrm>
          <a:off x="1003299" y="4575393"/>
          <a:ext cx="6092094" cy="1940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46047">
                  <a:extLst>
                    <a:ext uri="{9D8B030D-6E8A-4147-A177-3AD203B41FA5}">
                      <a16:colId xmlns:a16="http://schemas.microsoft.com/office/drawing/2014/main" val="1448847292"/>
                    </a:ext>
                  </a:extLst>
                </a:gridCol>
                <a:gridCol w="3046047">
                  <a:extLst>
                    <a:ext uri="{9D8B030D-6E8A-4147-A177-3AD203B41FA5}">
                      <a16:colId xmlns:a16="http://schemas.microsoft.com/office/drawing/2014/main" val="19786097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757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list[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 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213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Literal["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","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neg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Restrict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7762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Optional[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Allow 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0634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Annotated[..., "description"]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 metadata for </a:t>
                      </a:r>
                      <a:r>
                        <a:rPr lang="en-I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LLM, or</a:t>
                      </a:r>
                      <a:r>
                        <a:rPr lang="en-IN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instruction for the field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6415904"/>
                  </a:ext>
                </a:extLst>
              </a:tr>
            </a:tbl>
          </a:graphicData>
        </a:graphic>
      </p:graphicFrame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7561385" y="5068619"/>
            <a:ext cx="497644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 schema + instructions in one place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 structured output more accurate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writing long prompt instructions separately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self-documenting schemas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01608" y="2042594"/>
            <a:ext cx="460936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## Behind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scenes, 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builds something like:</a:t>
            </a:r>
          </a:p>
          <a:p>
            <a:endParaRPr lang="en-IN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"summary": {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"type": "string",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"description": "A brief summary of the review"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82408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Pydantic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 - validation library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34560" y="1013516"/>
            <a:ext cx="10333894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TypedDict</a:t>
            </a:r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 definition only, no validation</a:t>
            </a:r>
            <a:r>
              <a:rPr lang="en-US" sz="14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Pydantic</a:t>
            </a:r>
            <a:r>
              <a:rPr lang="en-US" sz="14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 </a:t>
            </a:r>
            <a:r>
              <a:rPr lang="en-US" alt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powerful Python library for defining </a:t>
            </a:r>
            <a:r>
              <a:rPr lang="en-US" altLang="en-US" sz="1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models with </a:t>
            </a:r>
            <a:r>
              <a:rPr lang="en-US" altLang="en-US" sz="14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  <a:r>
              <a:rPr lang="en-US" altLang="en-US" sz="14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enforces </a:t>
            </a:r>
            <a:r>
              <a:rPr lang="en-US" alt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</a:t>
            </a:r>
            <a:r>
              <a:rPr lang="en-US" altLang="en-US" sz="1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runtime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Pydantic</a:t>
            </a:r>
            <a:r>
              <a:rPr lang="en-US" altLang="en-US" sz="14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provides default values, coerce(auto type conversion) and Field can be used to provide description, constraint , default values, regex expressions</a:t>
            </a:r>
            <a:endParaRPr lang="en-US" altLang="en-US" sz="1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langchain_google_genai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ChatGoogleGenerativeAI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pydantic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BaseModel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EmailStr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Field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from typing import Optional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class Student(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BaseModel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name: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‘Raju'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age: Optional[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] = None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email: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EmailStr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cgpa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float = Field(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=0,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=10, default=5, description='A decimal value representing the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cgpa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of the student')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new_student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= {'age':'32', '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email':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'abc@yahoo.com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'} </a:t>
            </a:r>
            <a:r>
              <a:rPr lang="en-US" sz="14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age will auto to </a:t>
            </a:r>
            <a:r>
              <a:rPr lang="en-US" sz="1400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4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i.e. </a:t>
            </a:r>
            <a:r>
              <a:rPr lang="en-IN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Coercion means automatic type conversion</a:t>
            </a:r>
            <a:endParaRPr lang="en-US" sz="1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student = Student(**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new_student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model =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ChatGoogleGenerativeAI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(model="gemini-2.5-flash")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structured =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model.with_structured_output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(Student)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result =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structured.invoke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("Give details of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Mahatma Gandhi")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print(result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861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Pydantic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Field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34560" y="1013516"/>
            <a:ext cx="10243040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Field can be used to provide description, constraint , default values, regex </a:t>
            </a:r>
            <a:r>
              <a:rPr lang="en-US" altLang="en-US" sz="14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expressions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Ex: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cgpa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: float = Field(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gt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=0,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lt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=10, default=5, description='A decimal value representing the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cgpa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of the student')</a:t>
            </a:r>
            <a:endParaRPr lang="en-US" altLang="en-US" sz="1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pydantic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BaseModel,Optional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Field</a:t>
            </a:r>
          </a:p>
          <a:p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class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PlaceInsights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BaseModel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place_name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	=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Field(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min_length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=3,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max_length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=50, description="Name of the place")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rating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Optional[float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	=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Field(default=None,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=0, le=5, description="Overall rating out of 5")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pincode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Optional[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	=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Field(default=None, pattern=r"^\d{6}$", description="6 digit postal code")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# Custom validation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field_validator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("rating")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validate_rating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cls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value):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	if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value is not None and value &lt; 1: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		raise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ValueError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("Rating should not be extremely low")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	return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 will generate the JSON text and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will convert the JSON text to python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dict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object if we use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TypedDict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pydantic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object if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Pydantic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used.</a:t>
            </a:r>
          </a:p>
          <a:p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Ex: Print(type(result</a:t>
            </a:r>
            <a:r>
              <a:rPr lang="en-US" sz="1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247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JSON Schema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6299" y="925592"/>
            <a:ext cx="1040130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json_schema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= {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"title": "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MovieFeedback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",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"type": "object",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"properties": {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"movie": {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"type": "string",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"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minLength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": 2</a:t>
            </a:r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maxLength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": 100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},</a:t>
            </a:r>
          </a:p>
          <a:p>
            <a:pPr lvl="3"/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"sentiment": {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"type": "string",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"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enum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": ["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", "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neg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", "neutral"]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},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"likes": {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"type": "array",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"items": {"type": "string"},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"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minItems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": 1</a:t>
            </a:r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maxItems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": 5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},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"dislikes": {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"type": "array",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"items": {"type": "string"},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"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maxItems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": 5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},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"reviewer": {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"type": "string",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"pattern": "^[A-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Za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-z ]+$"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  }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},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"required": ["movie</a:t>
            </a:r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", 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"sentiment"],</a:t>
            </a:r>
          </a:p>
          <a:p>
            <a:pPr lvl="3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"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additionalProperties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": False</a:t>
            </a:r>
          </a:p>
          <a:p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	}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structured_model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model.with_structured_output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json_schema</a:t>
            </a:r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43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TypedDict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Vs </a:t>
            </a:r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Pydantic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Vs JSON Schema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6299" y="1005407"/>
            <a:ext cx="10401301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TypedDict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You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only need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type hints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not real validation.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You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don’t require validation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like checking allowed values or constraints.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You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trust the LLM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to give correct structured output.</a:t>
            </a:r>
          </a:p>
          <a:p>
            <a:endParaRPr lang="en-US" sz="1400" b="0" dirty="0" smtClean="0">
              <a:solidFill>
                <a:srgbClr val="3B3B3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Pydantic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if: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You need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runtime data validation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(e.g., allowed values, types, constraints).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You want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default values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when the LLM misses fields.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You want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automatic type conversion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(e.g., "100" → 100).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JSON Schema if: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You don’t want to import extra Python libraries (like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Pydantic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You need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, but you don’t need Python objects.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You want structure defined in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standard JSON format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OpenAPI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-style).</a:t>
            </a:r>
          </a:p>
          <a:p>
            <a:endParaRPr lang="en-US" sz="1400" b="0" dirty="0">
              <a:solidFill>
                <a:srgbClr val="3B3B3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896410"/>
              </p:ext>
            </p:extLst>
          </p:nvPr>
        </p:nvGraphicFramePr>
        <p:xfrm>
          <a:off x="1291980" y="4329394"/>
          <a:ext cx="9150352" cy="2133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87588">
                  <a:extLst>
                    <a:ext uri="{9D8B030D-6E8A-4147-A177-3AD203B41FA5}">
                      <a16:colId xmlns:a16="http://schemas.microsoft.com/office/drawing/2014/main" val="979039414"/>
                    </a:ext>
                  </a:extLst>
                </a:gridCol>
                <a:gridCol w="2287588">
                  <a:extLst>
                    <a:ext uri="{9D8B030D-6E8A-4147-A177-3AD203B41FA5}">
                      <a16:colId xmlns:a16="http://schemas.microsoft.com/office/drawing/2014/main" val="256995039"/>
                    </a:ext>
                  </a:extLst>
                </a:gridCol>
                <a:gridCol w="1975583">
                  <a:extLst>
                    <a:ext uri="{9D8B030D-6E8A-4147-A177-3AD203B41FA5}">
                      <a16:colId xmlns:a16="http://schemas.microsoft.com/office/drawing/2014/main" val="2547470769"/>
                    </a:ext>
                  </a:extLst>
                </a:gridCol>
                <a:gridCol w="2599593">
                  <a:extLst>
                    <a:ext uri="{9D8B030D-6E8A-4147-A177-3AD203B41FA5}">
                      <a16:colId xmlns:a16="http://schemas.microsoft.com/office/drawing/2014/main" val="23497968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TypedDict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Pydantic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JSON Schema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780954"/>
                  </a:ext>
                </a:extLst>
              </a:tr>
              <a:tr h="180457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Runtime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 Yes (via jsonschema)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8998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Default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Not by itself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8826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 conversion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438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Requires Python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32262"/>
                  </a:ext>
                </a:extLst>
              </a:tr>
              <a:tr h="180457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Standard outside 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✔️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7568452"/>
                  </a:ext>
                </a:extLst>
              </a:tr>
              <a:tr h="180457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 when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 &amp; 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Strong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Multi-language, strict schemas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814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1392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tx2"/>
                </a:solidFill>
              </a:rPr>
              <a:t>Thank you</a:t>
            </a:r>
            <a:endParaRPr lang="en-IN" sz="6600" b="1" dirty="0">
              <a:solidFill>
                <a:schemeClr val="tx2"/>
              </a:solidFill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1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940</Words>
  <Application>Microsoft Office PowerPoint</Application>
  <PresentationFormat>Widescreen</PresentationFormat>
  <Paragraphs>200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LangChain – Structured Output</vt:lpstr>
      <vt:lpstr>LangChain - output</vt:lpstr>
      <vt:lpstr>When to use</vt:lpstr>
      <vt:lpstr>With_structured_output - TypeDict</vt:lpstr>
      <vt:lpstr>TypeDict - Annotated</vt:lpstr>
      <vt:lpstr>Pydantic - validation library</vt:lpstr>
      <vt:lpstr>Pydantic - Field</vt:lpstr>
      <vt:lpstr>JSON Schema</vt:lpstr>
      <vt:lpstr>TypedDict Vs Pydantic Vs JSON Schema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</dc:title>
  <dc:creator/>
  <cp:lastModifiedBy/>
  <cp:revision>1184</cp:revision>
  <dcterms:created xsi:type="dcterms:W3CDTF">2024-09-04T04:29:20Z</dcterms:created>
  <dcterms:modified xsi:type="dcterms:W3CDTF">2026-02-24T16:41:18Z</dcterms:modified>
</cp:coreProperties>
</file>