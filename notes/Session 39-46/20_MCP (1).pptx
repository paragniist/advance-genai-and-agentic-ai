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bookmarkIdSeed="2">
  <p:sldMasterIdLst>
    <p:sldMasterId id="2147483648" r:id="rId1"/>
  </p:sldMasterIdLst>
  <p:notesMasterIdLst>
    <p:notesMasterId r:id="rId26"/>
  </p:notesMasterIdLst>
  <p:sldIdLst>
    <p:sldId id="274" r:id="rId2"/>
    <p:sldId id="545" r:id="rId3"/>
    <p:sldId id="548" r:id="rId4"/>
    <p:sldId id="549" r:id="rId5"/>
    <p:sldId id="529" r:id="rId6"/>
    <p:sldId id="505" r:id="rId7"/>
    <p:sldId id="546" r:id="rId8"/>
    <p:sldId id="530" r:id="rId9"/>
    <p:sldId id="531" r:id="rId10"/>
    <p:sldId id="532" r:id="rId11"/>
    <p:sldId id="528" r:id="rId12"/>
    <p:sldId id="534" r:id="rId13"/>
    <p:sldId id="533" r:id="rId14"/>
    <p:sldId id="535" r:id="rId15"/>
    <p:sldId id="536" r:id="rId16"/>
    <p:sldId id="537" r:id="rId17"/>
    <p:sldId id="538" r:id="rId18"/>
    <p:sldId id="543" r:id="rId19"/>
    <p:sldId id="539" r:id="rId20"/>
    <p:sldId id="541" r:id="rId21"/>
    <p:sldId id="540" r:id="rId22"/>
    <p:sldId id="542" r:id="rId23"/>
    <p:sldId id="544" r:id="rId24"/>
    <p:sldId id="273"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0HItghaSvE5eHsZb5weJ9w==" hashData="BoQOqkvidmGk1j3tAAkWyLrWfmmiZbhdOM4LiouzRHv5YU7Y0H2FUqTU2PWlcw/mpOiqD1h3VQuDsMtRXwqlLw=="/>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06" autoAdjust="0"/>
    <p:restoredTop sz="85821" autoAdjust="0"/>
  </p:normalViewPr>
  <p:slideViewPr>
    <p:cSldViewPr snapToGrid="0">
      <p:cViewPr varScale="1">
        <p:scale>
          <a:sx n="74" d="100"/>
          <a:sy n="74" d="100"/>
        </p:scale>
        <p:origin x="816"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65ECAA-268E-4C0D-9FC7-17C53698496D}" type="datetimeFigureOut">
              <a:rPr lang="en-IN" smtClean="0"/>
              <a:t>12-03-2026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84D035-8484-4F58-9D29-A39A493CE121}" type="slidenum">
              <a:rPr lang="en-IN" smtClean="0"/>
              <a:t>‹#›</a:t>
            </a:fld>
            <a:endParaRPr lang="en-IN"/>
          </a:p>
        </p:txBody>
      </p:sp>
    </p:spTree>
    <p:extLst>
      <p:ext uri="{BB962C8B-B14F-4D97-AF65-F5344CB8AC3E}">
        <p14:creationId xmlns:p14="http://schemas.microsoft.com/office/powerpoint/2010/main" val="3530566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https://github.com/github/github-mcp-server/blob/main/docs/installation-guides/install-claude.md</a:t>
            </a:r>
            <a:endParaRPr lang="en-IN" dirty="0"/>
          </a:p>
        </p:txBody>
      </p:sp>
      <p:sp>
        <p:nvSpPr>
          <p:cNvPr id="4" name="Slide Number Placeholder 3"/>
          <p:cNvSpPr>
            <a:spLocks noGrp="1"/>
          </p:cNvSpPr>
          <p:nvPr>
            <p:ph type="sldNum" sz="quarter" idx="10"/>
          </p:nvPr>
        </p:nvSpPr>
        <p:spPr/>
        <p:txBody>
          <a:bodyPr/>
          <a:lstStyle/>
          <a:p>
            <a:fld id="{6684D035-8484-4F58-9D29-A39A493CE121}" type="slidenum">
              <a:rPr lang="en-IN" smtClean="0"/>
              <a:t>10</a:t>
            </a:fld>
            <a:endParaRPr lang="en-IN"/>
          </a:p>
        </p:txBody>
      </p:sp>
    </p:spTree>
    <p:extLst>
      <p:ext uri="{BB962C8B-B14F-4D97-AF65-F5344CB8AC3E}">
        <p14:creationId xmlns:p14="http://schemas.microsoft.com/office/powerpoint/2010/main" val="6271787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Other local server is </a:t>
            </a:r>
            <a:r>
              <a:rPr lang="en-IN" b="1" dirty="0" err="1" smtClean="0"/>
              <a:t>Manim</a:t>
            </a:r>
            <a:r>
              <a:rPr lang="en-IN" dirty="0" smtClean="0"/>
              <a:t> to generate</a:t>
            </a:r>
            <a:r>
              <a:rPr lang="en-IN" baseline="0" dirty="0" smtClean="0"/>
              <a:t> educational videos. https://github.com/abhiemj/manim-mcp-server</a:t>
            </a:r>
          </a:p>
          <a:p>
            <a:endParaRPr lang="en-IN" baseline="0" dirty="0" smtClean="0"/>
          </a:p>
          <a:p>
            <a:r>
              <a:rPr lang="en-IN" baseline="0" dirty="0" smtClean="0"/>
              <a:t>To know the path of </a:t>
            </a:r>
            <a:r>
              <a:rPr lang="en-IN" baseline="0" dirty="0" err="1" smtClean="0"/>
              <a:t>manim</a:t>
            </a:r>
            <a:r>
              <a:rPr lang="en-IN" baseline="0" dirty="0" smtClean="0"/>
              <a:t> : in </a:t>
            </a:r>
            <a:r>
              <a:rPr lang="en-IN" baseline="0" dirty="0" err="1" smtClean="0"/>
              <a:t>cmd</a:t>
            </a:r>
            <a:r>
              <a:rPr lang="en-IN" baseline="0" dirty="0" smtClean="0"/>
              <a:t> where </a:t>
            </a:r>
            <a:r>
              <a:rPr lang="en-IN" baseline="0" dirty="0" err="1" smtClean="0"/>
              <a:t>manim</a:t>
            </a:r>
            <a:endParaRPr lang="en-IN" baseline="0" dirty="0" smtClean="0"/>
          </a:p>
          <a:p>
            <a:endParaRPr lang="en-IN" baseline="0" dirty="0" smtClean="0"/>
          </a:p>
          <a:p>
            <a:r>
              <a:rPr lang="en-IN" baseline="0" dirty="0" smtClean="0"/>
              <a:t>"</a:t>
            </a:r>
            <a:r>
              <a:rPr lang="en-IN" baseline="0" dirty="0" err="1" smtClean="0"/>
              <a:t>mcpServers</a:t>
            </a:r>
            <a:r>
              <a:rPr lang="en-IN" baseline="0" dirty="0" smtClean="0"/>
              <a:t>": {</a:t>
            </a:r>
          </a:p>
          <a:p>
            <a:r>
              <a:rPr lang="en-IN" baseline="0" dirty="0" smtClean="0"/>
              <a:t>    "</a:t>
            </a:r>
            <a:r>
              <a:rPr lang="en-IN" baseline="0" dirty="0" err="1" smtClean="0"/>
              <a:t>manim</a:t>
            </a:r>
            <a:r>
              <a:rPr lang="en-IN" baseline="0" dirty="0" smtClean="0"/>
              <a:t>-server": {</a:t>
            </a:r>
          </a:p>
          <a:p>
            <a:r>
              <a:rPr lang="en-IN" baseline="0" dirty="0" smtClean="0"/>
              <a:t>      "command": "C:\\Users\\ASUS\\AppData\\Local\\Programs\\Python\\Python312\\python.exe",</a:t>
            </a:r>
          </a:p>
          <a:p>
            <a:r>
              <a:rPr lang="en-IN" baseline="0" dirty="0" smtClean="0"/>
              <a:t>      "</a:t>
            </a:r>
            <a:r>
              <a:rPr lang="en-IN" baseline="0" dirty="0" err="1" smtClean="0"/>
              <a:t>args</a:t>
            </a:r>
            <a:r>
              <a:rPr lang="en-IN" baseline="0" dirty="0" smtClean="0"/>
              <a:t>": [</a:t>
            </a:r>
          </a:p>
          <a:p>
            <a:r>
              <a:rPr lang="en-IN" baseline="0" dirty="0" smtClean="0"/>
              <a:t>        "H:\\01_Training\\ContentSlides_AgenticAI\\Code\\MCP\\Local_manim-mcp-server\\src\\manim_server.py"</a:t>
            </a:r>
          </a:p>
          <a:p>
            <a:r>
              <a:rPr lang="en-IN" baseline="0" dirty="0" smtClean="0"/>
              <a:t>      ],</a:t>
            </a:r>
          </a:p>
          <a:p>
            <a:r>
              <a:rPr lang="en-IN" baseline="0" dirty="0" smtClean="0"/>
              <a:t>      "</a:t>
            </a:r>
            <a:r>
              <a:rPr lang="en-IN" baseline="0" dirty="0" err="1" smtClean="0"/>
              <a:t>env</a:t>
            </a:r>
            <a:r>
              <a:rPr lang="en-IN" baseline="0" dirty="0" smtClean="0"/>
              <a:t>": {</a:t>
            </a:r>
          </a:p>
          <a:p>
            <a:r>
              <a:rPr lang="en-IN" baseline="0" dirty="0" smtClean="0"/>
              <a:t>        "MANIM_EXECUTABLE": "C:\\Users\\ASUS\\AppData\\Local\\Programs\\Python\\Python312\\Scripts\\manim.exe"</a:t>
            </a:r>
          </a:p>
          <a:p>
            <a:r>
              <a:rPr lang="en-IN" baseline="0" dirty="0" smtClean="0"/>
              <a:t>      },</a:t>
            </a:r>
          </a:p>
          <a:p>
            <a:r>
              <a:rPr lang="en-IN" baseline="0" dirty="0" smtClean="0"/>
              <a:t>      "transport": "</a:t>
            </a:r>
            <a:r>
              <a:rPr lang="en-IN" baseline="0" dirty="0" err="1" smtClean="0"/>
              <a:t>stdio</a:t>
            </a:r>
            <a:r>
              <a:rPr lang="en-IN" baseline="0" dirty="0" smtClean="0"/>
              <a:t>",</a:t>
            </a:r>
          </a:p>
          <a:p>
            <a:r>
              <a:rPr lang="en-IN" baseline="0" dirty="0" smtClean="0"/>
              <a:t>      "type": null,</a:t>
            </a:r>
          </a:p>
          <a:p>
            <a:r>
              <a:rPr lang="en-IN" baseline="0" dirty="0" smtClean="0"/>
              <a:t>      "</a:t>
            </a:r>
            <a:r>
              <a:rPr lang="en-IN" baseline="0" dirty="0" err="1" smtClean="0"/>
              <a:t>cwd</a:t>
            </a:r>
            <a:r>
              <a:rPr lang="en-IN" baseline="0" dirty="0" smtClean="0"/>
              <a:t>": null,</a:t>
            </a:r>
          </a:p>
          <a:p>
            <a:r>
              <a:rPr lang="en-IN" baseline="0" dirty="0" smtClean="0"/>
              <a:t>      "timeout": null,</a:t>
            </a:r>
          </a:p>
          <a:p>
            <a:r>
              <a:rPr lang="en-IN" baseline="0" dirty="0" smtClean="0"/>
              <a:t>      "description": null,</a:t>
            </a:r>
          </a:p>
          <a:p>
            <a:r>
              <a:rPr lang="en-IN" baseline="0" dirty="0" smtClean="0"/>
              <a:t>      "icon": null,</a:t>
            </a:r>
          </a:p>
          <a:p>
            <a:r>
              <a:rPr lang="en-IN" baseline="0" dirty="0" smtClean="0"/>
              <a:t>      "authentication": null</a:t>
            </a:r>
          </a:p>
          <a:p>
            <a:r>
              <a:rPr lang="en-IN" baseline="0" dirty="0" smtClean="0"/>
              <a:t>    },</a:t>
            </a:r>
          </a:p>
          <a:p>
            <a:endParaRPr lang="en-IN" baseline="0" dirty="0" smtClean="0"/>
          </a:p>
          <a:p>
            <a:endParaRPr lang="en-IN" dirty="0"/>
          </a:p>
        </p:txBody>
      </p:sp>
      <p:sp>
        <p:nvSpPr>
          <p:cNvPr id="4" name="Slide Number Placeholder 3"/>
          <p:cNvSpPr>
            <a:spLocks noGrp="1"/>
          </p:cNvSpPr>
          <p:nvPr>
            <p:ph type="sldNum" sz="quarter" idx="10"/>
          </p:nvPr>
        </p:nvSpPr>
        <p:spPr/>
        <p:txBody>
          <a:bodyPr/>
          <a:lstStyle/>
          <a:p>
            <a:fld id="{6684D035-8484-4F58-9D29-A39A493CE121}" type="slidenum">
              <a:rPr lang="en-IN" smtClean="0"/>
              <a:t>16</a:t>
            </a:fld>
            <a:endParaRPr lang="en-IN"/>
          </a:p>
        </p:txBody>
      </p:sp>
    </p:spTree>
    <p:extLst>
      <p:ext uri="{BB962C8B-B14F-4D97-AF65-F5344CB8AC3E}">
        <p14:creationId xmlns:p14="http://schemas.microsoft.com/office/powerpoint/2010/main" val="27341488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FastMCP</a:t>
            </a:r>
            <a:r>
              <a:rPr lang="en-US" dirty="0" smtClean="0"/>
              <a:t> lets you </a:t>
            </a:r>
            <a:r>
              <a:rPr lang="en-US" b="1" dirty="0" smtClean="0"/>
              <a:t>take your existing </a:t>
            </a:r>
            <a:r>
              <a:rPr lang="en-US" b="1" dirty="0" err="1" smtClean="0"/>
              <a:t>FastAPI</a:t>
            </a:r>
            <a:r>
              <a:rPr lang="en-US" b="1" dirty="0" smtClean="0"/>
              <a:t> app</a:t>
            </a:r>
            <a:r>
              <a:rPr lang="en-US" dirty="0" smtClean="0"/>
              <a:t> and turn it into an </a:t>
            </a:r>
            <a:r>
              <a:rPr lang="en-US" b="1" dirty="0" smtClean="0"/>
              <a:t>MCP server</a:t>
            </a:r>
            <a:r>
              <a:rPr lang="en-US" dirty="0" smtClean="0"/>
              <a:t> without rewriting your endpoints:</a:t>
            </a:r>
          </a:p>
          <a:p>
            <a:r>
              <a:rPr lang="en-IN" dirty="0" smtClean="0"/>
              <a:t># app.py</a:t>
            </a:r>
          </a:p>
          <a:p>
            <a:r>
              <a:rPr lang="en-IN" dirty="0" smtClean="0"/>
              <a:t>from </a:t>
            </a:r>
            <a:r>
              <a:rPr lang="en-IN" dirty="0" err="1" smtClean="0"/>
              <a:t>fastapi</a:t>
            </a:r>
            <a:r>
              <a:rPr lang="en-IN" dirty="0" smtClean="0"/>
              <a:t> import </a:t>
            </a:r>
            <a:r>
              <a:rPr lang="en-IN" dirty="0" err="1" smtClean="0"/>
              <a:t>FastAPI</a:t>
            </a:r>
            <a:endParaRPr lang="en-IN" dirty="0" smtClean="0"/>
          </a:p>
          <a:p>
            <a:endParaRPr lang="en-IN" dirty="0" smtClean="0"/>
          </a:p>
          <a:p>
            <a:r>
              <a:rPr lang="en-IN" dirty="0" smtClean="0"/>
              <a:t>app = </a:t>
            </a:r>
            <a:r>
              <a:rPr lang="en-IN" dirty="0" err="1" smtClean="0"/>
              <a:t>FastAPI</a:t>
            </a:r>
            <a:r>
              <a:rPr lang="en-IN" dirty="0" smtClean="0"/>
              <a:t>()</a:t>
            </a:r>
          </a:p>
          <a:p>
            <a:endParaRPr lang="en-IN" dirty="0" smtClean="0"/>
          </a:p>
          <a:p>
            <a:r>
              <a:rPr lang="en-IN" dirty="0" smtClean="0"/>
              <a:t>@</a:t>
            </a:r>
            <a:r>
              <a:rPr lang="en-IN" dirty="0" err="1" smtClean="0"/>
              <a:t>app.get</a:t>
            </a:r>
            <a:r>
              <a:rPr lang="en-IN" dirty="0" smtClean="0"/>
              <a:t>("/hello")</a:t>
            </a:r>
          </a:p>
          <a:p>
            <a:r>
              <a:rPr lang="en-IN" dirty="0" err="1" smtClean="0"/>
              <a:t>def</a:t>
            </a:r>
            <a:r>
              <a:rPr lang="en-IN" dirty="0" smtClean="0"/>
              <a:t> hello():</a:t>
            </a:r>
          </a:p>
          <a:p>
            <a:r>
              <a:rPr lang="en-IN" dirty="0" smtClean="0"/>
              <a:t>    return {"message": "Hello World"}</a:t>
            </a:r>
          </a:p>
          <a:p>
            <a:r>
              <a:rPr lang="en-IN" dirty="0" smtClean="0"/>
              <a:t># main.py</a:t>
            </a:r>
          </a:p>
          <a:p>
            <a:r>
              <a:rPr lang="en-IN" dirty="0" smtClean="0"/>
              <a:t>from </a:t>
            </a:r>
            <a:r>
              <a:rPr lang="en-IN" dirty="0" err="1" smtClean="0"/>
              <a:t>fastmcp</a:t>
            </a:r>
            <a:r>
              <a:rPr lang="en-IN" dirty="0" smtClean="0"/>
              <a:t> import MCP</a:t>
            </a:r>
          </a:p>
          <a:p>
            <a:r>
              <a:rPr lang="en-IN" dirty="0" smtClean="0"/>
              <a:t>from app import app  # your existing </a:t>
            </a:r>
            <a:r>
              <a:rPr lang="en-IN" dirty="0" err="1" smtClean="0"/>
              <a:t>FastAPI</a:t>
            </a:r>
            <a:r>
              <a:rPr lang="en-IN" dirty="0" smtClean="0"/>
              <a:t> app</a:t>
            </a:r>
          </a:p>
          <a:p>
            <a:endParaRPr lang="en-IN" dirty="0" smtClean="0"/>
          </a:p>
          <a:p>
            <a:r>
              <a:rPr lang="en-IN" dirty="0" smtClean="0"/>
              <a:t># wrap </a:t>
            </a:r>
            <a:r>
              <a:rPr lang="en-IN" dirty="0" err="1" smtClean="0"/>
              <a:t>FastAPI</a:t>
            </a:r>
            <a:r>
              <a:rPr lang="en-IN" dirty="0" smtClean="0"/>
              <a:t> app into an MCP server</a:t>
            </a:r>
          </a:p>
          <a:p>
            <a:r>
              <a:rPr lang="en-IN" dirty="0" err="1" smtClean="0"/>
              <a:t>mcp</a:t>
            </a:r>
            <a:r>
              <a:rPr lang="en-IN" dirty="0" smtClean="0"/>
              <a:t> = MCP(app)</a:t>
            </a:r>
          </a:p>
          <a:p>
            <a:endParaRPr lang="en-IN" dirty="0" smtClean="0"/>
          </a:p>
          <a:p>
            <a:r>
              <a:rPr lang="en-IN" dirty="0" smtClean="0"/>
              <a:t>if __name__ == "__main__":</a:t>
            </a:r>
          </a:p>
          <a:p>
            <a:r>
              <a:rPr lang="en-IN" dirty="0" smtClean="0"/>
              <a:t>    </a:t>
            </a:r>
            <a:r>
              <a:rPr lang="en-IN" dirty="0" err="1" smtClean="0"/>
              <a:t>mcp.run</a:t>
            </a:r>
            <a:r>
              <a:rPr lang="en-IN" dirty="0" smtClean="0"/>
              <a:t>(transport="http", host="0.0.0.0", port=8000)</a:t>
            </a:r>
          </a:p>
          <a:p>
            <a:endParaRPr lang="en-IN" dirty="0"/>
          </a:p>
        </p:txBody>
      </p:sp>
      <p:sp>
        <p:nvSpPr>
          <p:cNvPr id="4" name="Slide Number Placeholder 3"/>
          <p:cNvSpPr>
            <a:spLocks noGrp="1"/>
          </p:cNvSpPr>
          <p:nvPr>
            <p:ph type="sldNum" sz="quarter" idx="10"/>
          </p:nvPr>
        </p:nvSpPr>
        <p:spPr/>
        <p:txBody>
          <a:bodyPr/>
          <a:lstStyle/>
          <a:p>
            <a:fld id="{6684D035-8484-4F58-9D29-A39A493CE121}" type="slidenum">
              <a:rPr lang="en-IN" smtClean="0"/>
              <a:t>18</a:t>
            </a:fld>
            <a:endParaRPr lang="en-IN"/>
          </a:p>
        </p:txBody>
      </p:sp>
    </p:spTree>
    <p:extLst>
      <p:ext uri="{BB962C8B-B14F-4D97-AF65-F5344CB8AC3E}">
        <p14:creationId xmlns:p14="http://schemas.microsoft.com/office/powerpoint/2010/main" val="6577024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684D035-8484-4F58-9D29-A39A493CE121}" type="slidenum">
              <a:rPr lang="en-IN" smtClean="0"/>
              <a:t>19</a:t>
            </a:fld>
            <a:endParaRPr lang="en-IN"/>
          </a:p>
        </p:txBody>
      </p:sp>
    </p:spTree>
    <p:extLst>
      <p:ext uri="{BB962C8B-B14F-4D97-AF65-F5344CB8AC3E}">
        <p14:creationId xmlns:p14="http://schemas.microsoft.com/office/powerpoint/2010/main" val="19864460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684D035-8484-4F58-9D29-A39A493CE121}" type="slidenum">
              <a:rPr lang="en-IN" smtClean="0"/>
              <a:t>20</a:t>
            </a:fld>
            <a:endParaRPr lang="en-IN"/>
          </a:p>
        </p:txBody>
      </p:sp>
    </p:spTree>
    <p:extLst>
      <p:ext uri="{BB962C8B-B14F-4D97-AF65-F5344CB8AC3E}">
        <p14:creationId xmlns:p14="http://schemas.microsoft.com/office/powerpoint/2010/main" val="30990907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smtClean="0"/>
              <a:t>Logged in to </a:t>
            </a:r>
            <a:r>
              <a:rPr lang="en-IN" dirty="0" err="1" smtClean="0"/>
              <a:t>fastmcp</a:t>
            </a:r>
            <a:r>
              <a:rPr lang="en-IN" dirty="0" smtClean="0"/>
              <a:t> cloud using</a:t>
            </a:r>
            <a:r>
              <a:rPr lang="en-IN" baseline="0" dirty="0" smtClean="0"/>
              <a:t> </a:t>
            </a:r>
            <a:r>
              <a:rPr lang="en-IN" baseline="0" dirty="0" err="1" smtClean="0"/>
              <a:t>github</a:t>
            </a:r>
            <a:r>
              <a:rPr lang="en-IN" baseline="0" dirty="0" smtClean="0"/>
              <a:t> credentials</a:t>
            </a:r>
            <a:endParaRPr lang="en-IN" dirty="0"/>
          </a:p>
        </p:txBody>
      </p:sp>
      <p:sp>
        <p:nvSpPr>
          <p:cNvPr id="4" name="Slide Number Placeholder 3"/>
          <p:cNvSpPr>
            <a:spLocks noGrp="1"/>
          </p:cNvSpPr>
          <p:nvPr>
            <p:ph type="sldNum" sz="quarter" idx="10"/>
          </p:nvPr>
        </p:nvSpPr>
        <p:spPr/>
        <p:txBody>
          <a:bodyPr/>
          <a:lstStyle/>
          <a:p>
            <a:fld id="{6684D035-8484-4F58-9D29-A39A493CE121}" type="slidenum">
              <a:rPr lang="en-IN" smtClean="0"/>
              <a:t>21</a:t>
            </a:fld>
            <a:endParaRPr lang="en-IN"/>
          </a:p>
        </p:txBody>
      </p:sp>
    </p:spTree>
    <p:extLst>
      <p:ext uri="{BB962C8B-B14F-4D97-AF65-F5344CB8AC3E}">
        <p14:creationId xmlns:p14="http://schemas.microsoft.com/office/powerpoint/2010/main" val="23031671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6684D035-8484-4F58-9D29-A39A493CE121}" type="slidenum">
              <a:rPr lang="en-IN" smtClean="0"/>
              <a:t>22</a:t>
            </a:fld>
            <a:endParaRPr lang="en-IN"/>
          </a:p>
        </p:txBody>
      </p:sp>
    </p:spTree>
    <p:extLst>
      <p:ext uri="{BB962C8B-B14F-4D97-AF65-F5344CB8AC3E}">
        <p14:creationId xmlns:p14="http://schemas.microsoft.com/office/powerpoint/2010/main" val="5153977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b="1" dirty="0" smtClean="0"/>
              <a:t>Network MCP server → </a:t>
            </a:r>
            <a:r>
              <a:rPr lang="en-IN" b="1" dirty="0" err="1" smtClean="0"/>
              <a:t>MultiServerMCPClient</a:t>
            </a:r>
            <a:endParaRPr lang="en-IN" dirty="0" smtClean="0"/>
          </a:p>
          <a:p>
            <a:r>
              <a:rPr lang="en-IN" b="1" dirty="0" smtClean="0"/>
              <a:t>Local </a:t>
            </a:r>
            <a:r>
              <a:rPr lang="en-IN" b="1" dirty="0" err="1" smtClean="0"/>
              <a:t>stdio</a:t>
            </a:r>
            <a:r>
              <a:rPr lang="en-IN" b="1" dirty="0" smtClean="0"/>
              <a:t> MCP server → </a:t>
            </a:r>
            <a:r>
              <a:rPr lang="en-IN" b="1" dirty="0" err="1" smtClean="0"/>
              <a:t>MCPStdioClient</a:t>
            </a:r>
            <a:endParaRPr lang="en-IN" dirty="0" smtClean="0"/>
          </a:p>
          <a:p>
            <a:endParaRPr lang="en-IN" dirty="0"/>
          </a:p>
        </p:txBody>
      </p:sp>
      <p:sp>
        <p:nvSpPr>
          <p:cNvPr id="4" name="Slide Number Placeholder 3"/>
          <p:cNvSpPr>
            <a:spLocks noGrp="1"/>
          </p:cNvSpPr>
          <p:nvPr>
            <p:ph type="sldNum" sz="quarter" idx="10"/>
          </p:nvPr>
        </p:nvSpPr>
        <p:spPr/>
        <p:txBody>
          <a:bodyPr/>
          <a:lstStyle/>
          <a:p>
            <a:fld id="{6684D035-8484-4F58-9D29-A39A493CE121}" type="slidenum">
              <a:rPr lang="en-IN" smtClean="0"/>
              <a:t>23</a:t>
            </a:fld>
            <a:endParaRPr lang="en-IN"/>
          </a:p>
        </p:txBody>
      </p:sp>
    </p:spTree>
    <p:extLst>
      <p:ext uri="{BB962C8B-B14F-4D97-AF65-F5344CB8AC3E}">
        <p14:creationId xmlns:p14="http://schemas.microsoft.com/office/powerpoint/2010/main" val="198805425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7991F-E995-897B-29EE-7B505AB6646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EB67F7B-139D-FBEE-5DC8-2E47E96F6C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8474AFDF-4EB4-2154-D568-E99CEAE5BC26}"/>
              </a:ext>
            </a:extLst>
          </p:cNvPr>
          <p:cNvSpPr>
            <a:spLocks noGrp="1"/>
          </p:cNvSpPr>
          <p:nvPr>
            <p:ph type="dt" sz="half" idx="10"/>
          </p:nvPr>
        </p:nvSpPr>
        <p:spPr/>
        <p:txBody>
          <a:bodyPr/>
          <a:lstStyle/>
          <a:p>
            <a:fld id="{032066A6-D1A9-4114-9E94-251832C69923}" type="datetimeFigureOut">
              <a:rPr lang="en-IN" smtClean="0"/>
              <a:t>12-03-2026</a:t>
            </a:fld>
            <a:endParaRPr lang="en-IN"/>
          </a:p>
        </p:txBody>
      </p:sp>
      <p:sp>
        <p:nvSpPr>
          <p:cNvPr id="5" name="Footer Placeholder 4">
            <a:extLst>
              <a:ext uri="{FF2B5EF4-FFF2-40B4-BE49-F238E27FC236}">
                <a16:creationId xmlns:a16="http://schemas.microsoft.com/office/drawing/2014/main" id="{861859FE-B4A5-F459-6D01-CA55616D4A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2A9D83-4AD0-F06F-1BFD-7335E67B485F}"/>
              </a:ext>
            </a:extLst>
          </p:cNvPr>
          <p:cNvSpPr>
            <a:spLocks noGrp="1"/>
          </p:cNvSpPr>
          <p:nvPr>
            <p:ph type="sldNum" sz="quarter" idx="12"/>
          </p:nvPr>
        </p:nvSpPr>
        <p:spPr/>
        <p:txBody>
          <a:bodyPr/>
          <a:lstStyle/>
          <a:p>
            <a:fld id="{DF0E4596-51ED-496E-8BF6-E6E70F95E67B}" type="slidenum">
              <a:rPr lang="en-IN" smtClean="0"/>
              <a:t>‹#›</a:t>
            </a:fld>
            <a:endParaRPr lang="en-IN"/>
          </a:p>
        </p:txBody>
      </p:sp>
      <p:pic>
        <p:nvPicPr>
          <p:cNvPr id="7" name="Picture 6" descr="A blue and green logo&#10;&#10;Description automatically generated">
            <a:extLst>
              <a:ext uri="{FF2B5EF4-FFF2-40B4-BE49-F238E27FC236}">
                <a16:creationId xmlns:a16="http://schemas.microsoft.com/office/drawing/2014/main" id="{18C91886-4610-0E6C-8B52-92F6E3631F4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494629" y="75515"/>
            <a:ext cx="610970" cy="610970"/>
          </a:xfrm>
          <a:prstGeom prst="rect">
            <a:avLst/>
          </a:prstGeom>
        </p:spPr>
      </p:pic>
    </p:spTree>
    <p:extLst>
      <p:ext uri="{BB962C8B-B14F-4D97-AF65-F5344CB8AC3E}">
        <p14:creationId xmlns:p14="http://schemas.microsoft.com/office/powerpoint/2010/main" val="38352581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E64DD-1124-594C-D6C3-30AC77D8248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13956EB-D5B0-F889-4D83-707F8858400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BDDB960-C94C-3229-A8BF-3F24767FBEB3}"/>
              </a:ext>
            </a:extLst>
          </p:cNvPr>
          <p:cNvSpPr>
            <a:spLocks noGrp="1"/>
          </p:cNvSpPr>
          <p:nvPr>
            <p:ph type="dt" sz="half" idx="10"/>
          </p:nvPr>
        </p:nvSpPr>
        <p:spPr/>
        <p:txBody>
          <a:bodyPr/>
          <a:lstStyle/>
          <a:p>
            <a:fld id="{032066A6-D1A9-4114-9E94-251832C69923}" type="datetimeFigureOut">
              <a:rPr lang="en-IN" smtClean="0"/>
              <a:t>12-03-2026</a:t>
            </a:fld>
            <a:endParaRPr lang="en-IN"/>
          </a:p>
        </p:txBody>
      </p:sp>
      <p:sp>
        <p:nvSpPr>
          <p:cNvPr id="5" name="Footer Placeholder 4">
            <a:extLst>
              <a:ext uri="{FF2B5EF4-FFF2-40B4-BE49-F238E27FC236}">
                <a16:creationId xmlns:a16="http://schemas.microsoft.com/office/drawing/2014/main" id="{73EBC9D0-5AF0-DB1E-FCC8-DF40FBA8064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128B43-188B-BE7E-1FAD-B28D9A1D4A43}"/>
              </a:ext>
            </a:extLst>
          </p:cNvPr>
          <p:cNvSpPr>
            <a:spLocks noGrp="1"/>
          </p:cNvSpPr>
          <p:nvPr>
            <p:ph type="sldNum" sz="quarter" idx="12"/>
          </p:nvPr>
        </p:nvSpPr>
        <p:spPr/>
        <p:txBody>
          <a:bodyPr/>
          <a:lstStyle/>
          <a:p>
            <a:fld id="{DF0E4596-51ED-496E-8BF6-E6E70F95E67B}" type="slidenum">
              <a:rPr lang="en-IN" smtClean="0"/>
              <a:t>‹#›</a:t>
            </a:fld>
            <a:endParaRPr lang="en-IN"/>
          </a:p>
        </p:txBody>
      </p:sp>
      <p:pic>
        <p:nvPicPr>
          <p:cNvPr id="7" name="Picture 6" descr="A blue and green logo&#10;&#10;Description automatically generated">
            <a:extLst>
              <a:ext uri="{FF2B5EF4-FFF2-40B4-BE49-F238E27FC236}">
                <a16:creationId xmlns:a16="http://schemas.microsoft.com/office/drawing/2014/main" id="{18C91886-4610-0E6C-8B52-92F6E3631F4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494629" y="75515"/>
            <a:ext cx="610970" cy="610970"/>
          </a:xfrm>
          <a:prstGeom prst="rect">
            <a:avLst/>
          </a:prstGeom>
        </p:spPr>
      </p:pic>
    </p:spTree>
    <p:extLst>
      <p:ext uri="{BB962C8B-B14F-4D97-AF65-F5344CB8AC3E}">
        <p14:creationId xmlns:p14="http://schemas.microsoft.com/office/powerpoint/2010/main" val="1760307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E9EB8-B517-7328-045D-4B42F4BE5B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68749FE-223B-0565-51D9-E7E53B5578D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43461B-39F7-04FD-57A8-48AD930AEB8B}"/>
              </a:ext>
            </a:extLst>
          </p:cNvPr>
          <p:cNvSpPr>
            <a:spLocks noGrp="1"/>
          </p:cNvSpPr>
          <p:nvPr>
            <p:ph type="dt" sz="half" idx="10"/>
          </p:nvPr>
        </p:nvSpPr>
        <p:spPr/>
        <p:txBody>
          <a:bodyPr/>
          <a:lstStyle/>
          <a:p>
            <a:fld id="{032066A6-D1A9-4114-9E94-251832C69923}" type="datetimeFigureOut">
              <a:rPr lang="en-IN" smtClean="0"/>
              <a:t>12-03-2026</a:t>
            </a:fld>
            <a:endParaRPr lang="en-IN"/>
          </a:p>
        </p:txBody>
      </p:sp>
      <p:sp>
        <p:nvSpPr>
          <p:cNvPr id="5" name="Footer Placeholder 4">
            <a:extLst>
              <a:ext uri="{FF2B5EF4-FFF2-40B4-BE49-F238E27FC236}">
                <a16:creationId xmlns:a16="http://schemas.microsoft.com/office/drawing/2014/main" id="{534C0593-5333-C224-E1B2-B9C4B7D4AF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74ADE0-4449-0BD6-D966-CBE208496DC7}"/>
              </a:ext>
            </a:extLst>
          </p:cNvPr>
          <p:cNvSpPr>
            <a:spLocks noGrp="1"/>
          </p:cNvSpPr>
          <p:nvPr>
            <p:ph type="sldNum" sz="quarter" idx="12"/>
          </p:nvPr>
        </p:nvSpPr>
        <p:spPr/>
        <p:txBody>
          <a:bodyPr/>
          <a:lstStyle/>
          <a:p>
            <a:fld id="{DF0E4596-51ED-496E-8BF6-E6E70F95E67B}" type="slidenum">
              <a:rPr lang="en-IN" smtClean="0"/>
              <a:t>‹#›</a:t>
            </a:fld>
            <a:endParaRPr lang="en-IN"/>
          </a:p>
        </p:txBody>
      </p:sp>
    </p:spTree>
    <p:extLst>
      <p:ext uri="{BB962C8B-B14F-4D97-AF65-F5344CB8AC3E}">
        <p14:creationId xmlns:p14="http://schemas.microsoft.com/office/powerpoint/2010/main" val="40991128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62BC8-D36F-6117-FAEA-86021EC6D95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015CDAA-66A4-B827-7699-008FFE7F0DE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C5FF1F8-BAE7-DDAA-F6CA-97D830A922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23F4065-84FE-70CE-9B5B-A521F70EBE8B}"/>
              </a:ext>
            </a:extLst>
          </p:cNvPr>
          <p:cNvSpPr>
            <a:spLocks noGrp="1"/>
          </p:cNvSpPr>
          <p:nvPr>
            <p:ph type="dt" sz="half" idx="10"/>
          </p:nvPr>
        </p:nvSpPr>
        <p:spPr/>
        <p:txBody>
          <a:bodyPr/>
          <a:lstStyle/>
          <a:p>
            <a:fld id="{032066A6-D1A9-4114-9E94-251832C69923}" type="datetimeFigureOut">
              <a:rPr lang="en-IN" smtClean="0"/>
              <a:t>12-03-2026</a:t>
            </a:fld>
            <a:endParaRPr lang="en-IN"/>
          </a:p>
        </p:txBody>
      </p:sp>
      <p:sp>
        <p:nvSpPr>
          <p:cNvPr id="6" name="Footer Placeholder 5">
            <a:extLst>
              <a:ext uri="{FF2B5EF4-FFF2-40B4-BE49-F238E27FC236}">
                <a16:creationId xmlns:a16="http://schemas.microsoft.com/office/drawing/2014/main" id="{3F4FADE3-3E99-1A24-242B-3D30AA30C6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BD6DFB-8246-E19B-62C9-847771CAA060}"/>
              </a:ext>
            </a:extLst>
          </p:cNvPr>
          <p:cNvSpPr>
            <a:spLocks noGrp="1"/>
          </p:cNvSpPr>
          <p:nvPr>
            <p:ph type="sldNum" sz="quarter" idx="12"/>
          </p:nvPr>
        </p:nvSpPr>
        <p:spPr/>
        <p:txBody>
          <a:bodyPr/>
          <a:lstStyle/>
          <a:p>
            <a:fld id="{DF0E4596-51ED-496E-8BF6-E6E70F95E67B}" type="slidenum">
              <a:rPr lang="en-IN" smtClean="0"/>
              <a:t>‹#›</a:t>
            </a:fld>
            <a:endParaRPr lang="en-IN"/>
          </a:p>
        </p:txBody>
      </p:sp>
      <p:pic>
        <p:nvPicPr>
          <p:cNvPr id="8" name="Picture 7" descr="A blue and green logo&#10;&#10;Description automatically generated">
            <a:extLst>
              <a:ext uri="{FF2B5EF4-FFF2-40B4-BE49-F238E27FC236}">
                <a16:creationId xmlns:a16="http://schemas.microsoft.com/office/drawing/2014/main" id="{18C91886-4610-0E6C-8B52-92F6E3631F4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494629" y="75515"/>
            <a:ext cx="610970" cy="610970"/>
          </a:xfrm>
          <a:prstGeom prst="rect">
            <a:avLst/>
          </a:prstGeom>
        </p:spPr>
      </p:pic>
    </p:spTree>
    <p:extLst>
      <p:ext uri="{BB962C8B-B14F-4D97-AF65-F5344CB8AC3E}">
        <p14:creationId xmlns:p14="http://schemas.microsoft.com/office/powerpoint/2010/main" val="3742462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9FF33-E1F9-C9DF-28CF-2D93FA9894E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D61D9D4-7C67-8F4B-F2C9-B50F979E921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5E47A6A-A844-7785-EC67-177F6B94B3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C9B2FA6-D7BB-E706-A3E8-01420028AAC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08A30B-A453-4BFC-A2CB-5A150DDC4F3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B7DCAD0-84E3-47EE-3D70-9F876F0B8F67}"/>
              </a:ext>
            </a:extLst>
          </p:cNvPr>
          <p:cNvSpPr>
            <a:spLocks noGrp="1"/>
          </p:cNvSpPr>
          <p:nvPr>
            <p:ph type="dt" sz="half" idx="10"/>
          </p:nvPr>
        </p:nvSpPr>
        <p:spPr/>
        <p:txBody>
          <a:bodyPr/>
          <a:lstStyle/>
          <a:p>
            <a:fld id="{032066A6-D1A9-4114-9E94-251832C69923}" type="datetimeFigureOut">
              <a:rPr lang="en-IN" smtClean="0"/>
              <a:t>12-03-2026</a:t>
            </a:fld>
            <a:endParaRPr lang="en-IN"/>
          </a:p>
        </p:txBody>
      </p:sp>
      <p:sp>
        <p:nvSpPr>
          <p:cNvPr id="8" name="Footer Placeholder 7">
            <a:extLst>
              <a:ext uri="{FF2B5EF4-FFF2-40B4-BE49-F238E27FC236}">
                <a16:creationId xmlns:a16="http://schemas.microsoft.com/office/drawing/2014/main" id="{CC432BE6-EB1D-4DA5-DB48-B58D962A5B5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82746C8-70CA-3360-6BC6-A40F5F23940B}"/>
              </a:ext>
            </a:extLst>
          </p:cNvPr>
          <p:cNvSpPr>
            <a:spLocks noGrp="1"/>
          </p:cNvSpPr>
          <p:nvPr>
            <p:ph type="sldNum" sz="quarter" idx="12"/>
          </p:nvPr>
        </p:nvSpPr>
        <p:spPr/>
        <p:txBody>
          <a:bodyPr/>
          <a:lstStyle/>
          <a:p>
            <a:fld id="{DF0E4596-51ED-496E-8BF6-E6E70F95E67B}" type="slidenum">
              <a:rPr lang="en-IN" smtClean="0"/>
              <a:t>‹#›</a:t>
            </a:fld>
            <a:endParaRPr lang="en-IN"/>
          </a:p>
        </p:txBody>
      </p:sp>
    </p:spTree>
    <p:extLst>
      <p:ext uri="{BB962C8B-B14F-4D97-AF65-F5344CB8AC3E}">
        <p14:creationId xmlns:p14="http://schemas.microsoft.com/office/powerpoint/2010/main" val="1280395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3445D-64B1-38C3-5E24-38598BEBE5A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FE786F1-B775-4C52-E819-3543529F970D}"/>
              </a:ext>
            </a:extLst>
          </p:cNvPr>
          <p:cNvSpPr>
            <a:spLocks noGrp="1"/>
          </p:cNvSpPr>
          <p:nvPr>
            <p:ph type="dt" sz="half" idx="10"/>
          </p:nvPr>
        </p:nvSpPr>
        <p:spPr/>
        <p:txBody>
          <a:bodyPr/>
          <a:lstStyle/>
          <a:p>
            <a:fld id="{032066A6-D1A9-4114-9E94-251832C69923}" type="datetimeFigureOut">
              <a:rPr lang="en-IN" smtClean="0"/>
              <a:t>12-03-2026</a:t>
            </a:fld>
            <a:endParaRPr lang="en-IN"/>
          </a:p>
        </p:txBody>
      </p:sp>
      <p:sp>
        <p:nvSpPr>
          <p:cNvPr id="4" name="Footer Placeholder 3">
            <a:extLst>
              <a:ext uri="{FF2B5EF4-FFF2-40B4-BE49-F238E27FC236}">
                <a16:creationId xmlns:a16="http://schemas.microsoft.com/office/drawing/2014/main" id="{8C173C8A-E876-90D6-B15F-115238CF9F1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A0A1262-279B-4A6C-5CC3-C6A8887A5F9E}"/>
              </a:ext>
            </a:extLst>
          </p:cNvPr>
          <p:cNvSpPr>
            <a:spLocks noGrp="1"/>
          </p:cNvSpPr>
          <p:nvPr>
            <p:ph type="sldNum" sz="quarter" idx="12"/>
          </p:nvPr>
        </p:nvSpPr>
        <p:spPr/>
        <p:txBody>
          <a:bodyPr/>
          <a:lstStyle/>
          <a:p>
            <a:fld id="{DF0E4596-51ED-496E-8BF6-E6E70F95E67B}" type="slidenum">
              <a:rPr lang="en-IN" smtClean="0"/>
              <a:t>‹#›</a:t>
            </a:fld>
            <a:endParaRPr lang="en-IN"/>
          </a:p>
        </p:txBody>
      </p:sp>
    </p:spTree>
    <p:extLst>
      <p:ext uri="{BB962C8B-B14F-4D97-AF65-F5344CB8AC3E}">
        <p14:creationId xmlns:p14="http://schemas.microsoft.com/office/powerpoint/2010/main" val="40212704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8D09089-4275-1048-CEE7-0A08D71C9260}"/>
              </a:ext>
            </a:extLst>
          </p:cNvPr>
          <p:cNvSpPr>
            <a:spLocks noGrp="1"/>
          </p:cNvSpPr>
          <p:nvPr>
            <p:ph type="dt" sz="half" idx="10"/>
          </p:nvPr>
        </p:nvSpPr>
        <p:spPr/>
        <p:txBody>
          <a:bodyPr/>
          <a:lstStyle/>
          <a:p>
            <a:fld id="{032066A6-D1A9-4114-9E94-251832C69923}" type="datetimeFigureOut">
              <a:rPr lang="en-IN" smtClean="0"/>
              <a:t>12-03-2026</a:t>
            </a:fld>
            <a:endParaRPr lang="en-IN"/>
          </a:p>
        </p:txBody>
      </p:sp>
      <p:sp>
        <p:nvSpPr>
          <p:cNvPr id="3" name="Footer Placeholder 2">
            <a:extLst>
              <a:ext uri="{FF2B5EF4-FFF2-40B4-BE49-F238E27FC236}">
                <a16:creationId xmlns:a16="http://schemas.microsoft.com/office/drawing/2014/main" id="{65724FCE-FC51-100D-7EB4-2F6914D23C7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DBBE78A-DA65-3C14-808A-55415599CC2D}"/>
              </a:ext>
            </a:extLst>
          </p:cNvPr>
          <p:cNvSpPr>
            <a:spLocks noGrp="1"/>
          </p:cNvSpPr>
          <p:nvPr>
            <p:ph type="sldNum" sz="quarter" idx="12"/>
          </p:nvPr>
        </p:nvSpPr>
        <p:spPr/>
        <p:txBody>
          <a:bodyPr/>
          <a:lstStyle/>
          <a:p>
            <a:fld id="{DF0E4596-51ED-496E-8BF6-E6E70F95E67B}" type="slidenum">
              <a:rPr lang="en-IN" smtClean="0"/>
              <a:t>‹#›</a:t>
            </a:fld>
            <a:endParaRPr lang="en-IN"/>
          </a:p>
        </p:txBody>
      </p:sp>
    </p:spTree>
    <p:extLst>
      <p:ext uri="{BB962C8B-B14F-4D97-AF65-F5344CB8AC3E}">
        <p14:creationId xmlns:p14="http://schemas.microsoft.com/office/powerpoint/2010/main" val="38767532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B034B-8224-5F4C-8974-BA0376FEB2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D78BB6E-D8F6-DC0B-FCAC-E41539735EF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183FDD0-87F9-F157-8C07-205CD29C13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D131F2-E21E-1789-5933-56F48882B23E}"/>
              </a:ext>
            </a:extLst>
          </p:cNvPr>
          <p:cNvSpPr>
            <a:spLocks noGrp="1"/>
          </p:cNvSpPr>
          <p:nvPr>
            <p:ph type="dt" sz="half" idx="10"/>
          </p:nvPr>
        </p:nvSpPr>
        <p:spPr/>
        <p:txBody>
          <a:bodyPr/>
          <a:lstStyle/>
          <a:p>
            <a:fld id="{032066A6-D1A9-4114-9E94-251832C69923}" type="datetimeFigureOut">
              <a:rPr lang="en-IN" smtClean="0"/>
              <a:t>12-03-2026</a:t>
            </a:fld>
            <a:endParaRPr lang="en-IN"/>
          </a:p>
        </p:txBody>
      </p:sp>
      <p:sp>
        <p:nvSpPr>
          <p:cNvPr id="6" name="Footer Placeholder 5">
            <a:extLst>
              <a:ext uri="{FF2B5EF4-FFF2-40B4-BE49-F238E27FC236}">
                <a16:creationId xmlns:a16="http://schemas.microsoft.com/office/drawing/2014/main" id="{49F1DBC4-505F-2A13-B335-1FE99DB35A7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58D1DE6-DFF0-9B32-8951-71B5CAE27C77}"/>
              </a:ext>
            </a:extLst>
          </p:cNvPr>
          <p:cNvSpPr>
            <a:spLocks noGrp="1"/>
          </p:cNvSpPr>
          <p:nvPr>
            <p:ph type="sldNum" sz="quarter" idx="12"/>
          </p:nvPr>
        </p:nvSpPr>
        <p:spPr/>
        <p:txBody>
          <a:bodyPr/>
          <a:lstStyle/>
          <a:p>
            <a:fld id="{DF0E4596-51ED-496E-8BF6-E6E70F95E67B}" type="slidenum">
              <a:rPr lang="en-IN" smtClean="0"/>
              <a:t>‹#›</a:t>
            </a:fld>
            <a:endParaRPr lang="en-IN"/>
          </a:p>
        </p:txBody>
      </p:sp>
    </p:spTree>
    <p:extLst>
      <p:ext uri="{BB962C8B-B14F-4D97-AF65-F5344CB8AC3E}">
        <p14:creationId xmlns:p14="http://schemas.microsoft.com/office/powerpoint/2010/main" val="2190492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293B5-339E-870A-6EE5-0B819E5BA17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256FB93-2AEC-67EB-4024-437105D2FB3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DCBA8DE-B9F6-F250-1B1E-B6DB595B1F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74E7EB-F1EF-3651-2266-5B1F5AAFAB5E}"/>
              </a:ext>
            </a:extLst>
          </p:cNvPr>
          <p:cNvSpPr>
            <a:spLocks noGrp="1"/>
          </p:cNvSpPr>
          <p:nvPr>
            <p:ph type="dt" sz="half" idx="10"/>
          </p:nvPr>
        </p:nvSpPr>
        <p:spPr/>
        <p:txBody>
          <a:bodyPr/>
          <a:lstStyle/>
          <a:p>
            <a:fld id="{032066A6-D1A9-4114-9E94-251832C69923}" type="datetimeFigureOut">
              <a:rPr lang="en-IN" smtClean="0"/>
              <a:t>12-03-2026</a:t>
            </a:fld>
            <a:endParaRPr lang="en-IN"/>
          </a:p>
        </p:txBody>
      </p:sp>
      <p:sp>
        <p:nvSpPr>
          <p:cNvPr id="6" name="Footer Placeholder 5">
            <a:extLst>
              <a:ext uri="{FF2B5EF4-FFF2-40B4-BE49-F238E27FC236}">
                <a16:creationId xmlns:a16="http://schemas.microsoft.com/office/drawing/2014/main" id="{D1CF8B12-A386-0FB5-44B5-2D776735778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89B1C7B-6BD8-92FA-C044-366FF654F631}"/>
              </a:ext>
            </a:extLst>
          </p:cNvPr>
          <p:cNvSpPr>
            <a:spLocks noGrp="1"/>
          </p:cNvSpPr>
          <p:nvPr>
            <p:ph type="sldNum" sz="quarter" idx="12"/>
          </p:nvPr>
        </p:nvSpPr>
        <p:spPr/>
        <p:txBody>
          <a:bodyPr/>
          <a:lstStyle/>
          <a:p>
            <a:fld id="{DF0E4596-51ED-496E-8BF6-E6E70F95E67B}" type="slidenum">
              <a:rPr lang="en-IN" smtClean="0"/>
              <a:t>‹#›</a:t>
            </a:fld>
            <a:endParaRPr lang="en-IN"/>
          </a:p>
        </p:txBody>
      </p:sp>
    </p:spTree>
    <p:extLst>
      <p:ext uri="{BB962C8B-B14F-4D97-AF65-F5344CB8AC3E}">
        <p14:creationId xmlns:p14="http://schemas.microsoft.com/office/powerpoint/2010/main" val="3271001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36908-04DA-A591-9C9B-1F097FDDA1B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8AE0DE2-418D-750C-597F-38D94976F6A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19CDEA-53E8-2C23-CC9E-AF5A3901B621}"/>
              </a:ext>
            </a:extLst>
          </p:cNvPr>
          <p:cNvSpPr>
            <a:spLocks noGrp="1"/>
          </p:cNvSpPr>
          <p:nvPr>
            <p:ph type="dt" sz="half" idx="10"/>
          </p:nvPr>
        </p:nvSpPr>
        <p:spPr/>
        <p:txBody>
          <a:bodyPr/>
          <a:lstStyle/>
          <a:p>
            <a:fld id="{032066A6-D1A9-4114-9E94-251832C69923}" type="datetimeFigureOut">
              <a:rPr lang="en-IN" smtClean="0"/>
              <a:t>12-03-2026</a:t>
            </a:fld>
            <a:endParaRPr lang="en-IN"/>
          </a:p>
        </p:txBody>
      </p:sp>
      <p:sp>
        <p:nvSpPr>
          <p:cNvPr id="5" name="Footer Placeholder 4">
            <a:extLst>
              <a:ext uri="{FF2B5EF4-FFF2-40B4-BE49-F238E27FC236}">
                <a16:creationId xmlns:a16="http://schemas.microsoft.com/office/drawing/2014/main" id="{0A2CAD83-374B-35CE-53E8-8899EA9B3A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8BEC723-68AA-7191-39BE-8F208C92AE99}"/>
              </a:ext>
            </a:extLst>
          </p:cNvPr>
          <p:cNvSpPr>
            <a:spLocks noGrp="1"/>
          </p:cNvSpPr>
          <p:nvPr>
            <p:ph type="sldNum" sz="quarter" idx="12"/>
          </p:nvPr>
        </p:nvSpPr>
        <p:spPr/>
        <p:txBody>
          <a:bodyPr/>
          <a:lstStyle/>
          <a:p>
            <a:fld id="{DF0E4596-51ED-496E-8BF6-E6E70F95E67B}" type="slidenum">
              <a:rPr lang="en-IN" smtClean="0"/>
              <a:t>‹#›</a:t>
            </a:fld>
            <a:endParaRPr lang="en-IN"/>
          </a:p>
        </p:txBody>
      </p:sp>
    </p:spTree>
    <p:extLst>
      <p:ext uri="{BB962C8B-B14F-4D97-AF65-F5344CB8AC3E}">
        <p14:creationId xmlns:p14="http://schemas.microsoft.com/office/powerpoint/2010/main" val="27249649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1231BD8-F8EB-C0C4-26BA-CA01B0753EE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ED1228-3044-8025-2371-BBC89DB83E8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BA1DCB-8164-1EF0-D63F-0D51A08A3B99}"/>
              </a:ext>
            </a:extLst>
          </p:cNvPr>
          <p:cNvSpPr>
            <a:spLocks noGrp="1"/>
          </p:cNvSpPr>
          <p:nvPr>
            <p:ph type="dt" sz="half" idx="10"/>
          </p:nvPr>
        </p:nvSpPr>
        <p:spPr/>
        <p:txBody>
          <a:bodyPr/>
          <a:lstStyle/>
          <a:p>
            <a:fld id="{032066A6-D1A9-4114-9E94-251832C69923}" type="datetimeFigureOut">
              <a:rPr lang="en-IN" smtClean="0"/>
              <a:t>12-03-2026</a:t>
            </a:fld>
            <a:endParaRPr lang="en-IN"/>
          </a:p>
        </p:txBody>
      </p:sp>
      <p:sp>
        <p:nvSpPr>
          <p:cNvPr id="5" name="Footer Placeholder 4">
            <a:extLst>
              <a:ext uri="{FF2B5EF4-FFF2-40B4-BE49-F238E27FC236}">
                <a16:creationId xmlns:a16="http://schemas.microsoft.com/office/drawing/2014/main" id="{92840341-CF13-2A66-53D2-588E571DD1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F617D7C-CC1C-1264-2DA1-295E6D1AD66D}"/>
              </a:ext>
            </a:extLst>
          </p:cNvPr>
          <p:cNvSpPr>
            <a:spLocks noGrp="1"/>
          </p:cNvSpPr>
          <p:nvPr>
            <p:ph type="sldNum" sz="quarter" idx="12"/>
          </p:nvPr>
        </p:nvSpPr>
        <p:spPr/>
        <p:txBody>
          <a:bodyPr/>
          <a:lstStyle/>
          <a:p>
            <a:fld id="{DF0E4596-51ED-496E-8BF6-E6E70F95E67B}" type="slidenum">
              <a:rPr lang="en-IN" smtClean="0"/>
              <a:t>‹#›</a:t>
            </a:fld>
            <a:endParaRPr lang="en-IN"/>
          </a:p>
        </p:txBody>
      </p:sp>
    </p:spTree>
    <p:extLst>
      <p:ext uri="{BB962C8B-B14F-4D97-AF65-F5344CB8AC3E}">
        <p14:creationId xmlns:p14="http://schemas.microsoft.com/office/powerpoint/2010/main" val="5387616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700B29-40C6-2BA3-A1E6-F3D6B197A5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CFF8C6B-3E6D-5141-6436-161A08D0D9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F8DBB8-43B9-9730-B866-9A749FCB34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2066A6-D1A9-4114-9E94-251832C69923}" type="datetimeFigureOut">
              <a:rPr lang="en-IN" smtClean="0"/>
              <a:t>12-03-2026</a:t>
            </a:fld>
            <a:endParaRPr lang="en-IN"/>
          </a:p>
        </p:txBody>
      </p:sp>
      <p:sp>
        <p:nvSpPr>
          <p:cNvPr id="5" name="Footer Placeholder 4">
            <a:extLst>
              <a:ext uri="{FF2B5EF4-FFF2-40B4-BE49-F238E27FC236}">
                <a16:creationId xmlns:a16="http://schemas.microsoft.com/office/drawing/2014/main" id="{ACDD5448-9797-D45F-7189-84C1AE1CA6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6ED67D6-EA6E-021B-9B76-56F9014206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F0E4596-51ED-496E-8BF6-E6E70F95E67B}" type="slidenum">
              <a:rPr lang="en-IN" smtClean="0"/>
              <a:t>‹#›</a:t>
            </a:fld>
            <a:endParaRPr lang="en-IN"/>
          </a:p>
        </p:txBody>
      </p:sp>
    </p:spTree>
    <p:extLst>
      <p:ext uri="{BB962C8B-B14F-4D97-AF65-F5344CB8AC3E}">
        <p14:creationId xmlns:p14="http://schemas.microsoft.com/office/powerpoint/2010/main" val="11408835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hyperlink" Target="https://www.jsonrpc.org/" TargetMode="Externa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hyperlink" Target="https://claude.ai/download"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hyperlink" Target="https://nodejs.org/"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ADCAF8-8823-4E89-8612-21029831A4B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8CA07B2-0819-4B62-9425-7A52BBDD707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grpSp>
        <p:nvGrpSpPr>
          <p:cNvPr id="13" name="Group 12">
            <a:extLst>
              <a:ext uri="{FF2B5EF4-FFF2-40B4-BE49-F238E27FC236}">
                <a16:creationId xmlns:a16="http://schemas.microsoft.com/office/drawing/2014/main" id="{DA02BEE4-A5D4-40AF-882D-49D34B086FFF}"/>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p:grpSpPr>
        <p:sp>
          <p:nvSpPr>
            <p:cNvPr id="14" name="Freeform: Shape 13">
              <a:extLst>
                <a:ext uri="{FF2B5EF4-FFF2-40B4-BE49-F238E27FC236}">
                  <a16:creationId xmlns:a16="http://schemas.microsoft.com/office/drawing/2014/main" id="{0F5843EB-154F-4459-8954-BB1DF64BBD13}"/>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75905135-55D9-431B-8D5A-4C5C92B1FED7}"/>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Shape 5">
              <a:extLst>
                <a:ext uri="{FF2B5EF4-FFF2-40B4-BE49-F238E27FC236}">
                  <a16:creationId xmlns:a16="http://schemas.microsoft.com/office/drawing/2014/main" id="{9B732812-A0BB-4324-B390-DFEF26C109E5}"/>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01FEC055-6F76-4E20-BC93-76C2F58EAF38}"/>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Shape 7">
              <a:extLst>
                <a:ext uri="{FF2B5EF4-FFF2-40B4-BE49-F238E27FC236}">
                  <a16:creationId xmlns:a16="http://schemas.microsoft.com/office/drawing/2014/main" id="{D74CD21D-122E-4F3D-82AF-F4A37C278AF1}"/>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9">
              <a:extLst>
                <a:ext uri="{FF2B5EF4-FFF2-40B4-BE49-F238E27FC236}">
                  <a16:creationId xmlns:a16="http://schemas.microsoft.com/office/drawing/2014/main" id="{5A7FF51F-3820-41BE-8690-7E758ECFA7CF}"/>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gradFill>
              <a:gsLst>
                <a:gs pos="813">
                  <a:schemeClr val="bg1">
                    <a:alpha val="41000"/>
                  </a:schemeClr>
                </a:gs>
                <a:gs pos="20000">
                  <a:schemeClr val="accent5">
                    <a:lumMod val="85000"/>
                    <a:alpha val="56000"/>
                  </a:schemeClr>
                </a:gs>
                <a:gs pos="44000">
                  <a:schemeClr val="accent6">
                    <a:lumMod val="40000"/>
                    <a:lumOff val="60000"/>
                    <a:alpha val="57000"/>
                  </a:schemeClr>
                </a:gs>
                <a:gs pos="100000">
                  <a:schemeClr val="bg1">
                    <a:alpha val="59000"/>
                  </a:schemeClr>
                </a:gs>
                <a:gs pos="74000">
                  <a:schemeClr val="accent1">
                    <a:lumMod val="91000"/>
                    <a:lumOff val="9000"/>
                    <a:alpha val="34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85EAD889-EA4D-485F-BA9C-F6473A432996}"/>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4" name="Title 3">
            <a:extLst>
              <a:ext uri="{FF2B5EF4-FFF2-40B4-BE49-F238E27FC236}">
                <a16:creationId xmlns:a16="http://schemas.microsoft.com/office/drawing/2014/main" id="{A438EA56-8646-05A2-36D5-9122791CBC31}"/>
              </a:ext>
            </a:extLst>
          </p:cNvPr>
          <p:cNvSpPr>
            <a:spLocks noGrp="1"/>
          </p:cNvSpPr>
          <p:nvPr>
            <p:ph type="ctrTitle"/>
          </p:nvPr>
        </p:nvSpPr>
        <p:spPr>
          <a:xfrm>
            <a:off x="3043250" y="1014884"/>
            <a:ext cx="6105194" cy="3283103"/>
          </a:xfrm>
        </p:spPr>
        <p:txBody>
          <a:bodyPr>
            <a:normAutofit/>
          </a:bodyPr>
          <a:lstStyle/>
          <a:p>
            <a:r>
              <a:rPr lang="en-US" sz="6600" dirty="0" smtClean="0">
                <a:solidFill>
                  <a:schemeClr val="tx2"/>
                </a:solidFill>
                <a:latin typeface="Arial" panose="020B0604020202020204" pitchFamily="34" charset="0"/>
                <a:cs typeface="Arial" panose="020B0604020202020204" pitchFamily="34" charset="0"/>
              </a:rPr>
              <a:t>MCP - Model Context Protocol</a:t>
            </a:r>
            <a:endParaRPr lang="en-IN" sz="6600" dirty="0">
              <a:solidFill>
                <a:schemeClr val="tx2"/>
              </a:solidFill>
              <a:latin typeface="Arial" panose="020B0604020202020204" pitchFamily="34" charset="0"/>
              <a:cs typeface="Arial" panose="020B0604020202020204" pitchFamily="34" charset="0"/>
            </a:endParaRPr>
          </a:p>
        </p:txBody>
      </p:sp>
      <p:pic>
        <p:nvPicPr>
          <p:cNvPr id="16" name="Picture 15" descr="A blue and green logo&#10;&#10;Description automatically generated">
            <a:extLst>
              <a:ext uri="{FF2B5EF4-FFF2-40B4-BE49-F238E27FC236}">
                <a16:creationId xmlns:a16="http://schemas.microsoft.com/office/drawing/2014/main" id="{18C91886-4610-0E6C-8B52-92F6E3631F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67415" y="75515"/>
            <a:ext cx="610970" cy="610970"/>
          </a:xfrm>
          <a:prstGeom prst="rect">
            <a:avLst/>
          </a:prstGeom>
        </p:spPr>
      </p:pic>
      <p:grpSp>
        <p:nvGrpSpPr>
          <p:cNvPr id="17" name="Group 16">
            <a:extLst>
              <a:ext uri="{FF2B5EF4-FFF2-40B4-BE49-F238E27FC236}">
                <a16:creationId xmlns:a16="http://schemas.microsoft.com/office/drawing/2014/main" id="{0CC98F91-2037-6AAF-7C21-34FAB6DA435D}"/>
              </a:ext>
            </a:extLst>
          </p:cNvPr>
          <p:cNvGrpSpPr/>
          <p:nvPr/>
        </p:nvGrpSpPr>
        <p:grpSpPr>
          <a:xfrm>
            <a:off x="3626418" y="4759020"/>
            <a:ext cx="4445785" cy="589558"/>
            <a:chOff x="3614024" y="4908823"/>
            <a:chExt cx="4445785" cy="589558"/>
          </a:xfrm>
        </p:grpSpPr>
        <p:sp>
          <p:nvSpPr>
            <p:cNvPr id="18" name="Title 1">
              <a:extLst>
                <a:ext uri="{FF2B5EF4-FFF2-40B4-BE49-F238E27FC236}">
                  <a16:creationId xmlns:a16="http://schemas.microsoft.com/office/drawing/2014/main" id="{D64B9545-AA74-9959-DEF7-A5E273646E5C}"/>
                </a:ext>
              </a:extLst>
            </p:cNvPr>
            <p:cNvSpPr txBox="1">
              <a:spLocks/>
            </p:cNvSpPr>
            <p:nvPr/>
          </p:nvSpPr>
          <p:spPr>
            <a:xfrm>
              <a:off x="3614024" y="4908823"/>
              <a:ext cx="4445785" cy="589558"/>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dirty="0" smtClean="0"/>
                <a:t>By</a:t>
              </a:r>
              <a:r>
                <a:rPr lang="en-US" sz="3200" b="1" dirty="0" smtClean="0">
                  <a:solidFill>
                    <a:srgbClr val="00B0F0"/>
                  </a:solidFill>
                </a:rPr>
                <a:t> </a:t>
              </a:r>
              <a:endParaRPr lang="en-US" sz="3200" b="1" dirty="0">
                <a:solidFill>
                  <a:srgbClr val="00B050"/>
                </a:solidFill>
              </a:endParaRPr>
            </a:p>
          </p:txBody>
        </p:sp>
        <p:pic>
          <p:nvPicPr>
            <p:cNvPr id="19" name="Picture 18" descr="A blue and green logo&#10;&#10;Description automatically generated">
              <a:extLst>
                <a:ext uri="{FF2B5EF4-FFF2-40B4-BE49-F238E27FC236}">
                  <a16:creationId xmlns:a16="http://schemas.microsoft.com/office/drawing/2014/main" id="{93B8DE8A-D399-DD1D-681B-D87204E487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67646" y="4908823"/>
              <a:ext cx="589558" cy="589558"/>
            </a:xfrm>
            <a:prstGeom prst="rect">
              <a:avLst/>
            </a:prstGeom>
          </p:spPr>
        </p:pic>
      </p:grpSp>
    </p:spTree>
    <p:extLst>
      <p:ext uri="{BB962C8B-B14F-4D97-AF65-F5344CB8AC3E}">
        <p14:creationId xmlns:p14="http://schemas.microsoft.com/office/powerpoint/2010/main" val="272867516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rmAutofit/>
          </a:bodyPr>
          <a:lstStyle/>
          <a:p>
            <a:pPr algn="ctr" fontAlgn="base"/>
            <a:r>
              <a:rPr lang="en-IN" sz="3200" b="1" dirty="0" smtClean="0">
                <a:latin typeface="Arial" panose="020B0604020202020204" pitchFamily="34" charset="0"/>
                <a:cs typeface="Arial" panose="020B0604020202020204" pitchFamily="34" charset="0"/>
              </a:rPr>
              <a:t>MCP – Model Context Protocol</a:t>
            </a:r>
            <a:endParaRPr lang="en-IN" sz="3200" b="1" dirty="0">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7132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base"/>
            <a:endParaRPr lang="en-IN" sz="14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5"/>
          <p:cNvSpPr/>
          <p:nvPr/>
        </p:nvSpPr>
        <p:spPr>
          <a:xfrm>
            <a:off x="762000" y="1013516"/>
            <a:ext cx="10993120" cy="646331"/>
          </a:xfrm>
          <a:prstGeom prst="rect">
            <a:avLst/>
          </a:prstGeom>
        </p:spPr>
        <p:txBody>
          <a:bodyPr wrap="square">
            <a:spAutoFit/>
          </a:bodyPr>
          <a:lstStyle/>
          <a:p>
            <a:pPr lvl="0" eaLnBrk="0" fontAlgn="base" hangingPunct="0">
              <a:spcBef>
                <a:spcPct val="0"/>
              </a:spcBef>
              <a:spcAft>
                <a:spcPct val="0"/>
              </a:spcAft>
            </a:pPr>
            <a:r>
              <a:rPr lang="en-US" dirty="0">
                <a:latin typeface="Arial" panose="020B0604020202020204" pitchFamily="34" charset="0"/>
                <a:cs typeface="Arial" panose="020B0604020202020204" pitchFamily="34" charset="0"/>
              </a:rPr>
              <a:t>Model Context Protocol (MCP) is a </a:t>
            </a:r>
            <a:r>
              <a:rPr lang="en-US" b="1" dirty="0">
                <a:latin typeface="Arial" panose="020B0604020202020204" pitchFamily="34" charset="0"/>
                <a:cs typeface="Arial" panose="020B0604020202020204" pitchFamily="34" charset="0"/>
              </a:rPr>
              <a:t>standard </a:t>
            </a:r>
            <a:r>
              <a:rPr lang="en-US" b="1" dirty="0" smtClean="0">
                <a:latin typeface="Arial" panose="020B0604020202020204" pitchFamily="34" charset="0"/>
                <a:cs typeface="Arial" panose="020B0604020202020204" pitchFamily="34" charset="0"/>
              </a:rPr>
              <a:t>protocol</a:t>
            </a:r>
            <a:r>
              <a:rPr lang="en-US" dirty="0" smtClean="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that allows AI models to discover and use </a:t>
            </a:r>
            <a:r>
              <a:rPr lang="en-US" b="1" dirty="0">
                <a:latin typeface="Arial" panose="020B0604020202020204" pitchFamily="34" charset="0"/>
                <a:cs typeface="Arial" panose="020B0604020202020204" pitchFamily="34" charset="0"/>
              </a:rPr>
              <a:t>external tools</a:t>
            </a:r>
            <a:r>
              <a:rPr lang="en-US" dirty="0">
                <a:latin typeface="Arial" panose="020B0604020202020204" pitchFamily="34" charset="0"/>
                <a:cs typeface="Arial" panose="020B0604020202020204" pitchFamily="34" charset="0"/>
              </a:rPr>
              <a:t> with </a:t>
            </a:r>
            <a:r>
              <a:rPr lang="en-US" b="1" dirty="0">
                <a:latin typeface="Arial" panose="020B0604020202020204" pitchFamily="34" charset="0"/>
                <a:cs typeface="Arial" panose="020B0604020202020204" pitchFamily="34" charset="0"/>
              </a:rPr>
              <a:t>consistent schemas and outputs</a:t>
            </a:r>
            <a:r>
              <a:rPr lang="en-US" dirty="0">
                <a:latin typeface="Arial" panose="020B0604020202020204" pitchFamily="34" charset="0"/>
                <a:cs typeface="Arial" panose="020B0604020202020204" pitchFamily="34" charset="0"/>
              </a:rPr>
              <a:t>.</a:t>
            </a:r>
            <a:endParaRPr lang="en-IN" dirty="0">
              <a:latin typeface="Arial" panose="020B0604020202020204" pitchFamily="34" charset="0"/>
              <a:cs typeface="Arial" panose="020B0604020202020204" pitchFamily="34" charset="0"/>
            </a:endParaRPr>
          </a:p>
        </p:txBody>
      </p:sp>
      <p:pic>
        <p:nvPicPr>
          <p:cNvPr id="8" name="Picture 7"/>
          <p:cNvPicPr>
            <a:picLocks noChangeAspect="1"/>
          </p:cNvPicPr>
          <p:nvPr/>
        </p:nvPicPr>
        <p:blipFill>
          <a:blip r:embed="rId2"/>
          <a:stretch>
            <a:fillRect/>
          </a:stretch>
        </p:blipFill>
        <p:spPr>
          <a:xfrm>
            <a:off x="1050450" y="2062268"/>
            <a:ext cx="10079182" cy="4216612"/>
          </a:xfrm>
          <a:prstGeom prst="rect">
            <a:avLst/>
          </a:prstGeom>
        </p:spPr>
      </p:pic>
    </p:spTree>
    <p:extLst>
      <p:ext uri="{BB962C8B-B14F-4D97-AF65-F5344CB8AC3E}">
        <p14:creationId xmlns:p14="http://schemas.microsoft.com/office/powerpoint/2010/main" val="19476867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rmAutofit/>
          </a:bodyPr>
          <a:lstStyle/>
          <a:p>
            <a:pPr algn="ctr" fontAlgn="base"/>
            <a:r>
              <a:rPr lang="en-IN" sz="3200" b="1" dirty="0" smtClean="0">
                <a:latin typeface="Arial" panose="020B0604020202020204" pitchFamily="34" charset="0"/>
                <a:cs typeface="Arial" panose="020B0604020202020204" pitchFamily="34" charset="0"/>
              </a:rPr>
              <a:t>Before MCP</a:t>
            </a:r>
            <a:endParaRPr lang="en-IN" sz="3200" b="1" dirty="0">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7132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base"/>
            <a:endParaRPr lang="en-IN" sz="14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8"/>
          <p:cNvSpPr/>
          <p:nvPr/>
        </p:nvSpPr>
        <p:spPr>
          <a:xfrm>
            <a:off x="928427" y="1349030"/>
            <a:ext cx="10453255" cy="2246769"/>
          </a:xfrm>
          <a:prstGeom prst="rect">
            <a:avLst/>
          </a:prstGeom>
        </p:spPr>
        <p:txBody>
          <a:bodyPr wrap="square">
            <a:spAutoFit/>
          </a:bodyPr>
          <a:lstStyle/>
          <a:p>
            <a:r>
              <a:rPr lang="en-US" sz="1400" b="1" dirty="0">
                <a:latin typeface="Arial" panose="020B0604020202020204" pitchFamily="34" charset="0"/>
                <a:cs typeface="Arial" panose="020B0604020202020204" pitchFamily="34" charset="0"/>
              </a:rPr>
              <a:t>Before MCP – Integration Problems</a:t>
            </a:r>
          </a:p>
          <a:p>
            <a:pPr lvl="1"/>
            <a:r>
              <a:rPr lang="en-US" sz="1400" dirty="0">
                <a:latin typeface="Arial" panose="020B0604020202020204" pitchFamily="34" charset="0"/>
                <a:cs typeface="Arial" panose="020B0604020202020204" pitchFamily="34" charset="0"/>
              </a:rPr>
              <a:t>Before MCP, when an AI app integrates multiple tools:</a:t>
            </a:r>
          </a:p>
          <a:p>
            <a:pPr marL="1200150" lvl="2" indent="-285750">
              <a:buFont typeface="Wingdings" panose="05000000000000000000" pitchFamily="2" charset="2"/>
              <a:buChar char="v"/>
            </a:pPr>
            <a:r>
              <a:rPr lang="en-US" sz="1400" dirty="0">
                <a:latin typeface="Arial" panose="020B0604020202020204" pitchFamily="34" charset="0"/>
                <a:cs typeface="Arial" panose="020B0604020202020204" pitchFamily="34" charset="0"/>
              </a:rPr>
              <a:t>Each tool has </a:t>
            </a:r>
            <a:r>
              <a:rPr lang="en-US" sz="1400" b="1" dirty="0">
                <a:latin typeface="Arial" panose="020B0604020202020204" pitchFamily="34" charset="0"/>
                <a:cs typeface="Arial" panose="020B0604020202020204" pitchFamily="34" charset="0"/>
              </a:rPr>
              <a:t>its own SDK</a:t>
            </a:r>
            <a:endParaRPr lang="en-US" sz="1400" dirty="0">
              <a:latin typeface="Arial" panose="020B0604020202020204" pitchFamily="34" charset="0"/>
              <a:cs typeface="Arial" panose="020B0604020202020204" pitchFamily="34" charset="0"/>
            </a:endParaRPr>
          </a:p>
          <a:p>
            <a:pPr marL="1200150" lvl="2" indent="-285750">
              <a:buFont typeface="Wingdings" panose="05000000000000000000" pitchFamily="2" charset="2"/>
              <a:buChar char="v"/>
            </a:pPr>
            <a:r>
              <a:rPr lang="en-US" sz="1400" dirty="0">
                <a:latin typeface="Arial" panose="020B0604020202020204" pitchFamily="34" charset="0"/>
                <a:cs typeface="Arial" panose="020B0604020202020204" pitchFamily="34" charset="0"/>
              </a:rPr>
              <a:t>Each SDK returns </a:t>
            </a:r>
            <a:r>
              <a:rPr lang="en-US" sz="1400" b="1" dirty="0">
                <a:latin typeface="Arial" panose="020B0604020202020204" pitchFamily="34" charset="0"/>
                <a:cs typeface="Arial" panose="020B0604020202020204" pitchFamily="34" charset="0"/>
              </a:rPr>
              <a:t>different response formats</a:t>
            </a:r>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Example</a:t>
            </a:r>
          </a:p>
          <a:p>
            <a:r>
              <a:rPr lang="en-US" sz="1400" dirty="0">
                <a:latin typeface="Arial" panose="020B0604020202020204" pitchFamily="34" charset="0"/>
                <a:cs typeface="Arial" panose="020B0604020202020204" pitchFamily="34" charset="0"/>
              </a:rPr>
              <a:t>Suppose your AI agent connects to:</a:t>
            </a:r>
          </a:p>
          <a:p>
            <a:pPr marL="7429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GitHub</a:t>
            </a:r>
          </a:p>
          <a:p>
            <a:pPr marL="7429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Slack</a:t>
            </a:r>
          </a:p>
          <a:p>
            <a:pPr marL="742950" lvl="1" indent="-285750">
              <a:buFont typeface="Arial" panose="020B0604020202020204" pitchFamily="34" charset="0"/>
              <a:buChar char="•"/>
            </a:pPr>
            <a:r>
              <a:rPr lang="en-US" sz="1400" dirty="0" smtClean="0">
                <a:latin typeface="Arial" panose="020B0604020202020204" pitchFamily="34" charset="0"/>
                <a:cs typeface="Arial" panose="020B0604020202020204" pitchFamily="34" charset="0"/>
              </a:rPr>
              <a:t>Database</a:t>
            </a:r>
          </a:p>
          <a:p>
            <a:endParaRPr lang="en-US" sz="1400" dirty="0">
              <a:latin typeface="Arial" panose="020B0604020202020204" pitchFamily="34" charset="0"/>
              <a:cs typeface="Arial" panose="020B0604020202020204" pitchFamily="34" charset="0"/>
            </a:endParaRPr>
          </a:p>
        </p:txBody>
      </p:sp>
      <p:sp>
        <p:nvSpPr>
          <p:cNvPr id="3" name="Rectangle 2"/>
          <p:cNvSpPr/>
          <p:nvPr/>
        </p:nvSpPr>
        <p:spPr>
          <a:xfrm>
            <a:off x="8273848" y="2464268"/>
            <a:ext cx="2632277" cy="1169551"/>
          </a:xfrm>
          <a:prstGeom prst="rect">
            <a:avLst/>
          </a:prstGeom>
        </p:spPr>
        <p:txBody>
          <a:bodyPr wrap="square">
            <a:spAutoFit/>
          </a:bodyPr>
          <a:lstStyle/>
          <a:p>
            <a:r>
              <a:rPr lang="en-IN" sz="1400" b="1" dirty="0">
                <a:latin typeface="Arial" panose="020B0604020202020204" pitchFamily="34" charset="0"/>
                <a:cs typeface="Arial" panose="020B0604020202020204" pitchFamily="34" charset="0"/>
              </a:rPr>
              <a:t>Slack SDK response</a:t>
            </a:r>
          </a:p>
          <a:p>
            <a:r>
              <a:rPr lang="en-IN" sz="1400" dirty="0" smtClean="0">
                <a:latin typeface="Arial" panose="020B0604020202020204" pitchFamily="34" charset="0"/>
                <a:cs typeface="Arial" panose="020B0604020202020204" pitchFamily="34" charset="0"/>
              </a:rPr>
              <a:t>{</a:t>
            </a:r>
            <a:endParaRPr lang="en-IN" sz="1400" dirty="0">
              <a:latin typeface="Arial" panose="020B0604020202020204" pitchFamily="34" charset="0"/>
              <a:cs typeface="Arial" panose="020B0604020202020204" pitchFamily="34" charset="0"/>
            </a:endParaRPr>
          </a:p>
          <a:p>
            <a:r>
              <a:rPr lang="en-IN" sz="1400" dirty="0">
                <a:latin typeface="Arial" panose="020B0604020202020204" pitchFamily="34" charset="0"/>
                <a:cs typeface="Arial" panose="020B0604020202020204" pitchFamily="34" charset="0"/>
              </a:rPr>
              <a:t>  "channel": "general",</a:t>
            </a:r>
          </a:p>
          <a:p>
            <a:r>
              <a:rPr lang="en-IN" sz="1400" dirty="0">
                <a:latin typeface="Arial" panose="020B0604020202020204" pitchFamily="34" charset="0"/>
                <a:cs typeface="Arial" panose="020B0604020202020204" pitchFamily="34" charset="0"/>
              </a:rPr>
              <a:t>  "</a:t>
            </a:r>
            <a:r>
              <a:rPr lang="en-IN" sz="1400" dirty="0" err="1">
                <a:latin typeface="Arial" panose="020B0604020202020204" pitchFamily="34" charset="0"/>
                <a:cs typeface="Arial" panose="020B0604020202020204" pitchFamily="34" charset="0"/>
              </a:rPr>
              <a:t>message_count</a:t>
            </a:r>
            <a:r>
              <a:rPr lang="en-IN" sz="1400" dirty="0">
                <a:latin typeface="Arial" panose="020B0604020202020204" pitchFamily="34" charset="0"/>
                <a:cs typeface="Arial" panose="020B0604020202020204" pitchFamily="34" charset="0"/>
              </a:rPr>
              <a:t>": 45</a:t>
            </a:r>
          </a:p>
          <a:p>
            <a:r>
              <a:rPr lang="en-IN" sz="1400" dirty="0">
                <a:latin typeface="Arial" panose="020B0604020202020204" pitchFamily="34" charset="0"/>
                <a:cs typeface="Arial" panose="020B0604020202020204" pitchFamily="34" charset="0"/>
              </a:rPr>
              <a:t>}</a:t>
            </a:r>
          </a:p>
        </p:txBody>
      </p:sp>
      <p:sp>
        <p:nvSpPr>
          <p:cNvPr id="6" name="Rectangle 5"/>
          <p:cNvSpPr/>
          <p:nvPr/>
        </p:nvSpPr>
        <p:spPr>
          <a:xfrm>
            <a:off x="8324979" y="3869551"/>
            <a:ext cx="2791691" cy="1169551"/>
          </a:xfrm>
          <a:prstGeom prst="rect">
            <a:avLst/>
          </a:prstGeom>
        </p:spPr>
        <p:txBody>
          <a:bodyPr wrap="square">
            <a:spAutoFit/>
          </a:bodyPr>
          <a:lstStyle/>
          <a:p>
            <a:r>
              <a:rPr lang="en-IN" sz="1400" b="1" dirty="0">
                <a:latin typeface="Arial" panose="020B0604020202020204" pitchFamily="34" charset="0"/>
                <a:cs typeface="Arial" panose="020B0604020202020204" pitchFamily="34" charset="0"/>
              </a:rPr>
              <a:t>Database query response</a:t>
            </a:r>
          </a:p>
          <a:p>
            <a:r>
              <a:rPr lang="en-IN" sz="1400" dirty="0" smtClean="0">
                <a:latin typeface="Arial" panose="020B0604020202020204" pitchFamily="34" charset="0"/>
                <a:cs typeface="Arial" panose="020B0604020202020204" pitchFamily="34" charset="0"/>
              </a:rPr>
              <a:t>[</a:t>
            </a:r>
            <a:endParaRPr lang="en-IN" sz="1400" dirty="0">
              <a:latin typeface="Arial" panose="020B0604020202020204" pitchFamily="34" charset="0"/>
              <a:cs typeface="Arial" panose="020B0604020202020204" pitchFamily="34" charset="0"/>
            </a:endParaRPr>
          </a:p>
          <a:p>
            <a:r>
              <a:rPr lang="en-IN" sz="1400" dirty="0">
                <a:latin typeface="Arial" panose="020B0604020202020204" pitchFamily="34" charset="0"/>
                <a:cs typeface="Arial" panose="020B0604020202020204" pitchFamily="34" charset="0"/>
              </a:rPr>
              <a:t>  ("Prudvi", 32),</a:t>
            </a:r>
          </a:p>
          <a:p>
            <a:r>
              <a:rPr lang="en-IN" sz="1400" dirty="0">
                <a:latin typeface="Arial" panose="020B0604020202020204" pitchFamily="34" charset="0"/>
                <a:cs typeface="Arial" panose="020B0604020202020204" pitchFamily="34" charset="0"/>
              </a:rPr>
              <a:t>  ("Ravi", 28)</a:t>
            </a:r>
          </a:p>
          <a:p>
            <a:r>
              <a:rPr lang="en-IN" sz="1400" dirty="0">
                <a:latin typeface="Arial" panose="020B0604020202020204" pitchFamily="34" charset="0"/>
                <a:cs typeface="Arial" panose="020B0604020202020204" pitchFamily="34" charset="0"/>
              </a:rPr>
              <a:t>]</a:t>
            </a:r>
          </a:p>
        </p:txBody>
      </p:sp>
      <p:sp>
        <p:nvSpPr>
          <p:cNvPr id="8" name="Rectangle 7"/>
          <p:cNvSpPr/>
          <p:nvPr/>
        </p:nvSpPr>
        <p:spPr>
          <a:xfrm>
            <a:off x="8097463" y="1084135"/>
            <a:ext cx="2636347" cy="1169551"/>
          </a:xfrm>
          <a:prstGeom prst="rect">
            <a:avLst/>
          </a:prstGeom>
        </p:spPr>
        <p:txBody>
          <a:bodyPr wrap="square">
            <a:spAutoFit/>
          </a:bodyPr>
          <a:lstStyle/>
          <a:p>
            <a:r>
              <a:rPr lang="en-IN" sz="1400" b="1" dirty="0" smtClean="0">
                <a:latin typeface="Arial" panose="020B0604020202020204" pitchFamily="34" charset="0"/>
                <a:cs typeface="Arial" panose="020B0604020202020204" pitchFamily="34" charset="0"/>
              </a:rPr>
              <a:t>GitHub SDK response</a:t>
            </a:r>
          </a:p>
          <a:p>
            <a:r>
              <a:rPr lang="en-US" sz="1400" dirty="0" smtClean="0">
                <a:latin typeface="Arial" panose="020B0604020202020204" pitchFamily="34" charset="0"/>
                <a:cs typeface="Arial" panose="020B0604020202020204" pitchFamily="34" charset="0"/>
              </a:rPr>
              <a:t>{</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repo_name</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langgraph</a:t>
            </a:r>
            <a:r>
              <a:rPr lang="en-US" sz="1400" dirty="0">
                <a:latin typeface="Arial" panose="020B0604020202020204" pitchFamily="34" charset="0"/>
                <a:cs typeface="Arial" panose="020B0604020202020204" pitchFamily="34" charset="0"/>
              </a:rPr>
              <a:t>",</a:t>
            </a:r>
          </a:p>
          <a:p>
            <a:r>
              <a:rPr lang="en-US" sz="1400" dirty="0">
                <a:latin typeface="Arial" panose="020B0604020202020204" pitchFamily="34" charset="0"/>
                <a:cs typeface="Arial" panose="020B0604020202020204" pitchFamily="34" charset="0"/>
              </a:rPr>
              <a:t>  "stars": 12000</a:t>
            </a:r>
          </a:p>
          <a:p>
            <a:r>
              <a:rPr lang="en-US" sz="1400" dirty="0">
                <a:latin typeface="Arial" panose="020B0604020202020204" pitchFamily="34" charset="0"/>
                <a:cs typeface="Arial" panose="020B0604020202020204" pitchFamily="34" charset="0"/>
              </a:rPr>
              <a:t>}</a:t>
            </a:r>
            <a:endParaRPr lang="en-US" sz="1400" dirty="0">
              <a:latin typeface="Arial" panose="020B0604020202020204" pitchFamily="34" charset="0"/>
              <a:cs typeface="Arial" panose="020B0604020202020204" pitchFamily="34" charset="0"/>
            </a:endParaRPr>
          </a:p>
        </p:txBody>
      </p:sp>
      <p:sp>
        <p:nvSpPr>
          <p:cNvPr id="10" name="Rectangle 9"/>
          <p:cNvSpPr/>
          <p:nvPr/>
        </p:nvSpPr>
        <p:spPr>
          <a:xfrm>
            <a:off x="7910426" y="5312854"/>
            <a:ext cx="3862474" cy="954107"/>
          </a:xfrm>
          <a:prstGeom prst="rect">
            <a:avLst/>
          </a:prstGeom>
        </p:spPr>
        <p:txBody>
          <a:bodyPr wrap="square">
            <a:spAutoFit/>
          </a:bodyPr>
          <a:lstStyle/>
          <a:p>
            <a:r>
              <a:rPr lang="en-US" sz="1400" dirty="0">
                <a:latin typeface="Arial" panose="020B0604020202020204" pitchFamily="34" charset="0"/>
                <a:cs typeface="Arial" panose="020B0604020202020204" pitchFamily="34" charset="0"/>
              </a:rPr>
              <a:t>Now your AI application must:</a:t>
            </a:r>
          </a:p>
          <a:p>
            <a:pPr marL="7429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Parse each response</a:t>
            </a:r>
          </a:p>
          <a:p>
            <a:pPr marL="7429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Convert it into a </a:t>
            </a:r>
            <a:r>
              <a:rPr lang="en-US" sz="1400" b="1" dirty="0">
                <a:latin typeface="Arial" panose="020B0604020202020204" pitchFamily="34" charset="0"/>
                <a:cs typeface="Arial" panose="020B0604020202020204" pitchFamily="34" charset="0"/>
              </a:rPr>
              <a:t>standard format</a:t>
            </a:r>
            <a:endParaRPr lang="en-US" sz="14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Feed it to the LLM</a:t>
            </a:r>
          </a:p>
        </p:txBody>
      </p:sp>
      <p:sp>
        <p:nvSpPr>
          <p:cNvPr id="11" name="Rectangle 10"/>
          <p:cNvSpPr/>
          <p:nvPr/>
        </p:nvSpPr>
        <p:spPr>
          <a:xfrm>
            <a:off x="699135" y="3761828"/>
            <a:ext cx="6096000" cy="1384995"/>
          </a:xfrm>
          <a:prstGeom prst="rect">
            <a:avLst/>
          </a:prstGeom>
        </p:spPr>
        <p:txBody>
          <a:bodyPr>
            <a:spAutoFit/>
          </a:bodyPr>
          <a:lstStyle/>
          <a:p>
            <a:r>
              <a:rPr lang="en-IN" sz="1400" b="1" dirty="0">
                <a:latin typeface="Arial" panose="020B0604020202020204" pitchFamily="34" charset="0"/>
                <a:cs typeface="Arial" panose="020B0604020202020204" pitchFamily="34" charset="0"/>
              </a:rPr>
              <a:t>Problems</a:t>
            </a:r>
          </a:p>
          <a:p>
            <a:pPr marL="742950" lvl="1" indent="-285750">
              <a:buFont typeface="Arial" panose="020B0604020202020204" pitchFamily="34" charset="0"/>
              <a:buChar char="•"/>
            </a:pPr>
            <a:r>
              <a:rPr lang="en-IN" sz="1400" dirty="0" smtClean="0">
                <a:latin typeface="Arial" panose="020B0604020202020204" pitchFamily="34" charset="0"/>
                <a:cs typeface="Arial" panose="020B0604020202020204" pitchFamily="34" charset="0"/>
              </a:rPr>
              <a:t>Different SDKs</a:t>
            </a:r>
          </a:p>
          <a:p>
            <a:pPr marL="742950" lvl="1" indent="-285750">
              <a:buFont typeface="Arial" panose="020B0604020202020204" pitchFamily="34" charset="0"/>
              <a:buChar char="•"/>
            </a:pPr>
            <a:r>
              <a:rPr lang="en-IN" sz="1400" dirty="0" smtClean="0">
                <a:latin typeface="Arial" panose="020B0604020202020204" pitchFamily="34" charset="0"/>
                <a:cs typeface="Arial" panose="020B0604020202020204" pitchFamily="34" charset="0"/>
              </a:rPr>
              <a:t>Different authentication methods</a:t>
            </a:r>
          </a:p>
          <a:p>
            <a:pPr marL="742950" lvl="1" indent="-285750">
              <a:buFont typeface="Arial" panose="020B0604020202020204" pitchFamily="34" charset="0"/>
              <a:buChar char="•"/>
            </a:pPr>
            <a:r>
              <a:rPr lang="en-IN" sz="1400" dirty="0" smtClean="0">
                <a:latin typeface="Arial" panose="020B0604020202020204" pitchFamily="34" charset="0"/>
                <a:cs typeface="Arial" panose="020B0604020202020204" pitchFamily="34" charset="0"/>
              </a:rPr>
              <a:t>Different response formats</a:t>
            </a:r>
          </a:p>
          <a:p>
            <a:pPr marL="742950" lvl="1" indent="-285750">
              <a:buFont typeface="Arial" panose="020B0604020202020204" pitchFamily="34" charset="0"/>
              <a:buChar char="•"/>
            </a:pPr>
            <a:r>
              <a:rPr lang="en-IN" sz="1400" dirty="0" smtClean="0">
                <a:latin typeface="Arial" panose="020B0604020202020204" pitchFamily="34" charset="0"/>
                <a:cs typeface="Arial" panose="020B0604020202020204" pitchFamily="34" charset="0"/>
              </a:rPr>
              <a:t>Extra parsing logic in AI app</a:t>
            </a:r>
          </a:p>
          <a:p>
            <a:pPr marL="742950" lvl="1" indent="-285750">
              <a:buFont typeface="Arial" panose="020B0604020202020204" pitchFamily="34" charset="0"/>
              <a:buChar char="•"/>
            </a:pPr>
            <a:r>
              <a:rPr lang="en-IN" sz="1400" dirty="0" smtClean="0">
                <a:latin typeface="Arial" panose="020B0604020202020204" pitchFamily="34" charset="0"/>
                <a:cs typeface="Arial" panose="020B0604020202020204" pitchFamily="34" charset="0"/>
              </a:rPr>
              <a:t>Hard </a:t>
            </a:r>
            <a:r>
              <a:rPr lang="en-IN" sz="1400" dirty="0">
                <a:latin typeface="Arial" panose="020B0604020202020204" pitchFamily="34" charset="0"/>
                <a:cs typeface="Arial" panose="020B0604020202020204" pitchFamily="34" charset="0"/>
              </a:rPr>
              <a:t>to scale when tools increase</a:t>
            </a:r>
          </a:p>
        </p:txBody>
      </p:sp>
      <p:sp>
        <p:nvSpPr>
          <p:cNvPr id="12" name="Rectangle 11"/>
          <p:cNvSpPr/>
          <p:nvPr/>
        </p:nvSpPr>
        <p:spPr>
          <a:xfrm>
            <a:off x="4073820" y="2691143"/>
            <a:ext cx="3891959" cy="1169551"/>
          </a:xfrm>
          <a:prstGeom prst="rect">
            <a:avLst/>
          </a:prstGeom>
        </p:spPr>
        <p:txBody>
          <a:bodyPr wrap="square">
            <a:spAutoFit/>
          </a:bodyPr>
          <a:lstStyle/>
          <a:p>
            <a:r>
              <a:rPr lang="en-IN" sz="1400" dirty="0">
                <a:solidFill>
                  <a:srgbClr val="FF0000"/>
                </a:solidFill>
                <a:latin typeface="Arial" panose="020B0604020202020204" pitchFamily="34" charset="0"/>
                <a:cs typeface="Arial" panose="020B0604020202020204" pitchFamily="34" charset="0"/>
              </a:rPr>
              <a:t> 	</a:t>
            </a:r>
            <a:r>
              <a:rPr lang="en-IN" sz="1400" dirty="0" smtClean="0">
                <a:solidFill>
                  <a:srgbClr val="FF0000"/>
                </a:solidFill>
                <a:latin typeface="Arial" panose="020B0604020202020204" pitchFamily="34" charset="0"/>
                <a:cs typeface="Arial" panose="020B0604020202020204" pitchFamily="34" charset="0"/>
              </a:rPr>
              <a:t>   GitHub </a:t>
            </a:r>
            <a:r>
              <a:rPr lang="en-IN" sz="1400" dirty="0">
                <a:solidFill>
                  <a:srgbClr val="FF0000"/>
                </a:solidFill>
                <a:latin typeface="Arial" panose="020B0604020202020204" pitchFamily="34" charset="0"/>
                <a:cs typeface="Arial" panose="020B0604020202020204" pitchFamily="34" charset="0"/>
              </a:rPr>
              <a:t>SDK → JSON</a:t>
            </a:r>
          </a:p>
          <a:p>
            <a:r>
              <a:rPr lang="en-IN" sz="1400" dirty="0">
                <a:solidFill>
                  <a:srgbClr val="FF0000"/>
                </a:solidFill>
                <a:latin typeface="Arial" panose="020B0604020202020204" pitchFamily="34" charset="0"/>
                <a:cs typeface="Arial" panose="020B0604020202020204" pitchFamily="34" charset="0"/>
              </a:rPr>
              <a:t>               /</a:t>
            </a:r>
          </a:p>
          <a:p>
            <a:r>
              <a:rPr lang="en-IN" sz="1400" dirty="0">
                <a:solidFill>
                  <a:srgbClr val="FF0000"/>
                </a:solidFill>
                <a:latin typeface="Arial" panose="020B0604020202020204" pitchFamily="34" charset="0"/>
                <a:cs typeface="Arial" panose="020B0604020202020204" pitchFamily="34" charset="0"/>
              </a:rPr>
              <a:t>AI App ------- Slack SDK → </a:t>
            </a:r>
            <a:r>
              <a:rPr lang="en-IN" sz="1400" dirty="0" err="1">
                <a:solidFill>
                  <a:srgbClr val="FF0000"/>
                </a:solidFill>
                <a:latin typeface="Arial" panose="020B0604020202020204" pitchFamily="34" charset="0"/>
                <a:cs typeface="Arial" panose="020B0604020202020204" pitchFamily="34" charset="0"/>
              </a:rPr>
              <a:t>Dict</a:t>
            </a:r>
            <a:endParaRPr lang="en-IN" sz="1400" dirty="0">
              <a:solidFill>
                <a:srgbClr val="FF0000"/>
              </a:solidFill>
              <a:latin typeface="Arial" panose="020B0604020202020204" pitchFamily="34" charset="0"/>
              <a:cs typeface="Arial" panose="020B0604020202020204" pitchFamily="34" charset="0"/>
            </a:endParaRPr>
          </a:p>
          <a:p>
            <a:r>
              <a:rPr lang="en-IN" sz="1400" dirty="0">
                <a:solidFill>
                  <a:srgbClr val="FF0000"/>
                </a:solidFill>
                <a:latin typeface="Arial" panose="020B0604020202020204" pitchFamily="34" charset="0"/>
                <a:cs typeface="Arial" panose="020B0604020202020204" pitchFamily="34" charset="0"/>
              </a:rPr>
              <a:t>               \</a:t>
            </a:r>
          </a:p>
          <a:p>
            <a:r>
              <a:rPr lang="en-IN" sz="1400" dirty="0">
                <a:solidFill>
                  <a:srgbClr val="FF0000"/>
                </a:solidFill>
                <a:latin typeface="Arial" panose="020B0604020202020204" pitchFamily="34" charset="0"/>
                <a:cs typeface="Arial" panose="020B0604020202020204" pitchFamily="34" charset="0"/>
              </a:rPr>
              <a:t>                </a:t>
            </a:r>
            <a:r>
              <a:rPr lang="en-IN" sz="1400" dirty="0" smtClean="0">
                <a:solidFill>
                  <a:srgbClr val="FF0000"/>
                </a:solidFill>
                <a:latin typeface="Arial" panose="020B0604020202020204" pitchFamily="34" charset="0"/>
                <a:cs typeface="Arial" panose="020B0604020202020204" pitchFamily="34" charset="0"/>
              </a:rPr>
              <a:t>      Database </a:t>
            </a:r>
            <a:r>
              <a:rPr lang="en-IN" sz="1400" dirty="0">
                <a:solidFill>
                  <a:srgbClr val="FF0000"/>
                </a:solidFill>
                <a:latin typeface="Arial" panose="020B0604020202020204" pitchFamily="34" charset="0"/>
                <a:cs typeface="Arial" panose="020B0604020202020204" pitchFamily="34" charset="0"/>
              </a:rPr>
              <a:t>SDK → Tuple</a:t>
            </a:r>
          </a:p>
        </p:txBody>
      </p:sp>
    </p:spTree>
    <p:extLst>
      <p:ext uri="{BB962C8B-B14F-4D97-AF65-F5344CB8AC3E}">
        <p14:creationId xmlns:p14="http://schemas.microsoft.com/office/powerpoint/2010/main" val="8608992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rmAutofit/>
          </a:bodyPr>
          <a:lstStyle/>
          <a:p>
            <a:pPr algn="ctr" fontAlgn="base"/>
            <a:r>
              <a:rPr lang="en-IN" sz="3200" b="1" dirty="0" smtClean="0">
                <a:latin typeface="Arial" panose="020B0604020202020204" pitchFamily="34" charset="0"/>
                <a:cs typeface="Arial" panose="020B0604020202020204" pitchFamily="34" charset="0"/>
              </a:rPr>
              <a:t>After MCP</a:t>
            </a:r>
            <a:endParaRPr lang="en-IN" sz="3200" b="1" dirty="0">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7132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base"/>
            <a:endParaRPr lang="en-IN" sz="14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8"/>
          <p:cNvSpPr/>
          <p:nvPr/>
        </p:nvSpPr>
        <p:spPr>
          <a:xfrm>
            <a:off x="928428" y="1349030"/>
            <a:ext cx="6314036" cy="2616101"/>
          </a:xfrm>
          <a:prstGeom prst="rect">
            <a:avLst/>
          </a:prstGeom>
        </p:spPr>
        <p:txBody>
          <a:bodyPr wrap="square">
            <a:spAutoFit/>
          </a:bodyPr>
          <a:lstStyle/>
          <a:p>
            <a:r>
              <a:rPr lang="en-IN" sz="1600" dirty="0">
                <a:latin typeface="Arial" panose="020B0604020202020204" pitchFamily="34" charset="0"/>
                <a:cs typeface="Arial" panose="020B0604020202020204" pitchFamily="34" charset="0"/>
              </a:rPr>
              <a:t>After MCP – Standardized </a:t>
            </a:r>
            <a:r>
              <a:rPr lang="en-IN" sz="1600" dirty="0" smtClean="0">
                <a:latin typeface="Arial" panose="020B0604020202020204" pitchFamily="34" charset="0"/>
                <a:cs typeface="Arial" panose="020B0604020202020204" pitchFamily="34" charset="0"/>
              </a:rPr>
              <a:t>Interface is given.</a:t>
            </a:r>
          </a:p>
          <a:p>
            <a:endParaRPr lang="en-US" sz="1600" dirty="0">
              <a:latin typeface="Arial" panose="020B0604020202020204" pitchFamily="34" charset="0"/>
              <a:cs typeface="Arial" panose="020B0604020202020204" pitchFamily="34" charset="0"/>
            </a:endParaRPr>
          </a:p>
          <a:p>
            <a:r>
              <a:rPr lang="en-IN" sz="1600" dirty="0" smtClean="0">
                <a:latin typeface="Arial" panose="020B0604020202020204" pitchFamily="34" charset="0"/>
                <a:cs typeface="Arial" panose="020B0604020202020204" pitchFamily="34" charset="0"/>
              </a:rPr>
              <a:t>What </a:t>
            </a:r>
            <a:r>
              <a:rPr lang="en-IN" sz="1600" dirty="0">
                <a:latin typeface="Arial" panose="020B0604020202020204" pitchFamily="34" charset="0"/>
                <a:cs typeface="Arial" panose="020B0604020202020204" pitchFamily="34" charset="0"/>
              </a:rPr>
              <a:t>MCP </a:t>
            </a:r>
            <a:r>
              <a:rPr lang="en-IN" sz="1600" dirty="0" smtClean="0">
                <a:latin typeface="Arial" panose="020B0604020202020204" pitchFamily="34" charset="0"/>
                <a:cs typeface="Arial" panose="020B0604020202020204" pitchFamily="34" charset="0"/>
              </a:rPr>
              <a:t>Standardizes?</a:t>
            </a:r>
          </a:p>
          <a:p>
            <a:endParaRPr lang="en-IN" sz="1600" dirty="0" smtClean="0">
              <a:latin typeface="Arial" panose="020B0604020202020204" pitchFamily="34" charset="0"/>
              <a:cs typeface="Arial" panose="020B0604020202020204" pitchFamily="34" charset="0"/>
            </a:endParaRPr>
          </a:p>
          <a:p>
            <a:r>
              <a:rPr lang="en-IN" sz="1600" dirty="0" smtClean="0">
                <a:latin typeface="Arial" panose="020B0604020202020204" pitchFamily="34" charset="0"/>
                <a:cs typeface="Arial" panose="020B0604020202020204" pitchFamily="34" charset="0"/>
              </a:rPr>
              <a:t>MCP </a:t>
            </a:r>
            <a:r>
              <a:rPr lang="en-IN" sz="1600" dirty="0">
                <a:latin typeface="Arial" panose="020B0604020202020204" pitchFamily="34" charset="0"/>
                <a:cs typeface="Arial" panose="020B0604020202020204" pitchFamily="34" charset="0"/>
              </a:rPr>
              <a:t>standardizes three things</a:t>
            </a:r>
            <a:r>
              <a:rPr lang="en-IN" sz="1600" dirty="0" smtClean="0">
                <a:latin typeface="Arial" panose="020B0604020202020204" pitchFamily="34" charset="0"/>
                <a:cs typeface="Arial" panose="020B0604020202020204" pitchFamily="34" charset="0"/>
              </a:rPr>
              <a:t>:</a:t>
            </a:r>
          </a:p>
          <a:p>
            <a:pPr marL="742950" lvl="1" indent="-285750">
              <a:buFont typeface="Arial" panose="020B0604020202020204" pitchFamily="34" charset="0"/>
              <a:buChar char="•"/>
            </a:pPr>
            <a:r>
              <a:rPr lang="en-IN" sz="1600" dirty="0">
                <a:latin typeface="Arial" panose="020B0604020202020204" pitchFamily="34" charset="0"/>
                <a:cs typeface="Arial" panose="020B0604020202020204" pitchFamily="34" charset="0"/>
              </a:rPr>
              <a:t>Tool discovery </a:t>
            </a:r>
            <a:r>
              <a:rPr lang="en-IN" sz="1600" dirty="0" smtClean="0">
                <a:latin typeface="Arial" panose="020B0604020202020204" pitchFamily="34" charset="0"/>
                <a:cs typeface="Arial" panose="020B0604020202020204" pitchFamily="34" charset="0"/>
              </a:rPr>
              <a:t>- </a:t>
            </a:r>
            <a:r>
              <a:rPr lang="en-IN" sz="1600" dirty="0">
                <a:latin typeface="Arial" panose="020B0604020202020204" pitchFamily="34" charset="0"/>
                <a:cs typeface="Arial" panose="020B0604020202020204" pitchFamily="34" charset="0"/>
              </a:rPr>
              <a:t>What tools are available</a:t>
            </a:r>
            <a:r>
              <a:rPr lang="en-IN" sz="1600" dirty="0" smtClean="0">
                <a:latin typeface="Arial" panose="020B0604020202020204" pitchFamily="34" charset="0"/>
                <a:cs typeface="Arial" panose="020B0604020202020204" pitchFamily="34" charset="0"/>
              </a:rPr>
              <a:t>?</a:t>
            </a:r>
          </a:p>
          <a:p>
            <a:pPr marL="742950" lvl="1" indent="-285750">
              <a:buFont typeface="Arial" panose="020B0604020202020204" pitchFamily="34" charset="0"/>
              <a:buChar char="•"/>
            </a:pPr>
            <a:r>
              <a:rPr lang="en-IN" sz="1600" dirty="0" smtClean="0">
                <a:latin typeface="Arial" panose="020B0604020202020204" pitchFamily="34" charset="0"/>
                <a:cs typeface="Arial" panose="020B0604020202020204" pitchFamily="34" charset="0"/>
              </a:rPr>
              <a:t>Tool Input schema  </a:t>
            </a:r>
          </a:p>
          <a:p>
            <a:pPr marL="742950" lvl="1" indent="-285750">
              <a:buFont typeface="Arial" panose="020B0604020202020204" pitchFamily="34" charset="0"/>
              <a:buChar char="•"/>
            </a:pPr>
            <a:r>
              <a:rPr lang="en-IN" sz="1600" dirty="0" smtClean="0">
                <a:latin typeface="Arial" panose="020B0604020202020204" pitchFamily="34" charset="0"/>
                <a:cs typeface="Arial" panose="020B0604020202020204" pitchFamily="34" charset="0"/>
              </a:rPr>
              <a:t>Tool Output format - </a:t>
            </a:r>
            <a:r>
              <a:rPr lang="en-US" sz="1600" dirty="0">
                <a:latin typeface="Arial" panose="020B0604020202020204" pitchFamily="34" charset="0"/>
                <a:cs typeface="Arial" panose="020B0604020202020204" pitchFamily="34" charset="0"/>
              </a:rPr>
              <a:t>Structured responses returned to the model.</a:t>
            </a:r>
            <a:endParaRPr lang="en-IN" sz="1600" dirty="0" smtClean="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p:txBody>
      </p:sp>
      <p:sp>
        <p:nvSpPr>
          <p:cNvPr id="12" name="Rectangle 11"/>
          <p:cNvSpPr/>
          <p:nvPr/>
        </p:nvSpPr>
        <p:spPr>
          <a:xfrm>
            <a:off x="7983682" y="1110231"/>
            <a:ext cx="3627293" cy="1815882"/>
          </a:xfrm>
          <a:prstGeom prst="rect">
            <a:avLst/>
          </a:prstGeom>
        </p:spPr>
        <p:txBody>
          <a:bodyPr wrap="square">
            <a:spAutoFit/>
          </a:bodyPr>
          <a:lstStyle/>
          <a:p>
            <a:r>
              <a:rPr lang="en-US" sz="1400" b="1" dirty="0" err="1" smtClean="0">
                <a:latin typeface="Arial" panose="020B0604020202020204" pitchFamily="34" charset="0"/>
                <a:cs typeface="Arial" panose="020B0604020202020204" pitchFamily="34" charset="0"/>
              </a:rPr>
              <a:t>Git</a:t>
            </a:r>
            <a:r>
              <a:rPr lang="en-US" sz="1400" b="1" dirty="0" smtClean="0">
                <a:latin typeface="Arial" panose="020B0604020202020204" pitchFamily="34" charset="0"/>
                <a:cs typeface="Arial" panose="020B0604020202020204" pitchFamily="34" charset="0"/>
              </a:rPr>
              <a:t> Repo output</a:t>
            </a:r>
          </a:p>
          <a:p>
            <a:r>
              <a:rPr lang="en-US" sz="1400" dirty="0" smtClean="0">
                <a:latin typeface="Arial" panose="020B0604020202020204" pitchFamily="34" charset="0"/>
                <a:cs typeface="Arial" panose="020B0604020202020204" pitchFamily="34" charset="0"/>
              </a:rPr>
              <a:t>{</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tool_name</a:t>
            </a:r>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get_repo_info</a:t>
            </a:r>
            <a:r>
              <a:rPr lang="en-US" sz="1400" dirty="0">
                <a:latin typeface="Arial" panose="020B0604020202020204" pitchFamily="34" charset="0"/>
                <a:cs typeface="Arial" panose="020B0604020202020204" pitchFamily="34" charset="0"/>
              </a:rPr>
              <a:t>",</a:t>
            </a:r>
          </a:p>
          <a:p>
            <a:r>
              <a:rPr lang="en-US" sz="1400" dirty="0">
                <a:latin typeface="Arial" panose="020B0604020202020204" pitchFamily="34" charset="0"/>
                <a:cs typeface="Arial" panose="020B0604020202020204" pitchFamily="34" charset="0"/>
              </a:rPr>
              <a:t>  "result": {</a:t>
            </a:r>
          </a:p>
          <a:p>
            <a:r>
              <a:rPr lang="en-US" sz="1400" dirty="0">
                <a:latin typeface="Arial" panose="020B0604020202020204" pitchFamily="34" charset="0"/>
                <a:cs typeface="Arial" panose="020B0604020202020204" pitchFamily="34" charset="0"/>
              </a:rPr>
              <a:t>    "name": "</a:t>
            </a:r>
            <a:r>
              <a:rPr lang="en-US" sz="1400" dirty="0" err="1">
                <a:latin typeface="Arial" panose="020B0604020202020204" pitchFamily="34" charset="0"/>
                <a:cs typeface="Arial" panose="020B0604020202020204" pitchFamily="34" charset="0"/>
              </a:rPr>
              <a:t>langgraph</a:t>
            </a:r>
            <a:r>
              <a:rPr lang="en-US" sz="1400" dirty="0">
                <a:latin typeface="Arial" panose="020B0604020202020204" pitchFamily="34" charset="0"/>
                <a:cs typeface="Arial" panose="020B0604020202020204" pitchFamily="34" charset="0"/>
              </a:rPr>
              <a:t>",</a:t>
            </a:r>
          </a:p>
          <a:p>
            <a:r>
              <a:rPr lang="en-US" sz="1400" dirty="0">
                <a:latin typeface="Arial" panose="020B0604020202020204" pitchFamily="34" charset="0"/>
                <a:cs typeface="Arial" panose="020B0604020202020204" pitchFamily="34" charset="0"/>
              </a:rPr>
              <a:t>    "stars": 12000</a:t>
            </a:r>
          </a:p>
          <a:p>
            <a:r>
              <a:rPr lang="en-US" sz="1400" dirty="0">
                <a:latin typeface="Arial" panose="020B0604020202020204" pitchFamily="34" charset="0"/>
                <a:cs typeface="Arial" panose="020B0604020202020204" pitchFamily="34" charset="0"/>
              </a:rPr>
              <a:t>  }</a:t>
            </a:r>
          </a:p>
          <a:p>
            <a:r>
              <a:rPr lang="en-US" sz="1400" dirty="0">
                <a:latin typeface="Arial" panose="020B0604020202020204" pitchFamily="34" charset="0"/>
                <a:cs typeface="Arial" panose="020B0604020202020204" pitchFamily="34" charset="0"/>
              </a:rPr>
              <a:t>}</a:t>
            </a:r>
            <a:endParaRPr lang="en-IN" sz="1400" dirty="0">
              <a:latin typeface="Arial" panose="020B0604020202020204" pitchFamily="34" charset="0"/>
              <a:cs typeface="Arial" panose="020B0604020202020204" pitchFamily="34" charset="0"/>
            </a:endParaRPr>
          </a:p>
        </p:txBody>
      </p:sp>
      <p:sp>
        <p:nvSpPr>
          <p:cNvPr id="13" name="Rectangle 12"/>
          <p:cNvSpPr/>
          <p:nvPr/>
        </p:nvSpPr>
        <p:spPr>
          <a:xfrm>
            <a:off x="7983682" y="3282732"/>
            <a:ext cx="3851563" cy="1815882"/>
          </a:xfrm>
          <a:prstGeom prst="rect">
            <a:avLst/>
          </a:prstGeom>
        </p:spPr>
        <p:txBody>
          <a:bodyPr wrap="square">
            <a:spAutoFit/>
          </a:bodyPr>
          <a:lstStyle/>
          <a:p>
            <a:r>
              <a:rPr lang="en-IN" sz="1400" b="1" dirty="0" smtClean="0">
                <a:latin typeface="Arial" panose="020B0604020202020204" pitchFamily="34" charset="0"/>
                <a:cs typeface="Arial" panose="020B0604020202020204" pitchFamily="34" charset="0"/>
              </a:rPr>
              <a:t>Slack output</a:t>
            </a:r>
          </a:p>
          <a:p>
            <a:r>
              <a:rPr lang="en-IN" sz="1400" dirty="0" smtClean="0">
                <a:latin typeface="Arial" panose="020B0604020202020204" pitchFamily="34" charset="0"/>
                <a:cs typeface="Arial" panose="020B0604020202020204" pitchFamily="34" charset="0"/>
              </a:rPr>
              <a:t>{</a:t>
            </a:r>
            <a:endParaRPr lang="en-IN" sz="1400" dirty="0">
              <a:latin typeface="Arial" panose="020B0604020202020204" pitchFamily="34" charset="0"/>
              <a:cs typeface="Arial" panose="020B0604020202020204" pitchFamily="34" charset="0"/>
            </a:endParaRPr>
          </a:p>
          <a:p>
            <a:r>
              <a:rPr lang="en-IN" sz="1400" dirty="0">
                <a:latin typeface="Arial" panose="020B0604020202020204" pitchFamily="34" charset="0"/>
                <a:cs typeface="Arial" panose="020B0604020202020204" pitchFamily="34" charset="0"/>
              </a:rPr>
              <a:t>  "</a:t>
            </a:r>
            <a:r>
              <a:rPr lang="en-IN" sz="1400" dirty="0" err="1">
                <a:latin typeface="Arial" panose="020B0604020202020204" pitchFamily="34" charset="0"/>
                <a:cs typeface="Arial" panose="020B0604020202020204" pitchFamily="34" charset="0"/>
              </a:rPr>
              <a:t>tool_name</a:t>
            </a:r>
            <a:r>
              <a:rPr lang="en-IN" sz="1400" dirty="0">
                <a:latin typeface="Arial" panose="020B0604020202020204" pitchFamily="34" charset="0"/>
                <a:cs typeface="Arial" panose="020B0604020202020204" pitchFamily="34" charset="0"/>
              </a:rPr>
              <a:t>": "</a:t>
            </a:r>
            <a:r>
              <a:rPr lang="en-IN" sz="1400" dirty="0" err="1">
                <a:latin typeface="Arial" panose="020B0604020202020204" pitchFamily="34" charset="0"/>
                <a:cs typeface="Arial" panose="020B0604020202020204" pitchFamily="34" charset="0"/>
              </a:rPr>
              <a:t>get_slack_messages</a:t>
            </a:r>
            <a:r>
              <a:rPr lang="en-IN" sz="1400" dirty="0">
                <a:latin typeface="Arial" panose="020B0604020202020204" pitchFamily="34" charset="0"/>
                <a:cs typeface="Arial" panose="020B0604020202020204" pitchFamily="34" charset="0"/>
              </a:rPr>
              <a:t>",</a:t>
            </a:r>
          </a:p>
          <a:p>
            <a:r>
              <a:rPr lang="en-IN" sz="1400" dirty="0">
                <a:latin typeface="Arial" panose="020B0604020202020204" pitchFamily="34" charset="0"/>
                <a:cs typeface="Arial" panose="020B0604020202020204" pitchFamily="34" charset="0"/>
              </a:rPr>
              <a:t>  "result": {</a:t>
            </a:r>
          </a:p>
          <a:p>
            <a:r>
              <a:rPr lang="en-IN" sz="1400" dirty="0">
                <a:latin typeface="Arial" panose="020B0604020202020204" pitchFamily="34" charset="0"/>
                <a:cs typeface="Arial" panose="020B0604020202020204" pitchFamily="34" charset="0"/>
              </a:rPr>
              <a:t>    "channel": "general",</a:t>
            </a:r>
          </a:p>
          <a:p>
            <a:r>
              <a:rPr lang="en-IN" sz="1400" dirty="0">
                <a:latin typeface="Arial" panose="020B0604020202020204" pitchFamily="34" charset="0"/>
                <a:cs typeface="Arial" panose="020B0604020202020204" pitchFamily="34" charset="0"/>
              </a:rPr>
              <a:t>    "count": 45</a:t>
            </a:r>
          </a:p>
          <a:p>
            <a:r>
              <a:rPr lang="en-IN" sz="1400" dirty="0">
                <a:latin typeface="Arial" panose="020B0604020202020204" pitchFamily="34" charset="0"/>
                <a:cs typeface="Arial" panose="020B0604020202020204" pitchFamily="34" charset="0"/>
              </a:rPr>
              <a:t>  }</a:t>
            </a:r>
          </a:p>
          <a:p>
            <a:r>
              <a:rPr lang="en-IN" sz="14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58287785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rmAutofit/>
          </a:bodyPr>
          <a:lstStyle/>
          <a:p>
            <a:pPr algn="ctr" fontAlgn="base"/>
            <a:r>
              <a:rPr lang="en-IN" sz="3200" b="1" dirty="0" smtClean="0">
                <a:latin typeface="Arial" panose="020B0604020202020204" pitchFamily="34" charset="0"/>
                <a:cs typeface="Arial" panose="020B0604020202020204" pitchFamily="34" charset="0"/>
              </a:rPr>
              <a:t>MCP Architecture</a:t>
            </a:r>
            <a:endParaRPr lang="en-IN" sz="3200" b="1" dirty="0">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7132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base"/>
            <a:endParaRPr lang="en-IN" sz="14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5"/>
          <p:cNvSpPr/>
          <p:nvPr/>
        </p:nvSpPr>
        <p:spPr>
          <a:xfrm>
            <a:off x="1034560" y="1013516"/>
            <a:ext cx="10358473" cy="1384995"/>
          </a:xfrm>
          <a:prstGeom prst="rect">
            <a:avLst/>
          </a:prstGeom>
        </p:spPr>
        <p:txBody>
          <a:bodyPr wrap="square">
            <a:spAutoFit/>
          </a:bodyPr>
          <a:lstStyle/>
          <a:p>
            <a:r>
              <a:rPr lang="en-US" sz="1400" dirty="0">
                <a:latin typeface="Arial" panose="020B0604020202020204" pitchFamily="34" charset="0"/>
                <a:cs typeface="Arial" panose="020B0604020202020204" pitchFamily="34" charset="0"/>
              </a:rPr>
              <a:t>The key participants in the MCP architecture are</a:t>
            </a:r>
            <a:r>
              <a:rPr lang="en-US" sz="1400" dirty="0" smtClean="0">
                <a:latin typeface="Arial" panose="020B0604020202020204" pitchFamily="34" charset="0"/>
                <a:cs typeface="Arial" panose="020B0604020202020204" pitchFamily="34" charset="0"/>
              </a:rPr>
              <a:t>:</a:t>
            </a:r>
          </a:p>
          <a:p>
            <a:endParaRPr lang="en-US" sz="1400" b="1"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b="1" dirty="0" smtClean="0">
                <a:latin typeface="Arial" panose="020B0604020202020204" pitchFamily="34" charset="0"/>
                <a:cs typeface="Arial" panose="020B0604020202020204" pitchFamily="34" charset="0"/>
              </a:rPr>
              <a:t>MCP </a:t>
            </a:r>
            <a:r>
              <a:rPr lang="en-US" sz="1400" b="1" dirty="0">
                <a:latin typeface="Arial" panose="020B0604020202020204" pitchFamily="34" charset="0"/>
                <a:cs typeface="Arial" panose="020B0604020202020204" pitchFamily="34" charset="0"/>
              </a:rPr>
              <a:t>Host</a:t>
            </a:r>
            <a:r>
              <a:rPr lang="en-US" sz="1400" dirty="0">
                <a:latin typeface="Arial" panose="020B0604020202020204" pitchFamily="34" charset="0"/>
                <a:cs typeface="Arial" panose="020B0604020202020204" pitchFamily="34" charset="0"/>
              </a:rPr>
              <a:t>: The AI application that coordinates and manages one or multiple MCP clients</a:t>
            </a: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MCP Client</a:t>
            </a:r>
            <a:r>
              <a:rPr lang="en-US" sz="1400" dirty="0">
                <a:latin typeface="Arial" panose="020B0604020202020204" pitchFamily="34" charset="0"/>
                <a:cs typeface="Arial" panose="020B0604020202020204" pitchFamily="34" charset="0"/>
              </a:rPr>
              <a:t>: A component that maintains a connection to an MCP server and obtains context from an MCP server for the MCP host to use</a:t>
            </a: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MCP Server</a:t>
            </a:r>
            <a:r>
              <a:rPr lang="en-US" sz="1400" dirty="0">
                <a:latin typeface="Arial" panose="020B0604020202020204" pitchFamily="34" charset="0"/>
                <a:cs typeface="Arial" panose="020B0604020202020204" pitchFamily="34" charset="0"/>
              </a:rPr>
              <a:t>: A program that provides context to MCP clients</a:t>
            </a:r>
          </a:p>
        </p:txBody>
      </p:sp>
      <p:pic>
        <p:nvPicPr>
          <p:cNvPr id="8" name="Picture 7"/>
          <p:cNvPicPr>
            <a:picLocks noChangeAspect="1"/>
          </p:cNvPicPr>
          <p:nvPr/>
        </p:nvPicPr>
        <p:blipFill>
          <a:blip r:embed="rId2"/>
          <a:stretch>
            <a:fillRect/>
          </a:stretch>
        </p:blipFill>
        <p:spPr>
          <a:xfrm>
            <a:off x="6213796" y="3159760"/>
            <a:ext cx="5552223" cy="2758245"/>
          </a:xfrm>
          <a:prstGeom prst="rect">
            <a:avLst/>
          </a:prstGeom>
        </p:spPr>
      </p:pic>
      <p:pic>
        <p:nvPicPr>
          <p:cNvPr id="3" name="Picture 2"/>
          <p:cNvPicPr>
            <a:picLocks noChangeAspect="1"/>
          </p:cNvPicPr>
          <p:nvPr/>
        </p:nvPicPr>
        <p:blipFill>
          <a:blip r:embed="rId3"/>
          <a:stretch>
            <a:fillRect/>
          </a:stretch>
        </p:blipFill>
        <p:spPr>
          <a:xfrm>
            <a:off x="537029" y="3159760"/>
            <a:ext cx="5304971" cy="2986979"/>
          </a:xfrm>
          <a:prstGeom prst="rect">
            <a:avLst/>
          </a:prstGeom>
        </p:spPr>
      </p:pic>
    </p:spTree>
    <p:extLst>
      <p:ext uri="{BB962C8B-B14F-4D97-AF65-F5344CB8AC3E}">
        <p14:creationId xmlns:p14="http://schemas.microsoft.com/office/powerpoint/2010/main" val="289780020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rmAutofit/>
          </a:bodyPr>
          <a:lstStyle/>
          <a:p>
            <a:pPr algn="ctr" fontAlgn="base"/>
            <a:r>
              <a:rPr lang="en-IN" sz="3200" b="1" dirty="0" smtClean="0">
                <a:latin typeface="Arial" panose="020B0604020202020204" pitchFamily="34" charset="0"/>
                <a:cs typeface="Arial" panose="020B0604020202020204" pitchFamily="34" charset="0"/>
              </a:rPr>
              <a:t>MCP Components</a:t>
            </a:r>
            <a:endParaRPr lang="en-IN" sz="3200" b="1" dirty="0">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7132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base"/>
            <a:endParaRPr lang="en-IN" sz="14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5"/>
          <p:cNvSpPr/>
          <p:nvPr/>
        </p:nvSpPr>
        <p:spPr>
          <a:xfrm>
            <a:off x="863600" y="1013516"/>
            <a:ext cx="10529433" cy="646331"/>
          </a:xfrm>
          <a:prstGeom prst="rect">
            <a:avLst/>
          </a:prstGeom>
        </p:spPr>
        <p:txBody>
          <a:bodyPr wrap="square">
            <a:spAutoFit/>
          </a:bodyPr>
          <a:lstStyle/>
          <a:p>
            <a:pPr lvl="0" eaLnBrk="0" fontAlgn="base" hangingPunct="0">
              <a:spcBef>
                <a:spcPct val="0"/>
              </a:spcBef>
              <a:spcAft>
                <a:spcPct val="0"/>
              </a:spcAft>
            </a:pPr>
            <a:r>
              <a:rPr lang="en-US" dirty="0">
                <a:latin typeface="Arial" panose="020B0604020202020204" pitchFamily="34" charset="0"/>
                <a:cs typeface="Arial" panose="020B0604020202020204" pitchFamily="34" charset="0"/>
              </a:rPr>
              <a:t>MCP (Model Context Protocol) is an open-source standard for connecting AI applications to external systems.</a:t>
            </a:r>
            <a:endParaRPr lang="en-IN" dirty="0">
              <a:latin typeface="Arial" panose="020B0604020202020204" pitchFamily="34" charset="0"/>
              <a:cs typeface="Arial" panose="020B0604020202020204" pitchFamily="34" charset="0"/>
            </a:endParaRPr>
          </a:p>
        </p:txBody>
      </p:sp>
      <p:pic>
        <p:nvPicPr>
          <p:cNvPr id="3" name="Picture 2"/>
          <p:cNvPicPr>
            <a:picLocks noChangeAspect="1"/>
          </p:cNvPicPr>
          <p:nvPr/>
        </p:nvPicPr>
        <p:blipFill>
          <a:blip r:embed="rId2"/>
          <a:stretch>
            <a:fillRect/>
          </a:stretch>
        </p:blipFill>
        <p:spPr>
          <a:xfrm>
            <a:off x="6254436" y="2016201"/>
            <a:ext cx="5670961" cy="3736104"/>
          </a:xfrm>
          <a:prstGeom prst="rect">
            <a:avLst/>
          </a:prstGeom>
        </p:spPr>
      </p:pic>
      <p:pic>
        <p:nvPicPr>
          <p:cNvPr id="2050" name="Picture 2" descr="How to Build an MCP Server (Step-by-Step Guide) 2026"/>
          <p:cNvPicPr>
            <a:picLocks noChangeAspect="1" noChangeArrowheads="1"/>
          </p:cNvPicPr>
          <p:nvPr/>
        </p:nvPicPr>
        <p:blipFill>
          <a:blip r:embed="rId3" cstate="hqprint">
            <a:extLst>
              <a:ext uri="{28A0092B-C50C-407E-A947-70E740481C1C}">
                <a14:useLocalDpi xmlns:a14="http://schemas.microsoft.com/office/drawing/2010/main" val="0"/>
              </a:ext>
            </a:extLst>
          </a:blip>
          <a:srcRect/>
          <a:stretch>
            <a:fillRect/>
          </a:stretch>
        </p:blipFill>
        <p:spPr bwMode="auto">
          <a:xfrm>
            <a:off x="245517" y="1919751"/>
            <a:ext cx="5662964" cy="40644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4253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rmAutofit/>
          </a:bodyPr>
          <a:lstStyle/>
          <a:p>
            <a:pPr algn="ctr" fontAlgn="base"/>
            <a:r>
              <a:rPr lang="en-IN" sz="3200" b="1" dirty="0" smtClean="0">
                <a:latin typeface="Arial" panose="020B0604020202020204" pitchFamily="34" charset="0"/>
                <a:cs typeface="Arial" panose="020B0604020202020204" pitchFamily="34" charset="0"/>
              </a:rPr>
              <a:t>MCP Flow</a:t>
            </a:r>
            <a:endParaRPr lang="en-IN" sz="3200" b="1" dirty="0">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7132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base"/>
            <a:endParaRPr lang="en-IN" sz="14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3074" name="Picture 2" descr="Sequence diagram showing how MCP handles a user request. The user asks Claude &quot;What's the weather in San Francisco?&quot; Claude recognizes the need for external data and requests to use MCP capability. The MCP client displays a permission request, the user grants permission, and the client sends the request to the MCP server. The server queries the external system, returns formatted results, and Claude responds with the contextual answ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44880"/>
            <a:ext cx="12009119" cy="5222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4477153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rmAutofit/>
          </a:bodyPr>
          <a:lstStyle/>
          <a:p>
            <a:pPr algn="ctr" fontAlgn="base"/>
            <a:r>
              <a:rPr lang="en-IN" sz="3200" b="1" dirty="0" smtClean="0">
                <a:latin typeface="Arial" panose="020B0604020202020204" pitchFamily="34" charset="0"/>
                <a:cs typeface="Arial" panose="020B0604020202020204" pitchFamily="34" charset="0"/>
              </a:rPr>
              <a:t>MCP Host</a:t>
            </a:r>
            <a:endParaRPr lang="en-IN" sz="3200" b="1" dirty="0">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7132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base"/>
            <a:endParaRPr lang="en-IN" sz="14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5"/>
          <p:cNvSpPr/>
          <p:nvPr/>
        </p:nvSpPr>
        <p:spPr>
          <a:xfrm>
            <a:off x="1034560" y="1013516"/>
            <a:ext cx="4188071" cy="4616648"/>
          </a:xfrm>
          <a:prstGeom prst="rect">
            <a:avLst/>
          </a:prstGeom>
        </p:spPr>
        <p:txBody>
          <a:bodyPr wrap="square">
            <a:spAutoFit/>
          </a:bodyPr>
          <a:lstStyle/>
          <a:p>
            <a:r>
              <a:rPr lang="en-IN" sz="1400" b="1" dirty="0">
                <a:latin typeface="Arial" panose="020B0604020202020204" pitchFamily="34" charset="0"/>
                <a:cs typeface="Arial" panose="020B0604020202020204" pitchFamily="34" charset="0"/>
              </a:rPr>
              <a:t>MCP Host (Coordinator / Brain)</a:t>
            </a:r>
          </a:p>
          <a:p>
            <a:endParaRPr lang="en-IN" sz="1400" b="1" dirty="0" smtClean="0">
              <a:latin typeface="Arial" panose="020B0604020202020204" pitchFamily="34" charset="0"/>
              <a:cs typeface="Arial" panose="020B0604020202020204" pitchFamily="34" charset="0"/>
            </a:endParaRPr>
          </a:p>
          <a:p>
            <a:r>
              <a:rPr lang="en-IN" sz="1400" b="1" dirty="0" smtClean="0">
                <a:latin typeface="Arial" panose="020B0604020202020204" pitchFamily="34" charset="0"/>
                <a:cs typeface="Arial" panose="020B0604020202020204" pitchFamily="34" charset="0"/>
              </a:rPr>
              <a:t>What </a:t>
            </a:r>
            <a:r>
              <a:rPr lang="en-IN" sz="1400" b="1" dirty="0">
                <a:latin typeface="Arial" panose="020B0604020202020204" pitchFamily="34" charset="0"/>
                <a:cs typeface="Arial" panose="020B0604020202020204" pitchFamily="34" charset="0"/>
              </a:rPr>
              <a:t>it is:</a:t>
            </a:r>
            <a:r>
              <a:rPr lang="en-IN" sz="1400" dirty="0">
                <a:latin typeface="Arial" panose="020B0604020202020204" pitchFamily="34" charset="0"/>
                <a:cs typeface="Arial" panose="020B0604020202020204" pitchFamily="34" charset="0"/>
              </a:rPr>
              <a:t/>
            </a:r>
            <a:br>
              <a:rPr lang="en-IN" sz="1400" dirty="0">
                <a:latin typeface="Arial" panose="020B0604020202020204" pitchFamily="34" charset="0"/>
                <a:cs typeface="Arial" panose="020B0604020202020204" pitchFamily="34" charset="0"/>
              </a:rPr>
            </a:br>
            <a:r>
              <a:rPr lang="en-IN" sz="1400" dirty="0">
                <a:latin typeface="Arial" panose="020B0604020202020204" pitchFamily="34" charset="0"/>
                <a:cs typeface="Arial" panose="020B0604020202020204" pitchFamily="34" charset="0"/>
              </a:rPr>
              <a:t>The AI application that:</a:t>
            </a:r>
          </a:p>
          <a:p>
            <a:pPr marL="742950" lvl="1" indent="-285750">
              <a:buFont typeface="Arial" panose="020B0604020202020204" pitchFamily="34" charset="0"/>
              <a:buChar char="•"/>
            </a:pPr>
            <a:r>
              <a:rPr lang="en-IN" sz="1400" dirty="0">
                <a:latin typeface="Arial" panose="020B0604020202020204" pitchFamily="34" charset="0"/>
                <a:cs typeface="Arial" panose="020B0604020202020204" pitchFamily="34" charset="0"/>
              </a:rPr>
              <a:t>Runs the LLM</a:t>
            </a:r>
          </a:p>
          <a:p>
            <a:pPr marL="742950" lvl="1" indent="-285750">
              <a:buFont typeface="Arial" panose="020B0604020202020204" pitchFamily="34" charset="0"/>
              <a:buChar char="•"/>
            </a:pPr>
            <a:r>
              <a:rPr lang="en-IN" sz="1400" dirty="0">
                <a:latin typeface="Arial" panose="020B0604020202020204" pitchFamily="34" charset="0"/>
                <a:cs typeface="Arial" panose="020B0604020202020204" pitchFamily="34" charset="0"/>
              </a:rPr>
              <a:t>Decides </a:t>
            </a:r>
            <a:r>
              <a:rPr lang="en-IN" sz="1400" i="1" dirty="0">
                <a:latin typeface="Arial" panose="020B0604020202020204" pitchFamily="34" charset="0"/>
                <a:cs typeface="Arial" panose="020B0604020202020204" pitchFamily="34" charset="0"/>
              </a:rPr>
              <a:t>when</a:t>
            </a:r>
            <a:r>
              <a:rPr lang="en-IN" sz="1400" dirty="0">
                <a:latin typeface="Arial" panose="020B0604020202020204" pitchFamily="34" charset="0"/>
                <a:cs typeface="Arial" panose="020B0604020202020204" pitchFamily="34" charset="0"/>
              </a:rPr>
              <a:t> to call MCP clients</a:t>
            </a:r>
          </a:p>
          <a:p>
            <a:pPr marL="742950" lvl="1" indent="-285750">
              <a:buFont typeface="Arial" panose="020B0604020202020204" pitchFamily="34" charset="0"/>
              <a:buChar char="•"/>
            </a:pPr>
            <a:r>
              <a:rPr lang="en-IN" sz="1400" dirty="0">
                <a:latin typeface="Arial" panose="020B0604020202020204" pitchFamily="34" charset="0"/>
                <a:cs typeface="Arial" panose="020B0604020202020204" pitchFamily="34" charset="0"/>
              </a:rPr>
              <a:t>Injects retrieved context into the prompt</a:t>
            </a:r>
          </a:p>
          <a:p>
            <a:r>
              <a:rPr lang="en-IN" sz="1400" b="1" dirty="0">
                <a:latin typeface="Arial" panose="020B0604020202020204" pitchFamily="34" charset="0"/>
                <a:cs typeface="Arial" panose="020B0604020202020204" pitchFamily="34" charset="0"/>
              </a:rPr>
              <a:t>Example:</a:t>
            </a:r>
            <a:endParaRPr lang="en-IN"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sz="1400" dirty="0" err="1">
                <a:latin typeface="Arial" panose="020B0604020202020204" pitchFamily="34" charset="0"/>
                <a:cs typeface="Arial" panose="020B0604020202020204" pitchFamily="34" charset="0"/>
              </a:rPr>
              <a:t>ChatGPT</a:t>
            </a:r>
            <a:r>
              <a:rPr lang="en-IN" sz="1400" dirty="0">
                <a:latin typeface="Arial" panose="020B0604020202020204" pitchFamily="34" charset="0"/>
                <a:cs typeface="Arial" panose="020B0604020202020204" pitchFamily="34" charset="0"/>
              </a:rPr>
              <a:t> Desktop</a:t>
            </a:r>
          </a:p>
          <a:p>
            <a:pPr marL="285750" indent="-285750">
              <a:buFont typeface="Arial" panose="020B0604020202020204" pitchFamily="34" charset="0"/>
              <a:buChar char="•"/>
            </a:pPr>
            <a:r>
              <a:rPr lang="en-IN" sz="1400" dirty="0">
                <a:latin typeface="Arial" panose="020B0604020202020204" pitchFamily="34" charset="0"/>
                <a:cs typeface="Arial" panose="020B0604020202020204" pitchFamily="34" charset="0"/>
              </a:rPr>
              <a:t>Claude Desktop</a:t>
            </a:r>
          </a:p>
          <a:p>
            <a:pPr marL="285750" indent="-285750">
              <a:buFont typeface="Arial" panose="020B0604020202020204" pitchFamily="34" charset="0"/>
              <a:buChar char="•"/>
            </a:pPr>
            <a:r>
              <a:rPr lang="en-IN" sz="1400" dirty="0">
                <a:latin typeface="Arial" panose="020B0604020202020204" pitchFamily="34" charset="0"/>
                <a:cs typeface="Arial" panose="020B0604020202020204" pitchFamily="34" charset="0"/>
              </a:rPr>
              <a:t>Custom AI app built with </a:t>
            </a:r>
            <a:r>
              <a:rPr lang="en-IN" sz="1400" dirty="0" err="1">
                <a:latin typeface="Arial" panose="020B0604020202020204" pitchFamily="34" charset="0"/>
                <a:cs typeface="Arial" panose="020B0604020202020204" pitchFamily="34" charset="0"/>
              </a:rPr>
              <a:t>LangChain</a:t>
            </a:r>
            <a:r>
              <a:rPr lang="en-IN" sz="1400" dirty="0">
                <a:latin typeface="Arial" panose="020B0604020202020204" pitchFamily="34" charset="0"/>
                <a:cs typeface="Arial" panose="020B0604020202020204" pitchFamily="34" charset="0"/>
              </a:rPr>
              <a:t> / </a:t>
            </a:r>
            <a:r>
              <a:rPr lang="en-IN" sz="1400" dirty="0" err="1">
                <a:latin typeface="Arial" panose="020B0604020202020204" pitchFamily="34" charset="0"/>
                <a:cs typeface="Arial" panose="020B0604020202020204" pitchFamily="34" charset="0"/>
              </a:rPr>
              <a:t>LangGraph</a:t>
            </a:r>
            <a:endParaRPr lang="en-IN" sz="1400" dirty="0">
              <a:latin typeface="Arial" panose="020B0604020202020204" pitchFamily="34" charset="0"/>
              <a:cs typeface="Arial" panose="020B0604020202020204" pitchFamily="34" charset="0"/>
            </a:endParaRPr>
          </a:p>
          <a:p>
            <a:endParaRPr lang="en-US" sz="1400" dirty="0" smtClean="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MCP Host</a:t>
            </a:r>
          </a:p>
          <a:p>
            <a:pPr marL="285750" indent="-285750">
              <a:buFont typeface="Arial" panose="020B0604020202020204" pitchFamily="34" charset="0"/>
              <a:buChar char="•"/>
            </a:pPr>
            <a:r>
              <a:rPr lang="en-US" sz="1400" dirty="0" smtClean="0">
                <a:latin typeface="Arial" panose="020B0604020202020204" pitchFamily="34" charset="0"/>
                <a:cs typeface="Arial" panose="020B0604020202020204" pitchFamily="34" charset="0"/>
              </a:rPr>
              <a:t>User </a:t>
            </a:r>
            <a:r>
              <a:rPr lang="en-US" sz="1400" dirty="0">
                <a:latin typeface="Arial" panose="020B0604020202020204" pitchFamily="34" charset="0"/>
                <a:cs typeface="Arial" panose="020B0604020202020204" pitchFamily="34" charset="0"/>
              </a:rPr>
              <a:t>asks: "Summarize my report"</a:t>
            </a:r>
          </a:p>
          <a:p>
            <a:pPr marL="285750" indent="-285750">
              <a:buFont typeface="Arial" panose="020B0604020202020204" pitchFamily="34" charset="0"/>
              <a:buChar char="•"/>
            </a:pPr>
            <a:r>
              <a:rPr lang="en-US" sz="1400" dirty="0" smtClean="0">
                <a:latin typeface="Arial" panose="020B0604020202020204" pitchFamily="34" charset="0"/>
                <a:cs typeface="Arial" panose="020B0604020202020204" pitchFamily="34" charset="0"/>
              </a:rPr>
              <a:t>Decides</a:t>
            </a:r>
            <a:r>
              <a:rPr lang="en-US" sz="1400" dirty="0">
                <a:latin typeface="Arial" panose="020B0604020202020204" pitchFamily="34" charset="0"/>
                <a:cs typeface="Arial" panose="020B0604020202020204" pitchFamily="34" charset="0"/>
              </a:rPr>
              <a:t>: "I need file data"</a:t>
            </a:r>
          </a:p>
          <a:p>
            <a:pPr marL="285750" indent="-285750">
              <a:buFont typeface="Arial" panose="020B0604020202020204" pitchFamily="34" charset="0"/>
              <a:buChar char="•"/>
            </a:pPr>
            <a:r>
              <a:rPr lang="en-US" sz="1400" dirty="0" smtClean="0">
                <a:latin typeface="Arial" panose="020B0604020202020204" pitchFamily="34" charset="0"/>
                <a:cs typeface="Arial" panose="020B0604020202020204" pitchFamily="34" charset="0"/>
              </a:rPr>
              <a:t>Calls </a:t>
            </a:r>
            <a:r>
              <a:rPr lang="en-US" sz="1400" dirty="0">
                <a:latin typeface="Arial" panose="020B0604020202020204" pitchFamily="34" charset="0"/>
                <a:cs typeface="Arial" panose="020B0604020202020204" pitchFamily="34" charset="0"/>
              </a:rPr>
              <a:t>MCP client</a:t>
            </a:r>
          </a:p>
          <a:p>
            <a:pPr marL="285750" indent="-285750">
              <a:buFont typeface="Arial" panose="020B0604020202020204" pitchFamily="34" charset="0"/>
              <a:buChar char="•"/>
            </a:pPr>
            <a:r>
              <a:rPr lang="en-US" sz="1400" dirty="0" smtClean="0">
                <a:latin typeface="Arial" panose="020B0604020202020204" pitchFamily="34" charset="0"/>
                <a:cs typeface="Arial" panose="020B0604020202020204" pitchFamily="34" charset="0"/>
              </a:rPr>
              <a:t>Feeds </a:t>
            </a:r>
            <a:r>
              <a:rPr lang="en-US" sz="1400" dirty="0">
                <a:latin typeface="Arial" panose="020B0604020202020204" pitchFamily="34" charset="0"/>
                <a:cs typeface="Arial" panose="020B0604020202020204" pitchFamily="34" charset="0"/>
              </a:rPr>
              <a:t>file content to LLM</a:t>
            </a:r>
          </a:p>
          <a:p>
            <a:pPr marL="285750" indent="-285750">
              <a:buFont typeface="Arial" panose="020B0604020202020204" pitchFamily="34" charset="0"/>
              <a:buChar char="•"/>
            </a:pPr>
            <a:r>
              <a:rPr lang="en-US" sz="1400" dirty="0" smtClean="0">
                <a:latin typeface="Arial" panose="020B0604020202020204" pitchFamily="34" charset="0"/>
                <a:cs typeface="Arial" panose="020B0604020202020204" pitchFamily="34" charset="0"/>
              </a:rPr>
              <a:t>Produces </a:t>
            </a:r>
            <a:r>
              <a:rPr lang="en-US" sz="1400" dirty="0">
                <a:latin typeface="Arial" panose="020B0604020202020204" pitchFamily="34" charset="0"/>
                <a:cs typeface="Arial" panose="020B0604020202020204" pitchFamily="34" charset="0"/>
              </a:rPr>
              <a:t>final answer</a:t>
            </a:r>
          </a:p>
          <a:p>
            <a:endParaRPr lang="en-US" sz="1400" dirty="0" smtClean="0">
              <a:latin typeface="Arial" panose="020B0604020202020204" pitchFamily="34" charset="0"/>
              <a:cs typeface="Arial" panose="020B0604020202020204" pitchFamily="34" charset="0"/>
            </a:endParaRPr>
          </a:p>
          <a:p>
            <a:endParaRPr lang="en-US" sz="1400" dirty="0">
              <a:latin typeface="Arial" panose="020B0604020202020204" pitchFamily="34" charset="0"/>
              <a:cs typeface="Arial" panose="020B0604020202020204" pitchFamily="34" charset="0"/>
            </a:endParaRPr>
          </a:p>
        </p:txBody>
      </p:sp>
      <p:sp>
        <p:nvSpPr>
          <p:cNvPr id="9" name="Rectangle 8"/>
          <p:cNvSpPr/>
          <p:nvPr/>
        </p:nvSpPr>
        <p:spPr>
          <a:xfrm>
            <a:off x="7218483" y="2215315"/>
            <a:ext cx="4188071" cy="3108543"/>
          </a:xfrm>
          <a:prstGeom prst="rect">
            <a:avLst/>
          </a:prstGeom>
        </p:spPr>
        <p:txBody>
          <a:bodyPr wrap="square">
            <a:spAutoFit/>
          </a:bodyPr>
          <a:lstStyle/>
          <a:p>
            <a:r>
              <a:rPr lang="en-US" sz="1400" dirty="0" smtClean="0">
                <a:latin typeface="Arial" panose="020B0604020202020204" pitchFamily="34" charset="0"/>
                <a:cs typeface="Arial" panose="020B0604020202020204" pitchFamily="34" charset="0"/>
              </a:rPr>
              <a:t>User</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  ↓</a:t>
            </a:r>
          </a:p>
          <a:p>
            <a:r>
              <a:rPr lang="en-US" sz="1400" dirty="0">
                <a:latin typeface="Arial" panose="020B0604020202020204" pitchFamily="34" charset="0"/>
                <a:cs typeface="Arial" panose="020B0604020202020204" pitchFamily="34" charset="0"/>
              </a:rPr>
              <a:t>MCP Host (AI App)</a:t>
            </a:r>
          </a:p>
          <a:p>
            <a:r>
              <a:rPr lang="en-US" sz="1400" dirty="0">
                <a:latin typeface="Arial" panose="020B0604020202020204" pitchFamily="34" charset="0"/>
                <a:cs typeface="Arial" panose="020B0604020202020204" pitchFamily="34" charset="0"/>
              </a:rPr>
              <a:t>  ↓ decides it needs files</a:t>
            </a:r>
          </a:p>
          <a:p>
            <a:r>
              <a:rPr lang="en-US" sz="1400" dirty="0" smtClean="0">
                <a:latin typeface="Arial" panose="020B0604020202020204" pitchFamily="34" charset="0"/>
                <a:cs typeface="Arial" panose="020B0604020202020204" pitchFamily="34" charset="0"/>
              </a:rPr>
              <a:t>MCP </a:t>
            </a:r>
            <a:r>
              <a:rPr lang="en-US" sz="1400" dirty="0">
                <a:latin typeface="Arial" panose="020B0604020202020204" pitchFamily="34" charset="0"/>
                <a:cs typeface="Arial" panose="020B0604020202020204" pitchFamily="34" charset="0"/>
              </a:rPr>
              <a:t>Client</a:t>
            </a:r>
          </a:p>
          <a:p>
            <a:r>
              <a:rPr lang="en-US" sz="1400" dirty="0">
                <a:latin typeface="Arial" panose="020B0604020202020204" pitchFamily="34" charset="0"/>
                <a:cs typeface="Arial" panose="020B0604020202020204" pitchFamily="34" charset="0"/>
              </a:rPr>
              <a:t>  ↓ MCP </a:t>
            </a:r>
            <a:r>
              <a:rPr lang="en-US" sz="1400" dirty="0" smtClean="0">
                <a:latin typeface="Arial" panose="020B0604020202020204" pitchFamily="34" charset="0"/>
                <a:cs typeface="Arial" panose="020B0604020202020204" pitchFamily="34" charset="0"/>
              </a:rPr>
              <a:t>request</a:t>
            </a:r>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MCP Server (</a:t>
            </a:r>
            <a:r>
              <a:rPr lang="en-US" sz="1400" dirty="0" err="1">
                <a:latin typeface="Arial" panose="020B0604020202020204" pitchFamily="34" charset="0"/>
                <a:cs typeface="Arial" panose="020B0604020202020204" pitchFamily="34" charset="0"/>
              </a:rPr>
              <a:t>filesystem</a:t>
            </a:r>
            <a:r>
              <a:rPr lang="en-US" sz="1400" dirty="0">
                <a:latin typeface="Arial" panose="020B0604020202020204" pitchFamily="34" charset="0"/>
                <a:cs typeface="Arial" panose="020B0604020202020204" pitchFamily="34" charset="0"/>
              </a:rPr>
              <a:t>)</a:t>
            </a:r>
          </a:p>
          <a:p>
            <a:r>
              <a:rPr lang="en-US" sz="1400" dirty="0">
                <a:latin typeface="Arial" panose="020B0604020202020204" pitchFamily="34" charset="0"/>
                <a:cs typeface="Arial" panose="020B0604020202020204" pitchFamily="34" charset="0"/>
              </a:rPr>
              <a:t>  ↓ file contents</a:t>
            </a:r>
          </a:p>
          <a:p>
            <a:r>
              <a:rPr lang="en-US" sz="1400" dirty="0">
                <a:latin typeface="Arial" panose="020B0604020202020204" pitchFamily="34" charset="0"/>
                <a:cs typeface="Arial" panose="020B0604020202020204" pitchFamily="34" charset="0"/>
              </a:rPr>
              <a:t>MCP Client</a:t>
            </a:r>
          </a:p>
          <a:p>
            <a:r>
              <a:rPr lang="en-US" sz="1400" dirty="0">
                <a:latin typeface="Arial" panose="020B0604020202020204" pitchFamily="34" charset="0"/>
                <a:cs typeface="Arial" panose="020B0604020202020204" pitchFamily="34" charset="0"/>
              </a:rPr>
              <a:t>  ↓</a:t>
            </a:r>
          </a:p>
          <a:p>
            <a:r>
              <a:rPr lang="en-US" sz="1400" dirty="0">
                <a:latin typeface="Arial" panose="020B0604020202020204" pitchFamily="34" charset="0"/>
                <a:cs typeface="Arial" panose="020B0604020202020204" pitchFamily="34" charset="0"/>
              </a:rPr>
              <a:t>MCP Host</a:t>
            </a:r>
          </a:p>
          <a:p>
            <a:r>
              <a:rPr lang="en-US" sz="1400" dirty="0">
                <a:latin typeface="Arial" panose="020B0604020202020204" pitchFamily="34" charset="0"/>
                <a:cs typeface="Arial" panose="020B0604020202020204" pitchFamily="34" charset="0"/>
              </a:rPr>
              <a:t>  ↓ LLM reasoning</a:t>
            </a:r>
          </a:p>
          <a:p>
            <a:r>
              <a:rPr lang="en-US" sz="1400" dirty="0">
                <a:latin typeface="Arial" panose="020B0604020202020204" pitchFamily="34" charset="0"/>
                <a:cs typeface="Arial" panose="020B0604020202020204" pitchFamily="34" charset="0"/>
              </a:rPr>
              <a:t>Final Answer</a:t>
            </a:r>
          </a:p>
          <a:p>
            <a:endParaRPr lang="en-US" sz="1400" dirty="0">
              <a:latin typeface="Arial" panose="020B0604020202020204" pitchFamily="34" charset="0"/>
              <a:cs typeface="Arial" panose="020B0604020202020204" pitchFamily="34" charset="0"/>
            </a:endParaRPr>
          </a:p>
        </p:txBody>
      </p:sp>
      <p:sp>
        <p:nvSpPr>
          <p:cNvPr id="3" name="Rectangle 2"/>
          <p:cNvSpPr/>
          <p:nvPr/>
        </p:nvSpPr>
        <p:spPr>
          <a:xfrm>
            <a:off x="7065854" y="1819606"/>
            <a:ext cx="2856872" cy="307777"/>
          </a:xfrm>
          <a:prstGeom prst="rect">
            <a:avLst/>
          </a:prstGeom>
        </p:spPr>
        <p:txBody>
          <a:bodyPr wrap="none">
            <a:spAutoFit/>
          </a:bodyPr>
          <a:lstStyle/>
          <a:p>
            <a:r>
              <a:rPr lang="en-US" sz="1400" b="1" dirty="0">
                <a:latin typeface="Arial" panose="020B0604020202020204" pitchFamily="34" charset="0"/>
                <a:cs typeface="Arial" panose="020B0604020202020204" pitchFamily="34" charset="0"/>
              </a:rPr>
              <a:t>End-to-End Flow (Step by Step)</a:t>
            </a:r>
            <a:endParaRPr lang="en-IN" sz="1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5699664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rmAutofit/>
          </a:bodyPr>
          <a:lstStyle/>
          <a:p>
            <a:pPr algn="ctr" fontAlgn="base"/>
            <a:r>
              <a:rPr lang="en-IN" sz="3200" b="1" dirty="0">
                <a:latin typeface="Arial" panose="020B0604020202020204" pitchFamily="34" charset="0"/>
                <a:cs typeface="Arial" panose="020B0604020202020204" pitchFamily="34" charset="0"/>
              </a:rPr>
              <a:t>MCP Client (Connector)</a:t>
            </a: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7132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base"/>
            <a:endParaRPr lang="en-IN" sz="14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5"/>
          <p:cNvSpPr/>
          <p:nvPr/>
        </p:nvSpPr>
        <p:spPr>
          <a:xfrm>
            <a:off x="1052145" y="987139"/>
            <a:ext cx="9226063" cy="3754874"/>
          </a:xfrm>
          <a:prstGeom prst="rect">
            <a:avLst/>
          </a:prstGeom>
        </p:spPr>
        <p:txBody>
          <a:bodyPr wrap="square">
            <a:spAutoFit/>
          </a:bodyPr>
          <a:lstStyle/>
          <a:p>
            <a:pPr lvl="0" eaLnBrk="0" fontAlgn="base" hangingPunct="0">
              <a:spcBef>
                <a:spcPct val="0"/>
              </a:spcBef>
              <a:spcAft>
                <a:spcPct val="0"/>
              </a:spcAft>
            </a:pPr>
            <a:endParaRPr lang="en-US" altLang="en-US" sz="1400" b="1" dirty="0" smtClean="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en-US" altLang="en-US" sz="1400" b="1" dirty="0" smtClean="0">
                <a:latin typeface="Arial" panose="020B0604020202020204" pitchFamily="34" charset="0"/>
                <a:cs typeface="Arial" panose="020B0604020202020204" pitchFamily="34" charset="0"/>
              </a:rPr>
              <a:t>What </a:t>
            </a:r>
            <a:r>
              <a:rPr lang="en-US" altLang="en-US" sz="1400" b="1" dirty="0">
                <a:latin typeface="Arial" panose="020B0604020202020204" pitchFamily="34" charset="0"/>
                <a:cs typeface="Arial" panose="020B0604020202020204" pitchFamily="34" charset="0"/>
              </a:rPr>
              <a:t>it is</a:t>
            </a:r>
            <a:r>
              <a:rPr lang="en-US" altLang="en-US" sz="1400" b="1" dirty="0" smtClean="0">
                <a:latin typeface="Arial" panose="020B0604020202020204" pitchFamily="34" charset="0"/>
                <a:cs typeface="Arial" panose="020B0604020202020204" pitchFamily="34" charset="0"/>
              </a:rPr>
              <a:t>:</a:t>
            </a:r>
          </a:p>
          <a:p>
            <a:pPr lvl="0" eaLnBrk="0" fontAlgn="base" hangingPunct="0">
              <a:spcBef>
                <a:spcPct val="0"/>
              </a:spcBef>
              <a:spcAft>
                <a:spcPct val="0"/>
              </a:spcAft>
            </a:pPr>
            <a:r>
              <a:rPr lang="en-US" altLang="en-US" sz="1400" dirty="0">
                <a:latin typeface="Arial" panose="020B0604020202020204" pitchFamily="34" charset="0"/>
                <a:cs typeface="Arial" panose="020B0604020202020204" pitchFamily="34" charset="0"/>
              </a:rPr>
              <a:t/>
            </a:r>
            <a:br>
              <a:rPr lang="en-US" altLang="en-US" sz="1400" dirty="0">
                <a:latin typeface="Arial" panose="020B0604020202020204" pitchFamily="34" charset="0"/>
                <a:cs typeface="Arial" panose="020B0604020202020204" pitchFamily="34" charset="0"/>
              </a:rPr>
            </a:br>
            <a:r>
              <a:rPr lang="en-US" altLang="en-US" sz="1400" dirty="0">
                <a:latin typeface="Arial" panose="020B0604020202020204" pitchFamily="34" charset="0"/>
                <a:cs typeface="Arial" panose="020B0604020202020204" pitchFamily="34" charset="0"/>
              </a:rPr>
              <a:t>A component inside the AI app that </a:t>
            </a:r>
            <a:r>
              <a:rPr lang="en-US" altLang="en-US" sz="1400" b="1" dirty="0">
                <a:latin typeface="Arial" panose="020B0604020202020204" pitchFamily="34" charset="0"/>
                <a:cs typeface="Arial" panose="020B0604020202020204" pitchFamily="34" charset="0"/>
              </a:rPr>
              <a:t>connects to the MCP server</a:t>
            </a:r>
            <a:r>
              <a:rPr lang="en-US" altLang="en-US" sz="1400" dirty="0">
                <a:latin typeface="Arial" panose="020B0604020202020204" pitchFamily="34" charset="0"/>
                <a:cs typeface="Arial" panose="020B0604020202020204" pitchFamily="34" charset="0"/>
              </a:rPr>
              <a:t>, sends requests, and receives context</a:t>
            </a:r>
            <a:r>
              <a:rPr lang="en-US" altLang="en-US" sz="1400" dirty="0" smtClean="0">
                <a:latin typeface="Arial" panose="020B0604020202020204" pitchFamily="34" charset="0"/>
                <a:cs typeface="Arial" panose="020B0604020202020204" pitchFamily="34" charset="0"/>
              </a:rPr>
              <a:t>.</a:t>
            </a:r>
          </a:p>
          <a:p>
            <a:pPr lvl="0" eaLnBrk="0" fontAlgn="base" hangingPunct="0">
              <a:spcBef>
                <a:spcPct val="0"/>
              </a:spcBef>
              <a:spcAft>
                <a:spcPct val="0"/>
              </a:spcAft>
            </a:pPr>
            <a:endParaRPr lang="en-US" altLang="en-US" sz="1400"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en-US" altLang="en-US" sz="1400" b="1" dirty="0">
                <a:latin typeface="Arial" panose="020B0604020202020204" pitchFamily="34" charset="0"/>
                <a:cs typeface="Arial" panose="020B0604020202020204" pitchFamily="34" charset="0"/>
              </a:rPr>
              <a:t>Example:</a:t>
            </a:r>
            <a:r>
              <a:rPr lang="en-US" altLang="en-US" sz="1400" dirty="0">
                <a:latin typeface="Arial" panose="020B0604020202020204" pitchFamily="34" charset="0"/>
                <a:cs typeface="Arial" panose="020B0604020202020204" pitchFamily="34" charset="0"/>
              </a:rPr>
              <a:t>  </a:t>
            </a:r>
            <a:r>
              <a:rPr lang="en-US" altLang="en-US" sz="1400" dirty="0" err="1" smtClean="0">
                <a:latin typeface="Arial" panose="020B0604020202020204" pitchFamily="34" charset="0"/>
                <a:cs typeface="Arial" panose="020B0604020202020204" pitchFamily="34" charset="0"/>
              </a:rPr>
              <a:t>filesystem</a:t>
            </a:r>
            <a:r>
              <a:rPr lang="en-US" altLang="en-US" sz="1400" dirty="0" smtClean="0">
                <a:latin typeface="Arial" panose="020B0604020202020204" pitchFamily="34" charset="0"/>
                <a:cs typeface="Arial" panose="020B0604020202020204" pitchFamily="34" charset="0"/>
              </a:rPr>
              <a:t> </a:t>
            </a:r>
            <a:r>
              <a:rPr lang="en-US" altLang="en-US" sz="1400" dirty="0">
                <a:latin typeface="Arial" panose="020B0604020202020204" pitchFamily="34" charset="0"/>
                <a:cs typeface="Arial" panose="020B0604020202020204" pitchFamily="34" charset="0"/>
              </a:rPr>
              <a:t>MCP </a:t>
            </a:r>
            <a:r>
              <a:rPr lang="en-US" altLang="en-US" sz="1400" dirty="0" smtClean="0">
                <a:latin typeface="Arial" panose="020B0604020202020204" pitchFamily="34" charset="0"/>
                <a:cs typeface="Arial" panose="020B0604020202020204" pitchFamily="34" charset="0"/>
              </a:rPr>
              <a:t>client</a:t>
            </a:r>
          </a:p>
          <a:p>
            <a:pPr lvl="0" eaLnBrk="0" fontAlgn="base" hangingPunct="0">
              <a:spcBef>
                <a:spcPct val="0"/>
              </a:spcBef>
              <a:spcAft>
                <a:spcPct val="0"/>
              </a:spcAft>
            </a:pPr>
            <a:endParaRPr lang="en-US" altLang="en-US" sz="1400" dirty="0">
              <a:latin typeface="Arial" panose="020B0604020202020204" pitchFamily="34" charset="0"/>
              <a:cs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lang="en-US" altLang="en-US" sz="1400" dirty="0">
                <a:latin typeface="Arial" panose="020B0604020202020204" pitchFamily="34" charset="0"/>
                <a:cs typeface="Arial" panose="020B0604020202020204" pitchFamily="34" charset="0"/>
              </a:rPr>
              <a:t>Maintains a persistent connection (</a:t>
            </a:r>
            <a:r>
              <a:rPr lang="en-US" altLang="en-US" sz="1400" dirty="0" err="1">
                <a:latin typeface="Arial" panose="020B0604020202020204" pitchFamily="34" charset="0"/>
                <a:cs typeface="Arial" panose="020B0604020202020204" pitchFamily="34" charset="0"/>
              </a:rPr>
              <a:t>stdio</a:t>
            </a:r>
            <a:r>
              <a:rPr lang="en-US" altLang="en-US" sz="1400" dirty="0">
                <a:latin typeface="Arial" panose="020B0604020202020204" pitchFamily="34" charset="0"/>
                <a:cs typeface="Arial" panose="020B0604020202020204" pitchFamily="34" charset="0"/>
              </a:rPr>
              <a:t> / HTTP / </a:t>
            </a:r>
            <a:r>
              <a:rPr lang="en-US" altLang="en-US" sz="1400" dirty="0" err="1">
                <a:latin typeface="Arial" panose="020B0604020202020204" pitchFamily="34" charset="0"/>
                <a:cs typeface="Arial" panose="020B0604020202020204" pitchFamily="34" charset="0"/>
              </a:rPr>
              <a:t>WebSocket</a:t>
            </a:r>
            <a:r>
              <a:rPr lang="en-US" altLang="en-US" sz="1400" dirty="0">
                <a:latin typeface="Arial" panose="020B0604020202020204" pitchFamily="34" charset="0"/>
                <a:cs typeface="Arial" panose="020B0604020202020204" pitchFamily="34" charset="0"/>
              </a:rPr>
              <a:t>)</a:t>
            </a:r>
          </a:p>
          <a:p>
            <a:pPr marL="285750" lvl="0" indent="-285750" eaLnBrk="0" fontAlgn="base" hangingPunct="0">
              <a:spcBef>
                <a:spcPct val="0"/>
              </a:spcBef>
              <a:spcAft>
                <a:spcPct val="0"/>
              </a:spcAft>
              <a:buFont typeface="Arial" panose="020B0604020202020204" pitchFamily="34" charset="0"/>
              <a:buChar char="•"/>
            </a:pPr>
            <a:r>
              <a:rPr lang="en-US" altLang="en-US" sz="1400" dirty="0">
                <a:latin typeface="Arial" panose="020B0604020202020204" pitchFamily="34" charset="0"/>
                <a:cs typeface="Arial" panose="020B0604020202020204" pitchFamily="34" charset="0"/>
              </a:rPr>
              <a:t>Translates AI requests → MCP </a:t>
            </a:r>
            <a:r>
              <a:rPr lang="en-US" altLang="en-US" sz="1400" dirty="0" smtClean="0">
                <a:latin typeface="Arial" panose="020B0604020202020204" pitchFamily="34" charset="0"/>
                <a:cs typeface="Arial" panose="020B0604020202020204" pitchFamily="34" charset="0"/>
              </a:rPr>
              <a:t>calls</a:t>
            </a:r>
          </a:p>
          <a:p>
            <a:pPr marL="285750" lvl="0" indent="-285750" eaLnBrk="0" fontAlgn="base" hangingPunct="0">
              <a:spcBef>
                <a:spcPct val="0"/>
              </a:spcBef>
              <a:spcAft>
                <a:spcPct val="0"/>
              </a:spcAft>
              <a:buFont typeface="Arial" panose="020B0604020202020204" pitchFamily="34" charset="0"/>
              <a:buChar char="•"/>
            </a:pPr>
            <a:endParaRPr lang="en-US" altLang="en-US" sz="1400"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MCP Client</a:t>
            </a:r>
          </a:p>
          <a:p>
            <a:pPr marL="742950" lvl="1" indent="-285750">
              <a:buFont typeface="Arial" panose="020B0604020202020204" pitchFamily="34" charset="0"/>
              <a:buChar char="•"/>
            </a:pPr>
            <a:r>
              <a:rPr lang="en-IN" sz="1400" dirty="0" smtClean="0">
                <a:latin typeface="Arial" panose="020B0604020202020204" pitchFamily="34" charset="0"/>
                <a:cs typeface="Arial" panose="020B0604020202020204" pitchFamily="34" charset="0"/>
              </a:rPr>
              <a:t>connect </a:t>
            </a:r>
            <a:r>
              <a:rPr lang="en-IN" sz="1400" dirty="0">
                <a:latin typeface="Arial" panose="020B0604020202020204" pitchFamily="34" charset="0"/>
                <a:cs typeface="Arial" panose="020B0604020202020204" pitchFamily="34" charset="0"/>
              </a:rPr>
              <a:t>to </a:t>
            </a:r>
            <a:r>
              <a:rPr lang="en-IN" sz="1400" dirty="0" err="1">
                <a:latin typeface="Arial" panose="020B0604020202020204" pitchFamily="34" charset="0"/>
                <a:cs typeface="Arial" panose="020B0604020202020204" pitchFamily="34" charset="0"/>
              </a:rPr>
              <a:t>filesystem</a:t>
            </a:r>
            <a:r>
              <a:rPr lang="en-IN" sz="1400" dirty="0">
                <a:latin typeface="Arial" panose="020B0604020202020204" pitchFamily="34" charset="0"/>
                <a:cs typeface="Arial" panose="020B0604020202020204" pitchFamily="34" charset="0"/>
              </a:rPr>
              <a:t> MCP server</a:t>
            </a:r>
          </a:p>
          <a:p>
            <a:pPr marL="742950" lvl="1" indent="-285750">
              <a:buFont typeface="Arial" panose="020B0604020202020204" pitchFamily="34" charset="0"/>
              <a:buChar char="•"/>
            </a:pPr>
            <a:r>
              <a:rPr lang="en-IN" sz="1400" dirty="0" smtClean="0">
                <a:latin typeface="Arial" panose="020B0604020202020204" pitchFamily="34" charset="0"/>
                <a:cs typeface="Arial" panose="020B0604020202020204" pitchFamily="34" charset="0"/>
              </a:rPr>
              <a:t>request </a:t>
            </a:r>
            <a:r>
              <a:rPr lang="en-IN" sz="1400" dirty="0" err="1">
                <a:latin typeface="Arial" panose="020B0604020202020204" pitchFamily="34" charset="0"/>
                <a:cs typeface="Arial" panose="020B0604020202020204" pitchFamily="34" charset="0"/>
              </a:rPr>
              <a:t>read_file</a:t>
            </a:r>
            <a:r>
              <a:rPr lang="en-IN" sz="1400" dirty="0">
                <a:latin typeface="Arial" panose="020B0604020202020204" pitchFamily="34" charset="0"/>
                <a:cs typeface="Arial" panose="020B0604020202020204" pitchFamily="34" charset="0"/>
              </a:rPr>
              <a:t>("report.pdf")</a:t>
            </a:r>
          </a:p>
          <a:p>
            <a:pPr marL="742950" lvl="1" indent="-285750">
              <a:buFont typeface="Arial" panose="020B0604020202020204" pitchFamily="34" charset="0"/>
              <a:buChar char="•"/>
            </a:pPr>
            <a:r>
              <a:rPr lang="en-IN" sz="1400" dirty="0" smtClean="0">
                <a:latin typeface="Arial" panose="020B0604020202020204" pitchFamily="34" charset="0"/>
                <a:cs typeface="Arial" panose="020B0604020202020204" pitchFamily="34" charset="0"/>
              </a:rPr>
              <a:t>receive </a:t>
            </a:r>
            <a:r>
              <a:rPr lang="en-IN" sz="1400" dirty="0">
                <a:latin typeface="Arial" panose="020B0604020202020204" pitchFamily="34" charset="0"/>
                <a:cs typeface="Arial" panose="020B0604020202020204" pitchFamily="34" charset="0"/>
              </a:rPr>
              <a:t>file contents</a:t>
            </a:r>
          </a:p>
          <a:p>
            <a:pPr lvl="0" eaLnBrk="0" fontAlgn="base" hangingPunct="0">
              <a:spcBef>
                <a:spcPct val="0"/>
              </a:spcBef>
              <a:spcAft>
                <a:spcPct val="0"/>
              </a:spcAft>
            </a:pPr>
            <a:endParaRPr lang="en-US" sz="1400" dirty="0" smtClean="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en-US" sz="1400" dirty="0" smtClean="0">
                <a:latin typeface="Arial" panose="020B0604020202020204" pitchFamily="34" charset="0"/>
                <a:cs typeface="Arial" panose="020B0604020202020204" pitchFamily="34" charset="0"/>
              </a:rPr>
              <a:t>The </a:t>
            </a:r>
            <a:r>
              <a:rPr lang="en-US" sz="1400" dirty="0">
                <a:latin typeface="Arial" panose="020B0604020202020204" pitchFamily="34" charset="0"/>
                <a:cs typeface="Arial" panose="020B0604020202020204" pitchFamily="34" charset="0"/>
              </a:rPr>
              <a:t>client is a </a:t>
            </a:r>
            <a:r>
              <a:rPr lang="en-US" sz="1400" b="1" dirty="0">
                <a:latin typeface="Arial" panose="020B0604020202020204" pitchFamily="34" charset="0"/>
                <a:cs typeface="Arial" panose="020B0604020202020204" pitchFamily="34" charset="0"/>
              </a:rPr>
              <a:t>bridge</a:t>
            </a:r>
            <a:r>
              <a:rPr lang="en-US" sz="1400" dirty="0">
                <a:latin typeface="Arial" panose="020B0604020202020204" pitchFamily="34" charset="0"/>
                <a:cs typeface="Arial" panose="020B0604020202020204" pitchFamily="34" charset="0"/>
              </a:rPr>
              <a:t>, not the brain.</a:t>
            </a:r>
            <a:endParaRPr lang="en-US" altLang="en-US" sz="1400" dirty="0">
              <a:latin typeface="Arial" panose="020B0604020202020204" pitchFamily="34" charset="0"/>
              <a:cs typeface="Arial" panose="020B0604020202020204" pitchFamily="34" charset="0"/>
            </a:endParaRPr>
          </a:p>
          <a:p>
            <a:pPr lvl="0" eaLnBrk="0" fontAlgn="base" hangingPunct="0">
              <a:spcBef>
                <a:spcPct val="0"/>
              </a:spcBef>
              <a:spcAft>
                <a:spcPct val="0"/>
              </a:spcAft>
            </a:pPr>
            <a:endParaRPr lang="en-US" alt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882162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rmAutofit/>
          </a:bodyPr>
          <a:lstStyle/>
          <a:p>
            <a:pPr algn="ctr" fontAlgn="base"/>
            <a:r>
              <a:rPr lang="en-IN" sz="3200" b="1" dirty="0" smtClean="0">
                <a:latin typeface="Arial" panose="020B0604020202020204" pitchFamily="34" charset="0"/>
                <a:cs typeface="Arial" panose="020B0604020202020204" pitchFamily="34" charset="0"/>
              </a:rPr>
              <a:t>MCP Server (Context Provider)</a:t>
            </a:r>
            <a:endParaRPr lang="en-IN" sz="3200" b="1" dirty="0">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7132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base"/>
            <a:endParaRPr lang="en-IN" sz="14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1"/>
          <p:cNvSpPr>
            <a:spLocks noChangeArrowheads="1"/>
          </p:cNvSpPr>
          <p:nvPr/>
        </p:nvSpPr>
        <p:spPr bwMode="auto">
          <a:xfrm>
            <a:off x="762000" y="959034"/>
            <a:ext cx="10061331"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1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What it is:</a:t>
            </a:r>
            <a:r>
              <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a:r>
            <a:br>
              <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br>
            <a:r>
              <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A program that</a:t>
            </a:r>
            <a:r>
              <a:rPr kumimoji="0" lang="en-US" altLang="en-US" sz="1400" b="0" i="0" u="none" strike="noStrike" cap="none" normalizeH="0" dirty="0" smtClean="0">
                <a:ln>
                  <a:noFill/>
                </a:ln>
                <a:solidFill>
                  <a:schemeClr val="tx1"/>
                </a:solidFill>
                <a:effectLst/>
                <a:latin typeface="Arial" panose="020B0604020202020204" pitchFamily="34" charset="0"/>
                <a:cs typeface="Arial" panose="020B0604020202020204" pitchFamily="34" charset="0"/>
              </a:rPr>
              <a:t> </a:t>
            </a:r>
            <a:r>
              <a:rPr lang="en-US" sz="1400" dirty="0" smtClean="0">
                <a:latin typeface="Arial" panose="020B0604020202020204" pitchFamily="34" charset="0"/>
                <a:cs typeface="Arial" panose="020B0604020202020204" pitchFamily="34" charset="0"/>
              </a:rPr>
              <a:t>provides </a:t>
            </a:r>
            <a:r>
              <a:rPr lang="en-US" sz="1400" dirty="0">
                <a:latin typeface="Arial" panose="020B0604020202020204" pitchFamily="34" charset="0"/>
                <a:cs typeface="Arial" panose="020B0604020202020204" pitchFamily="34" charset="0"/>
              </a:rPr>
              <a:t>context to MCP </a:t>
            </a:r>
            <a:r>
              <a:rPr lang="en-US" sz="1400" dirty="0" smtClean="0">
                <a:latin typeface="Arial" panose="020B0604020202020204" pitchFamily="34" charset="0"/>
                <a:cs typeface="Arial" panose="020B0604020202020204" pitchFamily="34" charset="0"/>
              </a:rPr>
              <a:t>clients and </a:t>
            </a:r>
            <a:r>
              <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exposes resources (files, DBs, APIs) via MCP. </a:t>
            </a:r>
          </a:p>
          <a:p>
            <a:pPr lvl="0" eaLnBrk="0" fontAlgn="base" hangingPunct="0">
              <a:spcBef>
                <a:spcPct val="0"/>
              </a:spcBef>
              <a:spcAft>
                <a:spcPct val="0"/>
              </a:spcAft>
            </a:pPr>
            <a:endParaRPr lang="en-US" sz="1400" b="1" dirty="0" smtClean="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en-US" sz="1400" b="1" dirty="0" smtClean="0">
                <a:latin typeface="Arial" panose="020B0604020202020204" pitchFamily="34" charset="0"/>
                <a:cs typeface="Arial" panose="020B0604020202020204" pitchFamily="34" charset="0"/>
              </a:rPr>
              <a:t>Types of MCP Server:</a:t>
            </a:r>
            <a:endParaRPr lang="en-US" sz="1400" dirty="0" smtClean="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en-US" sz="1400" dirty="0" smtClean="0">
                <a:latin typeface="Arial" panose="020B0604020202020204" pitchFamily="34" charset="0"/>
                <a:cs typeface="Arial" panose="020B0604020202020204" pitchFamily="34" charset="0"/>
              </a:rPr>
              <a:t>MCP </a:t>
            </a:r>
            <a:r>
              <a:rPr lang="en-US" sz="1400" dirty="0">
                <a:latin typeface="Arial" panose="020B0604020202020204" pitchFamily="34" charset="0"/>
                <a:cs typeface="Arial" panose="020B0604020202020204" pitchFamily="34" charset="0"/>
              </a:rPr>
              <a:t>Server can be BOTH local or remote.</a:t>
            </a:r>
            <a:endParaRPr kumimoji="0" lang="en-US" altLang="en-US" sz="140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lvl="0" eaLnBrk="0" fontAlgn="base" hangingPunct="0">
              <a:spcBef>
                <a:spcPct val="0"/>
              </a:spcBef>
              <a:spcAft>
                <a:spcPct val="0"/>
              </a:spcAft>
            </a:pPr>
            <a:endParaRPr lang="en-US" altLang="en-US" sz="1400" b="1"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en-US" altLang="en-US" sz="1400" b="1" dirty="0">
                <a:latin typeface="Arial" panose="020B0604020202020204" pitchFamily="34" charset="0"/>
                <a:cs typeface="Arial" panose="020B0604020202020204" pitchFamily="34" charset="0"/>
              </a:rPr>
              <a:t>Local MCP Server</a:t>
            </a:r>
          </a:p>
          <a:p>
            <a:pPr marL="742950" lvl="1" indent="-285750" eaLnBrk="0" fontAlgn="base" hangingPunct="0">
              <a:spcBef>
                <a:spcPct val="0"/>
              </a:spcBef>
              <a:spcAft>
                <a:spcPct val="0"/>
              </a:spcAft>
              <a:buFont typeface="Arial" panose="020B0604020202020204" pitchFamily="34" charset="0"/>
              <a:buChar char="•"/>
            </a:pPr>
            <a:r>
              <a:rPr lang="en-US" altLang="en-US" sz="1400" dirty="0">
                <a:latin typeface="Arial" panose="020B0604020202020204" pitchFamily="34" charset="0"/>
                <a:cs typeface="Arial" panose="020B0604020202020204" pitchFamily="34" charset="0"/>
              </a:rPr>
              <a:t>Runs on your machine</a:t>
            </a:r>
          </a:p>
          <a:p>
            <a:pPr marL="742950" lvl="1" indent="-285750" eaLnBrk="0" fontAlgn="base" hangingPunct="0">
              <a:spcBef>
                <a:spcPct val="0"/>
              </a:spcBef>
              <a:spcAft>
                <a:spcPct val="0"/>
              </a:spcAft>
              <a:buFont typeface="Arial" panose="020B0604020202020204" pitchFamily="34" charset="0"/>
              <a:buChar char="•"/>
            </a:pPr>
            <a:r>
              <a:rPr lang="en-US" altLang="en-US" sz="1400" dirty="0">
                <a:latin typeface="Arial" panose="020B0604020202020204" pitchFamily="34" charset="0"/>
                <a:cs typeface="Arial" panose="020B0604020202020204" pitchFamily="34" charset="0"/>
              </a:rPr>
              <a:t>Example: </a:t>
            </a:r>
            <a:r>
              <a:rPr lang="en-US" altLang="en-US" sz="1400" b="1" dirty="0" err="1">
                <a:latin typeface="Arial" panose="020B0604020202020204" pitchFamily="34" charset="0"/>
                <a:cs typeface="Arial" panose="020B0604020202020204" pitchFamily="34" charset="0"/>
              </a:rPr>
              <a:t>Filesystem</a:t>
            </a:r>
            <a:r>
              <a:rPr lang="en-US" altLang="en-US" sz="1400" b="1" dirty="0">
                <a:latin typeface="Arial" panose="020B0604020202020204" pitchFamily="34" charset="0"/>
                <a:cs typeface="Arial" panose="020B0604020202020204" pitchFamily="34" charset="0"/>
              </a:rPr>
              <a:t> MCP Server</a:t>
            </a:r>
            <a:endParaRPr lang="en-US" altLang="en-US" sz="1400" dirty="0">
              <a:latin typeface="Arial" panose="020B0604020202020204" pitchFamily="34" charset="0"/>
              <a:cs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lang="en-US" altLang="en-US" sz="1400" dirty="0">
                <a:latin typeface="Arial" panose="020B0604020202020204" pitchFamily="34" charset="0"/>
                <a:cs typeface="Arial" panose="020B0604020202020204" pitchFamily="34" charset="0"/>
              </a:rPr>
              <a:t>Provides:</a:t>
            </a:r>
          </a:p>
          <a:p>
            <a:pPr marL="1200150" lvl="2" indent="-285750" eaLnBrk="0" fontAlgn="base" hangingPunct="0">
              <a:spcBef>
                <a:spcPct val="0"/>
              </a:spcBef>
              <a:spcAft>
                <a:spcPct val="0"/>
              </a:spcAft>
              <a:buFont typeface="Arial" panose="020B0604020202020204" pitchFamily="34" charset="0"/>
              <a:buChar char="•"/>
            </a:pPr>
            <a:r>
              <a:rPr lang="en-US" altLang="en-US" sz="1400" dirty="0" err="1">
                <a:latin typeface="Arial" panose="020B0604020202020204" pitchFamily="34" charset="0"/>
                <a:cs typeface="Arial" panose="020B0604020202020204" pitchFamily="34" charset="0"/>
              </a:rPr>
              <a:t>list_files</a:t>
            </a:r>
            <a:r>
              <a:rPr lang="en-US" altLang="en-US" sz="1400" dirty="0">
                <a:latin typeface="Arial" panose="020B0604020202020204" pitchFamily="34" charset="0"/>
                <a:cs typeface="Arial" panose="020B0604020202020204" pitchFamily="34" charset="0"/>
              </a:rPr>
              <a:t>(path)</a:t>
            </a:r>
          </a:p>
          <a:p>
            <a:pPr marL="1200150" lvl="2" indent="-285750" eaLnBrk="0" fontAlgn="base" hangingPunct="0">
              <a:spcBef>
                <a:spcPct val="0"/>
              </a:spcBef>
              <a:spcAft>
                <a:spcPct val="0"/>
              </a:spcAft>
              <a:buFont typeface="Arial" panose="020B0604020202020204" pitchFamily="34" charset="0"/>
              <a:buChar char="•"/>
            </a:pPr>
            <a:r>
              <a:rPr lang="en-US" altLang="en-US" sz="1400" dirty="0" err="1">
                <a:latin typeface="Arial" panose="020B0604020202020204" pitchFamily="34" charset="0"/>
                <a:cs typeface="Arial" panose="020B0604020202020204" pitchFamily="34" charset="0"/>
              </a:rPr>
              <a:t>read_file</a:t>
            </a:r>
            <a:r>
              <a:rPr lang="en-US" altLang="en-US" sz="1400" dirty="0">
                <a:latin typeface="Arial" panose="020B0604020202020204" pitchFamily="34" charset="0"/>
                <a:cs typeface="Arial" panose="020B0604020202020204" pitchFamily="34" charset="0"/>
              </a:rPr>
              <a:t>(path)</a:t>
            </a:r>
          </a:p>
          <a:p>
            <a:pPr marL="742950" lvl="1" indent="-285750" eaLnBrk="0" fontAlgn="base" hangingPunct="0">
              <a:spcBef>
                <a:spcPct val="0"/>
              </a:spcBef>
              <a:spcAft>
                <a:spcPct val="0"/>
              </a:spcAft>
              <a:buFont typeface="Arial" panose="020B0604020202020204" pitchFamily="34" charset="0"/>
              <a:buChar char="•"/>
            </a:pPr>
            <a:r>
              <a:rPr lang="en-US" altLang="en-US" sz="1400" dirty="0">
                <a:latin typeface="Arial" panose="020B0604020202020204" pitchFamily="34" charset="0"/>
                <a:cs typeface="Arial" panose="020B0604020202020204" pitchFamily="34" charset="0"/>
              </a:rPr>
              <a:t>Use case: access local </a:t>
            </a:r>
            <a:r>
              <a:rPr lang="en-US" altLang="en-US" sz="1400" dirty="0" smtClean="0">
                <a:latin typeface="Arial" panose="020B0604020202020204" pitchFamily="34" charset="0"/>
                <a:cs typeface="Arial" panose="020B0604020202020204" pitchFamily="34" charset="0"/>
              </a:rPr>
              <a:t>files</a:t>
            </a:r>
          </a:p>
          <a:p>
            <a:pPr lvl="0" eaLnBrk="0" fontAlgn="base" hangingPunct="0">
              <a:spcBef>
                <a:spcPct val="0"/>
              </a:spcBef>
              <a:spcAft>
                <a:spcPct val="0"/>
              </a:spcAft>
            </a:pPr>
            <a:endParaRPr lang="en-US" altLang="en-US" sz="1400" b="1" dirty="0" smtClean="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en-US" altLang="en-US" sz="1400" b="1" dirty="0" smtClean="0">
                <a:latin typeface="Arial" panose="020B0604020202020204" pitchFamily="34" charset="0"/>
                <a:cs typeface="Arial" panose="020B0604020202020204" pitchFamily="34" charset="0"/>
              </a:rPr>
              <a:t>Remote </a:t>
            </a:r>
            <a:r>
              <a:rPr lang="en-US" altLang="en-US" sz="1400" b="1" dirty="0">
                <a:latin typeface="Arial" panose="020B0604020202020204" pitchFamily="34" charset="0"/>
                <a:cs typeface="Arial" panose="020B0604020202020204" pitchFamily="34" charset="0"/>
              </a:rPr>
              <a:t>MCP Server</a:t>
            </a:r>
          </a:p>
          <a:p>
            <a:pPr marL="742950" lvl="1" indent="-285750" eaLnBrk="0" fontAlgn="base" hangingPunct="0">
              <a:spcBef>
                <a:spcPct val="0"/>
              </a:spcBef>
              <a:spcAft>
                <a:spcPct val="0"/>
              </a:spcAft>
              <a:buFont typeface="Arial" panose="020B0604020202020204" pitchFamily="34" charset="0"/>
              <a:buChar char="•"/>
            </a:pPr>
            <a:r>
              <a:rPr lang="en-US" altLang="en-US" sz="1400" dirty="0">
                <a:latin typeface="Arial" panose="020B0604020202020204" pitchFamily="34" charset="0"/>
                <a:cs typeface="Arial" panose="020B0604020202020204" pitchFamily="34" charset="0"/>
              </a:rPr>
              <a:t>Runs on another machine / cloud</a:t>
            </a:r>
          </a:p>
          <a:p>
            <a:pPr marL="742950" lvl="1" indent="-285750" eaLnBrk="0" fontAlgn="base" hangingPunct="0">
              <a:spcBef>
                <a:spcPct val="0"/>
              </a:spcBef>
              <a:spcAft>
                <a:spcPct val="0"/>
              </a:spcAft>
              <a:buFont typeface="Arial" panose="020B0604020202020204" pitchFamily="34" charset="0"/>
              <a:buChar char="•"/>
            </a:pPr>
            <a:r>
              <a:rPr lang="en-US" altLang="en-US" sz="1400" dirty="0">
                <a:latin typeface="Arial" panose="020B0604020202020204" pitchFamily="34" charset="0"/>
                <a:cs typeface="Arial" panose="020B0604020202020204" pitchFamily="34" charset="0"/>
              </a:rPr>
              <a:t>Example: </a:t>
            </a:r>
            <a:r>
              <a:rPr lang="en-US" altLang="en-US" sz="1400" b="1" dirty="0">
                <a:latin typeface="Arial" panose="020B0604020202020204" pitchFamily="34" charset="0"/>
                <a:cs typeface="Arial" panose="020B0604020202020204" pitchFamily="34" charset="0"/>
              </a:rPr>
              <a:t>GitHub MCP Server</a:t>
            </a:r>
            <a:r>
              <a:rPr lang="en-US" altLang="en-US" sz="1400" dirty="0">
                <a:latin typeface="Arial" panose="020B0604020202020204" pitchFamily="34" charset="0"/>
                <a:cs typeface="Arial" panose="020B0604020202020204" pitchFamily="34" charset="0"/>
              </a:rPr>
              <a:t>, </a:t>
            </a:r>
            <a:r>
              <a:rPr lang="en-US" altLang="en-US" sz="1400" b="1" dirty="0">
                <a:latin typeface="Arial" panose="020B0604020202020204" pitchFamily="34" charset="0"/>
                <a:cs typeface="Arial" panose="020B0604020202020204" pitchFamily="34" charset="0"/>
              </a:rPr>
              <a:t>Database MCP Server</a:t>
            </a:r>
            <a:endParaRPr lang="en-US" altLang="en-US" sz="1400" dirty="0">
              <a:latin typeface="Arial" panose="020B0604020202020204" pitchFamily="34" charset="0"/>
              <a:cs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lang="en-US" altLang="en-US" sz="1400" dirty="0">
                <a:latin typeface="Arial" panose="020B0604020202020204" pitchFamily="34" charset="0"/>
                <a:cs typeface="Arial" panose="020B0604020202020204" pitchFamily="34" charset="0"/>
              </a:rPr>
              <a:t>Provides:</a:t>
            </a:r>
          </a:p>
          <a:p>
            <a:pPr marL="1200150" lvl="2" indent="-285750" eaLnBrk="0" fontAlgn="base" hangingPunct="0">
              <a:spcBef>
                <a:spcPct val="0"/>
              </a:spcBef>
              <a:spcAft>
                <a:spcPct val="0"/>
              </a:spcAft>
              <a:buFont typeface="Arial" panose="020B0604020202020204" pitchFamily="34" charset="0"/>
              <a:buChar char="•"/>
            </a:pPr>
            <a:r>
              <a:rPr lang="en-US" altLang="en-US" sz="1400" dirty="0" err="1">
                <a:latin typeface="Arial" panose="020B0604020202020204" pitchFamily="34" charset="0"/>
                <a:cs typeface="Arial" panose="020B0604020202020204" pitchFamily="34" charset="0"/>
              </a:rPr>
              <a:t>get_repo</a:t>
            </a:r>
            <a:r>
              <a:rPr lang="en-US" altLang="en-US" sz="1400" dirty="0">
                <a:latin typeface="Arial" panose="020B0604020202020204" pitchFamily="34" charset="0"/>
                <a:cs typeface="Arial" panose="020B0604020202020204" pitchFamily="34" charset="0"/>
              </a:rPr>
              <a:t>()</a:t>
            </a:r>
          </a:p>
          <a:p>
            <a:pPr marL="1200150" lvl="2" indent="-285750" eaLnBrk="0" fontAlgn="base" hangingPunct="0">
              <a:spcBef>
                <a:spcPct val="0"/>
              </a:spcBef>
              <a:spcAft>
                <a:spcPct val="0"/>
              </a:spcAft>
              <a:buFont typeface="Arial" panose="020B0604020202020204" pitchFamily="34" charset="0"/>
              <a:buChar char="•"/>
            </a:pPr>
            <a:r>
              <a:rPr lang="en-US" altLang="en-US" sz="1400" dirty="0" err="1">
                <a:latin typeface="Arial" panose="020B0604020202020204" pitchFamily="34" charset="0"/>
                <a:cs typeface="Arial" panose="020B0604020202020204" pitchFamily="34" charset="0"/>
              </a:rPr>
              <a:t>list_prs</a:t>
            </a:r>
            <a:r>
              <a:rPr lang="en-US" altLang="en-US" sz="1400" dirty="0">
                <a:latin typeface="Arial" panose="020B0604020202020204" pitchFamily="34" charset="0"/>
                <a:cs typeface="Arial" panose="020B0604020202020204" pitchFamily="34" charset="0"/>
              </a:rPr>
              <a:t>()</a:t>
            </a:r>
          </a:p>
          <a:p>
            <a:pPr marL="1200150" lvl="2" indent="-285750" eaLnBrk="0" fontAlgn="base" hangingPunct="0">
              <a:spcBef>
                <a:spcPct val="0"/>
              </a:spcBef>
              <a:spcAft>
                <a:spcPct val="0"/>
              </a:spcAft>
              <a:buFont typeface="Arial" panose="020B0604020202020204" pitchFamily="34" charset="0"/>
              <a:buChar char="•"/>
            </a:pPr>
            <a:r>
              <a:rPr lang="en-US" altLang="en-US" sz="1400" dirty="0" err="1">
                <a:latin typeface="Arial" panose="020B0604020202020204" pitchFamily="34" charset="0"/>
                <a:cs typeface="Arial" panose="020B0604020202020204" pitchFamily="34" charset="0"/>
              </a:rPr>
              <a:t>query_db</a:t>
            </a:r>
            <a:r>
              <a:rPr lang="en-US" altLang="en-US" sz="1400" dirty="0">
                <a:latin typeface="Arial" panose="020B0604020202020204" pitchFamily="34" charset="0"/>
                <a:cs typeface="Arial" panose="020B0604020202020204" pitchFamily="34" charset="0"/>
              </a:rPr>
              <a:t>()</a:t>
            </a:r>
          </a:p>
          <a:p>
            <a:pPr marL="742950" lvl="1" indent="-285750" eaLnBrk="0" fontAlgn="base" hangingPunct="0">
              <a:spcBef>
                <a:spcPct val="0"/>
              </a:spcBef>
              <a:spcAft>
                <a:spcPct val="0"/>
              </a:spcAft>
              <a:buFont typeface="Arial" panose="020B0604020202020204" pitchFamily="34" charset="0"/>
              <a:buChar char="•"/>
            </a:pPr>
            <a:r>
              <a:rPr lang="en-US" altLang="en-US" sz="1400" dirty="0">
                <a:latin typeface="Arial" panose="020B0604020202020204" pitchFamily="34" charset="0"/>
                <a:cs typeface="Arial" panose="020B0604020202020204" pitchFamily="34" charset="0"/>
              </a:rPr>
              <a:t>Use case: access remote services</a:t>
            </a:r>
          </a:p>
          <a:p>
            <a:pPr lvl="0" eaLnBrk="0" fontAlgn="base" hangingPunct="0">
              <a:spcBef>
                <a:spcPct val="0"/>
              </a:spcBef>
              <a:spcAft>
                <a:spcPct val="0"/>
              </a:spcAft>
            </a:pPr>
            <a:endParaRPr lang="en-US" altLang="en-US" sz="1400" b="1" dirty="0" smtClean="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en-US" altLang="en-US" sz="1400" b="1" dirty="0" smtClean="0">
                <a:latin typeface="Arial" panose="020B0604020202020204" pitchFamily="34" charset="0"/>
                <a:cs typeface="Arial" panose="020B0604020202020204" pitchFamily="34" charset="0"/>
              </a:rPr>
              <a:t>Key </a:t>
            </a:r>
            <a:r>
              <a:rPr lang="en-US" altLang="en-US" sz="1400" b="1" dirty="0">
                <a:latin typeface="Arial" panose="020B0604020202020204" pitchFamily="34" charset="0"/>
                <a:cs typeface="Arial" panose="020B0604020202020204" pitchFamily="34" charset="0"/>
              </a:rPr>
              <a:t>point:</a:t>
            </a:r>
            <a:r>
              <a:rPr lang="en-US" altLang="en-US" sz="1400" dirty="0">
                <a:latin typeface="Arial" panose="020B0604020202020204" pitchFamily="34" charset="0"/>
                <a:cs typeface="Arial" panose="020B0604020202020204" pitchFamily="34" charset="0"/>
              </a:rPr>
              <a:t/>
            </a:r>
            <a:br>
              <a:rPr lang="en-US" altLang="en-US" sz="1400" dirty="0">
                <a:latin typeface="Arial" panose="020B0604020202020204" pitchFamily="34" charset="0"/>
                <a:cs typeface="Arial" panose="020B0604020202020204" pitchFamily="34" charset="0"/>
              </a:rPr>
            </a:br>
            <a:r>
              <a:rPr lang="en-US" altLang="en-US" sz="1400" b="1" dirty="0">
                <a:latin typeface="Arial" panose="020B0604020202020204" pitchFamily="34" charset="0"/>
                <a:cs typeface="Arial" panose="020B0604020202020204" pitchFamily="34" charset="0"/>
              </a:rPr>
              <a:t>MCP Server never talks to the LLM directly</a:t>
            </a:r>
            <a:r>
              <a:rPr lang="en-US" altLang="en-US" sz="1400" dirty="0">
                <a:latin typeface="Arial" panose="020B0604020202020204" pitchFamily="34" charset="0"/>
                <a:cs typeface="Arial" panose="020B0604020202020204" pitchFamily="34" charset="0"/>
              </a:rPr>
              <a:t> — whether local or remote</a:t>
            </a:r>
            <a:r>
              <a:rPr lang="en-US" altLang="en-US" sz="1400" dirty="0" smtClean="0">
                <a:latin typeface="Arial" panose="020B0604020202020204" pitchFamily="34" charset="0"/>
                <a:cs typeface="Arial" panose="020B0604020202020204" pitchFamily="34" charset="0"/>
              </a:rPr>
              <a:t>.</a:t>
            </a:r>
            <a:endParaRPr lang="en-US" alt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299045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rmAutofit/>
          </a:bodyPr>
          <a:lstStyle/>
          <a:p>
            <a:pPr algn="ctr" fontAlgn="base"/>
            <a:r>
              <a:rPr lang="en-US" sz="3200" b="1" dirty="0" smtClean="0">
                <a:latin typeface="Arial" panose="020B0604020202020204" pitchFamily="34" charset="0"/>
                <a:cs typeface="Arial" panose="020B0604020202020204" pitchFamily="34" charset="0"/>
              </a:rPr>
              <a:t>MCP Server- </a:t>
            </a:r>
            <a:r>
              <a:rPr lang="en-US" sz="3200" b="1" dirty="0">
                <a:latin typeface="Arial" panose="020B0604020202020204" pitchFamily="34" charset="0"/>
                <a:cs typeface="Arial" panose="020B0604020202020204" pitchFamily="34" charset="0"/>
              </a:rPr>
              <a:t>Features</a:t>
            </a:r>
            <a:endParaRPr lang="en-IN" sz="3200" b="1" dirty="0">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450418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buFont typeface="Arial" panose="020B0604020202020204" pitchFamily="34" charset="0"/>
              <a:buChar char="•"/>
            </a:pPr>
            <a:endParaRPr lang="en-US" sz="11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30805"/>
            <a:ext cx="18473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sp>
        <p:nvSpPr>
          <p:cNvPr id="7" name="Rectangle 1"/>
          <p:cNvSpPr>
            <a:spLocks noChangeArrowheads="1"/>
          </p:cNvSpPr>
          <p:nvPr/>
        </p:nvSpPr>
        <p:spPr bwMode="auto">
          <a:xfrm>
            <a:off x="0" y="-130805"/>
            <a:ext cx="18473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graphicFrame>
        <p:nvGraphicFramePr>
          <p:cNvPr id="3" name="Table 2"/>
          <p:cNvGraphicFramePr>
            <a:graphicFrameLocks noGrp="1"/>
          </p:cNvGraphicFramePr>
          <p:nvPr>
            <p:extLst>
              <p:ext uri="{D42A27DB-BD31-4B8C-83A1-F6EECF244321}">
                <p14:modId xmlns:p14="http://schemas.microsoft.com/office/powerpoint/2010/main" val="2908353100"/>
              </p:ext>
            </p:extLst>
          </p:nvPr>
        </p:nvGraphicFramePr>
        <p:xfrm>
          <a:off x="863110" y="2154115"/>
          <a:ext cx="10313380" cy="2712720"/>
        </p:xfrm>
        <a:graphic>
          <a:graphicData uri="http://schemas.openxmlformats.org/drawingml/2006/table">
            <a:tbl>
              <a:tblPr firstRow="1" bandRow="1">
                <a:tableStyleId>{073A0DAA-6AF3-43AB-8588-CEC1D06C72B9}</a:tableStyleId>
              </a:tblPr>
              <a:tblGrid>
                <a:gridCol w="1705712">
                  <a:extLst>
                    <a:ext uri="{9D8B030D-6E8A-4147-A177-3AD203B41FA5}">
                      <a16:colId xmlns:a16="http://schemas.microsoft.com/office/drawing/2014/main" val="1158006072"/>
                    </a:ext>
                  </a:extLst>
                </a:gridCol>
                <a:gridCol w="4381496">
                  <a:extLst>
                    <a:ext uri="{9D8B030D-6E8A-4147-A177-3AD203B41FA5}">
                      <a16:colId xmlns:a16="http://schemas.microsoft.com/office/drawing/2014/main" val="2615503196"/>
                    </a:ext>
                  </a:extLst>
                </a:gridCol>
                <a:gridCol w="2242038">
                  <a:extLst>
                    <a:ext uri="{9D8B030D-6E8A-4147-A177-3AD203B41FA5}">
                      <a16:colId xmlns:a16="http://schemas.microsoft.com/office/drawing/2014/main" val="2345006838"/>
                    </a:ext>
                  </a:extLst>
                </a:gridCol>
                <a:gridCol w="1984134">
                  <a:extLst>
                    <a:ext uri="{9D8B030D-6E8A-4147-A177-3AD203B41FA5}">
                      <a16:colId xmlns:a16="http://schemas.microsoft.com/office/drawing/2014/main" val="2253297192"/>
                    </a:ext>
                  </a:extLst>
                </a:gridCol>
              </a:tblGrid>
              <a:tr h="226969">
                <a:tc>
                  <a:txBody>
                    <a:bodyPr/>
                    <a:lstStyle/>
                    <a:p>
                      <a:pPr algn="l" fontAlgn="b"/>
                      <a:r>
                        <a:rPr lang="en-IN" sz="1400" dirty="0">
                          <a:effectLst/>
                          <a:latin typeface="Arial" panose="020B0604020202020204" pitchFamily="34" charset="0"/>
                          <a:cs typeface="Arial" panose="020B0604020202020204" pitchFamily="34" charset="0"/>
                        </a:rPr>
                        <a:t>Feature</a:t>
                      </a:r>
                      <a:endParaRPr lang="en-IN" sz="1400" b="1" dirty="0">
                        <a:solidFill>
                          <a:srgbClr val="111827"/>
                        </a:solidFill>
                        <a:effectLst/>
                        <a:latin typeface="Arial" panose="020B0604020202020204" pitchFamily="34" charset="0"/>
                        <a:cs typeface="Arial" panose="020B0604020202020204" pitchFamily="34" charset="0"/>
                      </a:endParaRPr>
                    </a:p>
                  </a:txBody>
                  <a:tcPr anchor="b"/>
                </a:tc>
                <a:tc>
                  <a:txBody>
                    <a:bodyPr/>
                    <a:lstStyle/>
                    <a:p>
                      <a:pPr algn="l" fontAlgn="b"/>
                      <a:r>
                        <a:rPr lang="en-IN" sz="1400">
                          <a:effectLst/>
                          <a:latin typeface="Arial" panose="020B0604020202020204" pitchFamily="34" charset="0"/>
                          <a:cs typeface="Arial" panose="020B0604020202020204" pitchFamily="34" charset="0"/>
                        </a:rPr>
                        <a:t>Explanation</a:t>
                      </a:r>
                      <a:endParaRPr lang="en-IN" sz="1400" b="1">
                        <a:solidFill>
                          <a:srgbClr val="111827"/>
                        </a:solidFill>
                        <a:effectLst/>
                        <a:latin typeface="Arial" panose="020B0604020202020204" pitchFamily="34" charset="0"/>
                        <a:cs typeface="Arial" panose="020B0604020202020204" pitchFamily="34" charset="0"/>
                      </a:endParaRPr>
                    </a:p>
                  </a:txBody>
                  <a:tcPr anchor="b"/>
                </a:tc>
                <a:tc>
                  <a:txBody>
                    <a:bodyPr/>
                    <a:lstStyle/>
                    <a:p>
                      <a:pPr algn="l" fontAlgn="b"/>
                      <a:r>
                        <a:rPr lang="en-IN" sz="1400">
                          <a:effectLst/>
                          <a:latin typeface="Arial" panose="020B0604020202020204" pitchFamily="34" charset="0"/>
                          <a:cs typeface="Arial" panose="020B0604020202020204" pitchFamily="34" charset="0"/>
                        </a:rPr>
                        <a:t>Examples</a:t>
                      </a:r>
                      <a:endParaRPr lang="en-IN" sz="1400" b="1">
                        <a:solidFill>
                          <a:srgbClr val="111827"/>
                        </a:solidFill>
                        <a:effectLst/>
                        <a:latin typeface="Arial" panose="020B0604020202020204" pitchFamily="34" charset="0"/>
                        <a:cs typeface="Arial" panose="020B0604020202020204" pitchFamily="34" charset="0"/>
                      </a:endParaRPr>
                    </a:p>
                  </a:txBody>
                  <a:tcPr anchor="b"/>
                </a:tc>
                <a:tc>
                  <a:txBody>
                    <a:bodyPr/>
                    <a:lstStyle/>
                    <a:p>
                      <a:pPr algn="l" fontAlgn="b"/>
                      <a:r>
                        <a:rPr lang="en-IN" sz="1400">
                          <a:effectLst/>
                          <a:latin typeface="Arial" panose="020B0604020202020204" pitchFamily="34" charset="0"/>
                          <a:cs typeface="Arial" panose="020B0604020202020204" pitchFamily="34" charset="0"/>
                        </a:rPr>
                        <a:t>Who controls it</a:t>
                      </a:r>
                      <a:endParaRPr lang="en-IN" sz="1400" b="1">
                        <a:solidFill>
                          <a:srgbClr val="111827"/>
                        </a:solidFill>
                        <a:effectLst/>
                        <a:latin typeface="Arial" panose="020B0604020202020204" pitchFamily="34" charset="0"/>
                        <a:cs typeface="Arial" panose="020B0604020202020204" pitchFamily="34" charset="0"/>
                      </a:endParaRPr>
                    </a:p>
                  </a:txBody>
                  <a:tcPr anchor="b"/>
                </a:tc>
                <a:extLst>
                  <a:ext uri="{0D108BD9-81ED-4DB2-BD59-A6C34878D82A}">
                    <a16:rowId xmlns:a16="http://schemas.microsoft.com/office/drawing/2014/main" val="3397202512"/>
                  </a:ext>
                </a:extLst>
              </a:tr>
              <a:tr h="887243">
                <a:tc>
                  <a:txBody>
                    <a:bodyPr/>
                    <a:lstStyle/>
                    <a:p>
                      <a:pPr fontAlgn="auto"/>
                      <a:r>
                        <a:rPr lang="en-IN" sz="1400" dirty="0">
                          <a:effectLst/>
                          <a:latin typeface="Arial" panose="020B0604020202020204" pitchFamily="34" charset="0"/>
                          <a:cs typeface="Arial" panose="020B0604020202020204" pitchFamily="34" charset="0"/>
                        </a:rPr>
                        <a:t>Tools</a:t>
                      </a:r>
                    </a:p>
                  </a:txBody>
                  <a:tcPr anchor="ctr"/>
                </a:tc>
                <a:tc>
                  <a:txBody>
                    <a:bodyPr/>
                    <a:lstStyle/>
                    <a:p>
                      <a:pPr fontAlgn="auto"/>
                      <a:r>
                        <a:rPr lang="en-US" sz="1400" dirty="0">
                          <a:effectLst/>
                          <a:latin typeface="Arial" panose="020B0604020202020204" pitchFamily="34" charset="0"/>
                          <a:cs typeface="Arial" panose="020B0604020202020204" pitchFamily="34" charset="0"/>
                        </a:rPr>
                        <a:t>Functions that your LLM can actively call, and decides when to use them based on user requests. Tools can write to databases, call external APIs, modify files, or trigger other logic.</a:t>
                      </a:r>
                    </a:p>
                  </a:txBody>
                  <a:tcPr anchor="ctr"/>
                </a:tc>
                <a:tc>
                  <a:txBody>
                    <a:bodyPr/>
                    <a:lstStyle/>
                    <a:p>
                      <a:pPr fontAlgn="auto"/>
                      <a:r>
                        <a:rPr lang="en-US" sz="1400" dirty="0">
                          <a:effectLst/>
                          <a:latin typeface="Arial" panose="020B0604020202020204" pitchFamily="34" charset="0"/>
                          <a:cs typeface="Arial" panose="020B0604020202020204" pitchFamily="34" charset="0"/>
                        </a:rPr>
                        <a:t>Search flights</a:t>
                      </a:r>
                      <a:br>
                        <a:rPr lang="en-US" sz="1400" dirty="0">
                          <a:effectLst/>
                          <a:latin typeface="Arial" panose="020B0604020202020204" pitchFamily="34" charset="0"/>
                          <a:cs typeface="Arial" panose="020B0604020202020204" pitchFamily="34" charset="0"/>
                        </a:rPr>
                      </a:br>
                      <a:r>
                        <a:rPr lang="en-US" sz="1400" dirty="0">
                          <a:effectLst/>
                          <a:latin typeface="Arial" panose="020B0604020202020204" pitchFamily="34" charset="0"/>
                          <a:cs typeface="Arial" panose="020B0604020202020204" pitchFamily="34" charset="0"/>
                        </a:rPr>
                        <a:t>Send messages</a:t>
                      </a:r>
                      <a:br>
                        <a:rPr lang="en-US" sz="1400" dirty="0">
                          <a:effectLst/>
                          <a:latin typeface="Arial" panose="020B0604020202020204" pitchFamily="34" charset="0"/>
                          <a:cs typeface="Arial" panose="020B0604020202020204" pitchFamily="34" charset="0"/>
                        </a:rPr>
                      </a:br>
                      <a:r>
                        <a:rPr lang="en-US" sz="1400" dirty="0">
                          <a:effectLst/>
                          <a:latin typeface="Arial" panose="020B0604020202020204" pitchFamily="34" charset="0"/>
                          <a:cs typeface="Arial" panose="020B0604020202020204" pitchFamily="34" charset="0"/>
                        </a:rPr>
                        <a:t>Create calendar events</a:t>
                      </a:r>
                    </a:p>
                  </a:txBody>
                  <a:tcPr anchor="ctr"/>
                </a:tc>
                <a:tc>
                  <a:txBody>
                    <a:bodyPr/>
                    <a:lstStyle/>
                    <a:p>
                      <a:pPr fontAlgn="auto"/>
                      <a:r>
                        <a:rPr lang="en-IN" sz="1400" dirty="0">
                          <a:effectLst/>
                          <a:latin typeface="Arial" panose="020B0604020202020204" pitchFamily="34" charset="0"/>
                          <a:cs typeface="Arial" panose="020B0604020202020204" pitchFamily="34" charset="0"/>
                        </a:rPr>
                        <a:t>Model</a:t>
                      </a:r>
                    </a:p>
                  </a:txBody>
                  <a:tcPr anchor="ctr"/>
                </a:tc>
                <a:extLst>
                  <a:ext uri="{0D108BD9-81ED-4DB2-BD59-A6C34878D82A}">
                    <a16:rowId xmlns:a16="http://schemas.microsoft.com/office/drawing/2014/main" val="1913175838"/>
                  </a:ext>
                </a:extLst>
              </a:tr>
              <a:tr h="722175">
                <a:tc>
                  <a:txBody>
                    <a:bodyPr/>
                    <a:lstStyle/>
                    <a:p>
                      <a:pPr fontAlgn="auto"/>
                      <a:r>
                        <a:rPr lang="en-IN" sz="1400" dirty="0">
                          <a:effectLst/>
                          <a:latin typeface="Arial" panose="020B0604020202020204" pitchFamily="34" charset="0"/>
                          <a:cs typeface="Arial" panose="020B0604020202020204" pitchFamily="34" charset="0"/>
                        </a:rPr>
                        <a:t>Resources</a:t>
                      </a:r>
                    </a:p>
                  </a:txBody>
                  <a:tcPr anchor="ctr"/>
                </a:tc>
                <a:tc>
                  <a:txBody>
                    <a:bodyPr/>
                    <a:lstStyle/>
                    <a:p>
                      <a:pPr fontAlgn="auto"/>
                      <a:r>
                        <a:rPr lang="en-US" sz="1400" dirty="0">
                          <a:effectLst/>
                          <a:latin typeface="Arial" panose="020B0604020202020204" pitchFamily="34" charset="0"/>
                          <a:cs typeface="Arial" panose="020B0604020202020204" pitchFamily="34" charset="0"/>
                        </a:rPr>
                        <a:t>Passive data sources that provide read-only access to information for context, such as file contents, database schemas, or API documentation.</a:t>
                      </a:r>
                    </a:p>
                  </a:txBody>
                  <a:tcPr anchor="ctr"/>
                </a:tc>
                <a:tc>
                  <a:txBody>
                    <a:bodyPr/>
                    <a:lstStyle/>
                    <a:p>
                      <a:pPr fontAlgn="auto"/>
                      <a:r>
                        <a:rPr lang="en-US" sz="1400">
                          <a:effectLst/>
                          <a:latin typeface="Arial" panose="020B0604020202020204" pitchFamily="34" charset="0"/>
                          <a:cs typeface="Arial" panose="020B0604020202020204" pitchFamily="34" charset="0"/>
                        </a:rPr>
                        <a:t>Retrieve documents</a:t>
                      </a:r>
                      <a:br>
                        <a:rPr lang="en-US" sz="1400">
                          <a:effectLst/>
                          <a:latin typeface="Arial" panose="020B0604020202020204" pitchFamily="34" charset="0"/>
                          <a:cs typeface="Arial" panose="020B0604020202020204" pitchFamily="34" charset="0"/>
                        </a:rPr>
                      </a:br>
                      <a:r>
                        <a:rPr lang="en-US" sz="1400">
                          <a:effectLst/>
                          <a:latin typeface="Arial" panose="020B0604020202020204" pitchFamily="34" charset="0"/>
                          <a:cs typeface="Arial" panose="020B0604020202020204" pitchFamily="34" charset="0"/>
                        </a:rPr>
                        <a:t>Access knowledge bases</a:t>
                      </a:r>
                      <a:br>
                        <a:rPr lang="en-US" sz="1400">
                          <a:effectLst/>
                          <a:latin typeface="Arial" panose="020B0604020202020204" pitchFamily="34" charset="0"/>
                          <a:cs typeface="Arial" panose="020B0604020202020204" pitchFamily="34" charset="0"/>
                        </a:rPr>
                      </a:br>
                      <a:r>
                        <a:rPr lang="en-US" sz="1400">
                          <a:effectLst/>
                          <a:latin typeface="Arial" panose="020B0604020202020204" pitchFamily="34" charset="0"/>
                          <a:cs typeface="Arial" panose="020B0604020202020204" pitchFamily="34" charset="0"/>
                        </a:rPr>
                        <a:t>Read calendars</a:t>
                      </a:r>
                    </a:p>
                  </a:txBody>
                  <a:tcPr anchor="ctr"/>
                </a:tc>
                <a:tc>
                  <a:txBody>
                    <a:bodyPr/>
                    <a:lstStyle/>
                    <a:p>
                      <a:pPr fontAlgn="auto"/>
                      <a:r>
                        <a:rPr lang="en-IN" sz="1400" dirty="0">
                          <a:effectLst/>
                          <a:latin typeface="Arial" panose="020B0604020202020204" pitchFamily="34" charset="0"/>
                          <a:cs typeface="Arial" panose="020B0604020202020204" pitchFamily="34" charset="0"/>
                        </a:rPr>
                        <a:t>Application</a:t>
                      </a:r>
                    </a:p>
                  </a:txBody>
                  <a:tcPr anchor="ctr"/>
                </a:tc>
                <a:extLst>
                  <a:ext uri="{0D108BD9-81ED-4DB2-BD59-A6C34878D82A}">
                    <a16:rowId xmlns:a16="http://schemas.microsoft.com/office/drawing/2014/main" val="2144289198"/>
                  </a:ext>
                </a:extLst>
              </a:tr>
              <a:tr h="722175">
                <a:tc>
                  <a:txBody>
                    <a:bodyPr/>
                    <a:lstStyle/>
                    <a:p>
                      <a:pPr fontAlgn="auto"/>
                      <a:r>
                        <a:rPr lang="en-IN" sz="1400" dirty="0">
                          <a:effectLst/>
                          <a:latin typeface="Arial" panose="020B0604020202020204" pitchFamily="34" charset="0"/>
                          <a:cs typeface="Arial" panose="020B0604020202020204" pitchFamily="34" charset="0"/>
                        </a:rPr>
                        <a:t>Prompts</a:t>
                      </a:r>
                    </a:p>
                  </a:txBody>
                  <a:tcPr anchor="ctr"/>
                </a:tc>
                <a:tc>
                  <a:txBody>
                    <a:bodyPr/>
                    <a:lstStyle/>
                    <a:p>
                      <a:pPr fontAlgn="auto"/>
                      <a:r>
                        <a:rPr lang="en-US" sz="1400" dirty="0">
                          <a:effectLst/>
                          <a:latin typeface="Arial" panose="020B0604020202020204" pitchFamily="34" charset="0"/>
                          <a:cs typeface="Arial" panose="020B0604020202020204" pitchFamily="34" charset="0"/>
                        </a:rPr>
                        <a:t>Pre-built instruction templates that tell the model to work with specific tools and resources.</a:t>
                      </a:r>
                    </a:p>
                  </a:txBody>
                  <a:tcPr anchor="ctr"/>
                </a:tc>
                <a:tc>
                  <a:txBody>
                    <a:bodyPr/>
                    <a:lstStyle/>
                    <a:p>
                      <a:pPr fontAlgn="auto"/>
                      <a:r>
                        <a:rPr lang="en-US" sz="1400">
                          <a:effectLst/>
                          <a:latin typeface="Arial" panose="020B0604020202020204" pitchFamily="34" charset="0"/>
                          <a:cs typeface="Arial" panose="020B0604020202020204" pitchFamily="34" charset="0"/>
                        </a:rPr>
                        <a:t>Plan a vacation</a:t>
                      </a:r>
                      <a:br>
                        <a:rPr lang="en-US" sz="1400">
                          <a:effectLst/>
                          <a:latin typeface="Arial" panose="020B0604020202020204" pitchFamily="34" charset="0"/>
                          <a:cs typeface="Arial" panose="020B0604020202020204" pitchFamily="34" charset="0"/>
                        </a:rPr>
                      </a:br>
                      <a:r>
                        <a:rPr lang="en-US" sz="1400">
                          <a:effectLst/>
                          <a:latin typeface="Arial" panose="020B0604020202020204" pitchFamily="34" charset="0"/>
                          <a:cs typeface="Arial" panose="020B0604020202020204" pitchFamily="34" charset="0"/>
                        </a:rPr>
                        <a:t>Summarize my meetings</a:t>
                      </a:r>
                      <a:br>
                        <a:rPr lang="en-US" sz="1400">
                          <a:effectLst/>
                          <a:latin typeface="Arial" panose="020B0604020202020204" pitchFamily="34" charset="0"/>
                          <a:cs typeface="Arial" panose="020B0604020202020204" pitchFamily="34" charset="0"/>
                        </a:rPr>
                      </a:br>
                      <a:r>
                        <a:rPr lang="en-US" sz="1400">
                          <a:effectLst/>
                          <a:latin typeface="Arial" panose="020B0604020202020204" pitchFamily="34" charset="0"/>
                          <a:cs typeface="Arial" panose="020B0604020202020204" pitchFamily="34" charset="0"/>
                        </a:rPr>
                        <a:t>Draft an email</a:t>
                      </a:r>
                    </a:p>
                  </a:txBody>
                  <a:tcPr anchor="ctr"/>
                </a:tc>
                <a:tc>
                  <a:txBody>
                    <a:bodyPr/>
                    <a:lstStyle/>
                    <a:p>
                      <a:pPr fontAlgn="auto"/>
                      <a:r>
                        <a:rPr lang="en-IN" sz="1400" dirty="0">
                          <a:effectLst/>
                          <a:latin typeface="Arial" panose="020B0604020202020204" pitchFamily="34" charset="0"/>
                          <a:cs typeface="Arial" panose="020B0604020202020204" pitchFamily="34" charset="0"/>
                        </a:rPr>
                        <a:t>User</a:t>
                      </a:r>
                    </a:p>
                  </a:txBody>
                  <a:tcPr anchor="ctr"/>
                </a:tc>
                <a:extLst>
                  <a:ext uri="{0D108BD9-81ED-4DB2-BD59-A6C34878D82A}">
                    <a16:rowId xmlns:a16="http://schemas.microsoft.com/office/drawing/2014/main" val="1560142870"/>
                  </a:ext>
                </a:extLst>
              </a:tr>
            </a:tbl>
          </a:graphicData>
        </a:graphic>
      </p:graphicFrame>
      <p:sp>
        <p:nvSpPr>
          <p:cNvPr id="6" name="Rectangle 5"/>
          <p:cNvSpPr/>
          <p:nvPr/>
        </p:nvSpPr>
        <p:spPr>
          <a:xfrm>
            <a:off x="762000" y="1609261"/>
            <a:ext cx="8787765" cy="307777"/>
          </a:xfrm>
          <a:prstGeom prst="rect">
            <a:avLst/>
          </a:prstGeom>
        </p:spPr>
        <p:txBody>
          <a:bodyPr wrap="square">
            <a:spAutoFit/>
          </a:bodyPr>
          <a:lstStyle/>
          <a:p>
            <a:r>
              <a:rPr lang="en-US" sz="1400" dirty="0">
                <a:solidFill>
                  <a:srgbClr val="3E3E3E"/>
                </a:solidFill>
                <a:latin typeface="Arial" panose="020B0604020202020204" pitchFamily="34" charset="0"/>
                <a:cs typeface="Arial" panose="020B0604020202020204" pitchFamily="34" charset="0"/>
              </a:rPr>
              <a:t>Servers provide functionality through three building </a:t>
            </a:r>
            <a:r>
              <a:rPr lang="en-US" sz="1400" dirty="0" smtClean="0">
                <a:solidFill>
                  <a:srgbClr val="3E3E3E"/>
                </a:solidFill>
                <a:latin typeface="Arial" panose="020B0604020202020204" pitchFamily="34" charset="0"/>
                <a:cs typeface="Arial" panose="020B0604020202020204" pitchFamily="34" charset="0"/>
              </a:rPr>
              <a:t>blocks / primitives</a:t>
            </a:r>
            <a:endParaRPr lang="en-IN"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191235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ounded Rectangle 23"/>
          <p:cNvSpPr/>
          <p:nvPr/>
        </p:nvSpPr>
        <p:spPr>
          <a:xfrm>
            <a:off x="3309570" y="4192026"/>
            <a:ext cx="2549770" cy="255856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1400" b="1" dirty="0" smtClean="0">
                <a:latin typeface="Arial" panose="020B0604020202020204" pitchFamily="34" charset="0"/>
                <a:cs typeface="Arial" panose="020B0604020202020204" pitchFamily="34" charset="0"/>
              </a:rPr>
              <a:t>Host</a:t>
            </a:r>
            <a:endParaRPr lang="en-IN" sz="1400" b="1" dirty="0">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rmAutofit/>
          </a:bodyPr>
          <a:lstStyle/>
          <a:p>
            <a:pPr algn="ctr" fontAlgn="base"/>
            <a:r>
              <a:rPr lang="en-US" sz="3200" b="1" dirty="0" smtClean="0">
                <a:latin typeface="Arial" panose="020B0604020202020204" pitchFamily="34" charset="0"/>
                <a:cs typeface="Arial" panose="020B0604020202020204" pitchFamily="34" charset="0"/>
              </a:rPr>
              <a:t>MCP Server- </a:t>
            </a:r>
            <a:r>
              <a:rPr lang="en-US" sz="3200" b="1" dirty="0">
                <a:latin typeface="Arial" panose="020B0604020202020204" pitchFamily="34" charset="0"/>
                <a:cs typeface="Arial" panose="020B0604020202020204" pitchFamily="34" charset="0"/>
              </a:rPr>
              <a:t>Features</a:t>
            </a:r>
            <a:endParaRPr lang="en-IN" sz="3200" b="1" dirty="0">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450418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85750" indent="-285750" algn="l">
              <a:buFont typeface="Arial" panose="020B0604020202020204" pitchFamily="34" charset="0"/>
              <a:buChar char="•"/>
            </a:pPr>
            <a:endParaRPr lang="en-US" sz="11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659"/>
            <a:ext cx="18473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sp>
        <p:nvSpPr>
          <p:cNvPr id="7" name="Rectangle 1"/>
          <p:cNvSpPr>
            <a:spLocks noChangeArrowheads="1"/>
          </p:cNvSpPr>
          <p:nvPr/>
        </p:nvSpPr>
        <p:spPr bwMode="auto">
          <a:xfrm>
            <a:off x="0" y="18659"/>
            <a:ext cx="184731"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1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graphicFrame>
        <p:nvGraphicFramePr>
          <p:cNvPr id="9" name="Table 8"/>
          <p:cNvGraphicFramePr>
            <a:graphicFrameLocks noGrp="1"/>
          </p:cNvGraphicFramePr>
          <p:nvPr>
            <p:extLst>
              <p:ext uri="{D42A27DB-BD31-4B8C-83A1-F6EECF244321}">
                <p14:modId xmlns:p14="http://schemas.microsoft.com/office/powerpoint/2010/main" val="2603267496"/>
              </p:ext>
            </p:extLst>
          </p:nvPr>
        </p:nvGraphicFramePr>
        <p:xfrm>
          <a:off x="873711" y="1014922"/>
          <a:ext cx="10403889" cy="2743200"/>
        </p:xfrm>
        <a:graphic>
          <a:graphicData uri="http://schemas.openxmlformats.org/drawingml/2006/table">
            <a:tbl>
              <a:tblPr firstRow="1" bandRow="1">
                <a:tableStyleId>{073A0DAA-6AF3-43AB-8588-CEC1D06C72B9}</a:tableStyleId>
              </a:tblPr>
              <a:tblGrid>
                <a:gridCol w="3467963">
                  <a:extLst>
                    <a:ext uri="{9D8B030D-6E8A-4147-A177-3AD203B41FA5}">
                      <a16:colId xmlns:a16="http://schemas.microsoft.com/office/drawing/2014/main" val="2187794176"/>
                    </a:ext>
                  </a:extLst>
                </a:gridCol>
                <a:gridCol w="3467963">
                  <a:extLst>
                    <a:ext uri="{9D8B030D-6E8A-4147-A177-3AD203B41FA5}">
                      <a16:colId xmlns:a16="http://schemas.microsoft.com/office/drawing/2014/main" val="2859918908"/>
                    </a:ext>
                  </a:extLst>
                </a:gridCol>
                <a:gridCol w="3467963">
                  <a:extLst>
                    <a:ext uri="{9D8B030D-6E8A-4147-A177-3AD203B41FA5}">
                      <a16:colId xmlns:a16="http://schemas.microsoft.com/office/drawing/2014/main" val="1840236838"/>
                    </a:ext>
                  </a:extLst>
                </a:gridCol>
              </a:tblGrid>
              <a:tr h="154116">
                <a:tc>
                  <a:txBody>
                    <a:bodyPr/>
                    <a:lstStyle/>
                    <a:p>
                      <a:r>
                        <a:rPr lang="en-IN" sz="1400" dirty="0">
                          <a:latin typeface="Arial" panose="020B0604020202020204" pitchFamily="34" charset="0"/>
                          <a:cs typeface="Arial" panose="020B0604020202020204" pitchFamily="34" charset="0"/>
                        </a:rPr>
                        <a:t>Method</a:t>
                      </a:r>
                    </a:p>
                  </a:txBody>
                  <a:tcPr anchor="ctr"/>
                </a:tc>
                <a:tc>
                  <a:txBody>
                    <a:bodyPr/>
                    <a:lstStyle/>
                    <a:p>
                      <a:r>
                        <a:rPr lang="en-IN" sz="1400" dirty="0">
                          <a:latin typeface="Arial" panose="020B0604020202020204" pitchFamily="34" charset="0"/>
                          <a:cs typeface="Arial" panose="020B0604020202020204" pitchFamily="34" charset="0"/>
                        </a:rPr>
                        <a:t>Purpose</a:t>
                      </a:r>
                    </a:p>
                  </a:txBody>
                  <a:tcPr anchor="ctr"/>
                </a:tc>
                <a:tc>
                  <a:txBody>
                    <a:bodyPr/>
                    <a:lstStyle/>
                    <a:p>
                      <a:r>
                        <a:rPr lang="en-IN" sz="1400">
                          <a:latin typeface="Arial" panose="020B0604020202020204" pitchFamily="34" charset="0"/>
                          <a:cs typeface="Arial" panose="020B0604020202020204" pitchFamily="34" charset="0"/>
                        </a:rPr>
                        <a:t>Returns</a:t>
                      </a:r>
                    </a:p>
                  </a:txBody>
                  <a:tcPr anchor="ctr"/>
                </a:tc>
                <a:extLst>
                  <a:ext uri="{0D108BD9-81ED-4DB2-BD59-A6C34878D82A}">
                    <a16:rowId xmlns:a16="http://schemas.microsoft.com/office/drawing/2014/main" val="164172453"/>
                  </a:ext>
                </a:extLst>
              </a:tr>
              <a:tr h="261998">
                <a:tc>
                  <a:txBody>
                    <a:bodyPr/>
                    <a:lstStyle/>
                    <a:p>
                      <a:r>
                        <a:rPr lang="en-IN" sz="1400" dirty="0">
                          <a:latin typeface="Arial" panose="020B0604020202020204" pitchFamily="34" charset="0"/>
                          <a:cs typeface="Arial" panose="020B0604020202020204" pitchFamily="34" charset="0"/>
                        </a:rPr>
                        <a:t>tools/list</a:t>
                      </a:r>
                    </a:p>
                  </a:txBody>
                  <a:tcPr anchor="ctr"/>
                </a:tc>
                <a:tc>
                  <a:txBody>
                    <a:bodyPr/>
                    <a:lstStyle/>
                    <a:p>
                      <a:r>
                        <a:rPr lang="en-IN" sz="1400">
                          <a:latin typeface="Arial" panose="020B0604020202020204" pitchFamily="34" charset="0"/>
                          <a:cs typeface="Arial" panose="020B0604020202020204" pitchFamily="34" charset="0"/>
                        </a:rPr>
                        <a:t>Discover available tools</a:t>
                      </a:r>
                    </a:p>
                  </a:txBody>
                  <a:tcPr anchor="ctr"/>
                </a:tc>
                <a:tc>
                  <a:txBody>
                    <a:bodyPr/>
                    <a:lstStyle/>
                    <a:p>
                      <a:r>
                        <a:rPr lang="en-US" sz="1400">
                          <a:latin typeface="Arial" panose="020B0604020202020204" pitchFamily="34" charset="0"/>
                          <a:cs typeface="Arial" panose="020B0604020202020204" pitchFamily="34" charset="0"/>
                        </a:rPr>
                        <a:t>Array of tool definitions with schemas</a:t>
                      </a:r>
                    </a:p>
                  </a:txBody>
                  <a:tcPr anchor="ctr"/>
                </a:tc>
                <a:extLst>
                  <a:ext uri="{0D108BD9-81ED-4DB2-BD59-A6C34878D82A}">
                    <a16:rowId xmlns:a16="http://schemas.microsoft.com/office/drawing/2014/main" val="1115069614"/>
                  </a:ext>
                </a:extLst>
              </a:tr>
              <a:tr h="154116">
                <a:tc>
                  <a:txBody>
                    <a:bodyPr/>
                    <a:lstStyle/>
                    <a:p>
                      <a:r>
                        <a:rPr lang="en-IN" sz="1400" dirty="0">
                          <a:latin typeface="Arial" panose="020B0604020202020204" pitchFamily="34" charset="0"/>
                          <a:cs typeface="Arial" panose="020B0604020202020204" pitchFamily="34" charset="0"/>
                        </a:rPr>
                        <a:t>tools/call</a:t>
                      </a:r>
                    </a:p>
                  </a:txBody>
                  <a:tcPr anchor="ctr"/>
                </a:tc>
                <a:tc>
                  <a:txBody>
                    <a:bodyPr/>
                    <a:lstStyle/>
                    <a:p>
                      <a:r>
                        <a:rPr lang="en-IN" sz="1400">
                          <a:latin typeface="Arial" panose="020B0604020202020204" pitchFamily="34" charset="0"/>
                          <a:cs typeface="Arial" panose="020B0604020202020204" pitchFamily="34" charset="0"/>
                        </a:rPr>
                        <a:t>Execute a specific tool</a:t>
                      </a:r>
                    </a:p>
                  </a:txBody>
                  <a:tcPr anchor="ctr"/>
                </a:tc>
                <a:tc>
                  <a:txBody>
                    <a:bodyPr/>
                    <a:lstStyle/>
                    <a:p>
                      <a:r>
                        <a:rPr lang="en-IN" sz="1400">
                          <a:latin typeface="Arial" panose="020B0604020202020204" pitchFamily="34" charset="0"/>
                          <a:cs typeface="Arial" panose="020B0604020202020204" pitchFamily="34" charset="0"/>
                        </a:rPr>
                        <a:t>Tool execution result</a:t>
                      </a:r>
                    </a:p>
                  </a:txBody>
                  <a:tcPr anchor="ctr"/>
                </a:tc>
                <a:extLst>
                  <a:ext uri="{0D108BD9-81ED-4DB2-BD59-A6C34878D82A}">
                    <a16:rowId xmlns:a16="http://schemas.microsoft.com/office/drawing/2014/main" val="3308892971"/>
                  </a:ext>
                </a:extLst>
              </a:tr>
              <a:tr h="154116">
                <a:tc>
                  <a:txBody>
                    <a:bodyPr/>
                    <a:lstStyle/>
                    <a:p>
                      <a:r>
                        <a:rPr lang="en-IN" sz="1400" dirty="0">
                          <a:latin typeface="Arial" panose="020B0604020202020204" pitchFamily="34" charset="0"/>
                          <a:cs typeface="Arial" panose="020B0604020202020204" pitchFamily="34" charset="0"/>
                        </a:rPr>
                        <a:t>resources/list</a:t>
                      </a:r>
                    </a:p>
                  </a:txBody>
                  <a:tcPr anchor="ctr"/>
                </a:tc>
                <a:tc>
                  <a:txBody>
                    <a:bodyPr/>
                    <a:lstStyle/>
                    <a:p>
                      <a:r>
                        <a:rPr lang="en-IN" sz="1400">
                          <a:latin typeface="Arial" panose="020B0604020202020204" pitchFamily="34" charset="0"/>
                          <a:cs typeface="Arial" panose="020B0604020202020204" pitchFamily="34" charset="0"/>
                        </a:rPr>
                        <a:t>List available direct resources</a:t>
                      </a:r>
                    </a:p>
                  </a:txBody>
                  <a:tcPr anchor="ctr"/>
                </a:tc>
                <a:tc>
                  <a:txBody>
                    <a:bodyPr/>
                    <a:lstStyle/>
                    <a:p>
                      <a:r>
                        <a:rPr lang="en-IN" sz="1400">
                          <a:latin typeface="Arial" panose="020B0604020202020204" pitchFamily="34" charset="0"/>
                          <a:cs typeface="Arial" panose="020B0604020202020204" pitchFamily="34" charset="0"/>
                        </a:rPr>
                        <a:t>Array of resource descriptors</a:t>
                      </a:r>
                    </a:p>
                  </a:txBody>
                  <a:tcPr anchor="ctr"/>
                </a:tc>
                <a:extLst>
                  <a:ext uri="{0D108BD9-81ED-4DB2-BD59-A6C34878D82A}">
                    <a16:rowId xmlns:a16="http://schemas.microsoft.com/office/drawing/2014/main" val="3464248755"/>
                  </a:ext>
                </a:extLst>
              </a:tr>
              <a:tr h="261998">
                <a:tc>
                  <a:txBody>
                    <a:bodyPr/>
                    <a:lstStyle/>
                    <a:p>
                      <a:r>
                        <a:rPr lang="en-IN" sz="1400" dirty="0">
                          <a:latin typeface="Arial" panose="020B0604020202020204" pitchFamily="34" charset="0"/>
                          <a:cs typeface="Arial" panose="020B0604020202020204" pitchFamily="34" charset="0"/>
                        </a:rPr>
                        <a:t>resources/templates/list</a:t>
                      </a:r>
                    </a:p>
                  </a:txBody>
                  <a:tcPr anchor="ctr"/>
                </a:tc>
                <a:tc>
                  <a:txBody>
                    <a:bodyPr/>
                    <a:lstStyle/>
                    <a:p>
                      <a:r>
                        <a:rPr lang="en-IN" sz="1400">
                          <a:latin typeface="Arial" panose="020B0604020202020204" pitchFamily="34" charset="0"/>
                          <a:cs typeface="Arial" panose="020B0604020202020204" pitchFamily="34" charset="0"/>
                        </a:rPr>
                        <a:t>Discover resource templates</a:t>
                      </a:r>
                    </a:p>
                  </a:txBody>
                  <a:tcPr anchor="ctr"/>
                </a:tc>
                <a:tc>
                  <a:txBody>
                    <a:bodyPr/>
                    <a:lstStyle/>
                    <a:p>
                      <a:r>
                        <a:rPr lang="en-US" sz="1400">
                          <a:latin typeface="Arial" panose="020B0604020202020204" pitchFamily="34" charset="0"/>
                          <a:cs typeface="Arial" panose="020B0604020202020204" pitchFamily="34" charset="0"/>
                        </a:rPr>
                        <a:t>Array of resource template definitions</a:t>
                      </a:r>
                    </a:p>
                  </a:txBody>
                  <a:tcPr anchor="ctr"/>
                </a:tc>
                <a:extLst>
                  <a:ext uri="{0D108BD9-81ED-4DB2-BD59-A6C34878D82A}">
                    <a16:rowId xmlns:a16="http://schemas.microsoft.com/office/drawing/2014/main" val="2496767838"/>
                  </a:ext>
                </a:extLst>
              </a:tr>
              <a:tr h="154116">
                <a:tc>
                  <a:txBody>
                    <a:bodyPr/>
                    <a:lstStyle/>
                    <a:p>
                      <a:r>
                        <a:rPr lang="en-IN" sz="1400" dirty="0">
                          <a:latin typeface="Arial" panose="020B0604020202020204" pitchFamily="34" charset="0"/>
                          <a:cs typeface="Arial" panose="020B0604020202020204" pitchFamily="34" charset="0"/>
                        </a:rPr>
                        <a:t>resources/read</a:t>
                      </a:r>
                    </a:p>
                  </a:txBody>
                  <a:tcPr anchor="ctr"/>
                </a:tc>
                <a:tc>
                  <a:txBody>
                    <a:bodyPr/>
                    <a:lstStyle/>
                    <a:p>
                      <a:r>
                        <a:rPr lang="en-IN" sz="1400" dirty="0">
                          <a:latin typeface="Arial" panose="020B0604020202020204" pitchFamily="34" charset="0"/>
                          <a:cs typeface="Arial" panose="020B0604020202020204" pitchFamily="34" charset="0"/>
                        </a:rPr>
                        <a:t>Retrieve resource contents</a:t>
                      </a:r>
                    </a:p>
                  </a:txBody>
                  <a:tcPr anchor="ctr"/>
                </a:tc>
                <a:tc>
                  <a:txBody>
                    <a:bodyPr/>
                    <a:lstStyle/>
                    <a:p>
                      <a:r>
                        <a:rPr lang="en-IN" sz="1400">
                          <a:latin typeface="Arial" panose="020B0604020202020204" pitchFamily="34" charset="0"/>
                          <a:cs typeface="Arial" panose="020B0604020202020204" pitchFamily="34" charset="0"/>
                        </a:rPr>
                        <a:t>Resource data with metadata</a:t>
                      </a:r>
                    </a:p>
                  </a:txBody>
                  <a:tcPr anchor="ctr"/>
                </a:tc>
                <a:extLst>
                  <a:ext uri="{0D108BD9-81ED-4DB2-BD59-A6C34878D82A}">
                    <a16:rowId xmlns:a16="http://schemas.microsoft.com/office/drawing/2014/main" val="3107797913"/>
                  </a:ext>
                </a:extLst>
              </a:tr>
              <a:tr h="154116">
                <a:tc>
                  <a:txBody>
                    <a:bodyPr/>
                    <a:lstStyle/>
                    <a:p>
                      <a:r>
                        <a:rPr lang="en-IN" sz="1400" dirty="0">
                          <a:latin typeface="Arial" panose="020B0604020202020204" pitchFamily="34" charset="0"/>
                          <a:cs typeface="Arial" panose="020B0604020202020204" pitchFamily="34" charset="0"/>
                        </a:rPr>
                        <a:t>resources/subscribe</a:t>
                      </a:r>
                    </a:p>
                  </a:txBody>
                  <a:tcPr anchor="ctr"/>
                </a:tc>
                <a:tc>
                  <a:txBody>
                    <a:bodyPr/>
                    <a:lstStyle/>
                    <a:p>
                      <a:r>
                        <a:rPr lang="en-IN" sz="1400">
                          <a:latin typeface="Arial" panose="020B0604020202020204" pitchFamily="34" charset="0"/>
                          <a:cs typeface="Arial" panose="020B0604020202020204" pitchFamily="34" charset="0"/>
                        </a:rPr>
                        <a:t>Monitor resource changes</a:t>
                      </a:r>
                    </a:p>
                  </a:txBody>
                  <a:tcPr anchor="ctr"/>
                </a:tc>
                <a:tc>
                  <a:txBody>
                    <a:bodyPr/>
                    <a:lstStyle/>
                    <a:p>
                      <a:r>
                        <a:rPr lang="en-IN" sz="1400">
                          <a:latin typeface="Arial" panose="020B0604020202020204" pitchFamily="34" charset="0"/>
                          <a:cs typeface="Arial" panose="020B0604020202020204" pitchFamily="34" charset="0"/>
                        </a:rPr>
                        <a:t>Subscription confirmation</a:t>
                      </a:r>
                    </a:p>
                  </a:txBody>
                  <a:tcPr anchor="ctr"/>
                </a:tc>
                <a:extLst>
                  <a:ext uri="{0D108BD9-81ED-4DB2-BD59-A6C34878D82A}">
                    <a16:rowId xmlns:a16="http://schemas.microsoft.com/office/drawing/2014/main" val="457114653"/>
                  </a:ext>
                </a:extLst>
              </a:tr>
              <a:tr h="154116">
                <a:tc>
                  <a:txBody>
                    <a:bodyPr/>
                    <a:lstStyle/>
                    <a:p>
                      <a:r>
                        <a:rPr lang="en-IN" sz="1400" dirty="0">
                          <a:latin typeface="Arial" panose="020B0604020202020204" pitchFamily="34" charset="0"/>
                          <a:cs typeface="Arial" panose="020B0604020202020204" pitchFamily="34" charset="0"/>
                        </a:rPr>
                        <a:t>prompts/list</a:t>
                      </a:r>
                    </a:p>
                  </a:txBody>
                  <a:tcPr anchor="ctr"/>
                </a:tc>
                <a:tc>
                  <a:txBody>
                    <a:bodyPr/>
                    <a:lstStyle/>
                    <a:p>
                      <a:r>
                        <a:rPr lang="en-IN" sz="1400">
                          <a:latin typeface="Arial" panose="020B0604020202020204" pitchFamily="34" charset="0"/>
                          <a:cs typeface="Arial" panose="020B0604020202020204" pitchFamily="34" charset="0"/>
                        </a:rPr>
                        <a:t>Discover available prompts</a:t>
                      </a:r>
                    </a:p>
                  </a:txBody>
                  <a:tcPr anchor="ctr"/>
                </a:tc>
                <a:tc>
                  <a:txBody>
                    <a:bodyPr/>
                    <a:lstStyle/>
                    <a:p>
                      <a:r>
                        <a:rPr lang="en-IN" sz="1400">
                          <a:latin typeface="Arial" panose="020B0604020202020204" pitchFamily="34" charset="0"/>
                          <a:cs typeface="Arial" panose="020B0604020202020204" pitchFamily="34" charset="0"/>
                        </a:rPr>
                        <a:t>Array of prompt descriptors</a:t>
                      </a:r>
                    </a:p>
                  </a:txBody>
                  <a:tcPr anchor="ctr"/>
                </a:tc>
                <a:extLst>
                  <a:ext uri="{0D108BD9-81ED-4DB2-BD59-A6C34878D82A}">
                    <a16:rowId xmlns:a16="http://schemas.microsoft.com/office/drawing/2014/main" val="3620886832"/>
                  </a:ext>
                </a:extLst>
              </a:tr>
              <a:tr h="261998">
                <a:tc>
                  <a:txBody>
                    <a:bodyPr/>
                    <a:lstStyle/>
                    <a:p>
                      <a:r>
                        <a:rPr lang="en-IN" sz="1400" dirty="0">
                          <a:latin typeface="Arial" panose="020B0604020202020204" pitchFamily="34" charset="0"/>
                          <a:cs typeface="Arial" panose="020B0604020202020204" pitchFamily="34" charset="0"/>
                        </a:rPr>
                        <a:t>prompts/get</a:t>
                      </a:r>
                    </a:p>
                  </a:txBody>
                  <a:tcPr anchor="ctr"/>
                </a:tc>
                <a:tc>
                  <a:txBody>
                    <a:bodyPr/>
                    <a:lstStyle/>
                    <a:p>
                      <a:r>
                        <a:rPr lang="en-IN" sz="1400">
                          <a:latin typeface="Arial" panose="020B0604020202020204" pitchFamily="34" charset="0"/>
                          <a:cs typeface="Arial" panose="020B0604020202020204" pitchFamily="34" charset="0"/>
                        </a:rPr>
                        <a:t>Retrieve prompt details</a:t>
                      </a:r>
                    </a:p>
                  </a:txBody>
                  <a:tcPr anchor="ctr"/>
                </a:tc>
                <a:tc>
                  <a:txBody>
                    <a:bodyPr/>
                    <a:lstStyle/>
                    <a:p>
                      <a:r>
                        <a:rPr lang="en-US" sz="1400" dirty="0">
                          <a:latin typeface="Arial" panose="020B0604020202020204" pitchFamily="34" charset="0"/>
                          <a:cs typeface="Arial" panose="020B0604020202020204" pitchFamily="34" charset="0"/>
                        </a:rPr>
                        <a:t>Full prompt definition with arguments</a:t>
                      </a:r>
                    </a:p>
                  </a:txBody>
                  <a:tcPr anchor="ctr"/>
                </a:tc>
                <a:extLst>
                  <a:ext uri="{0D108BD9-81ED-4DB2-BD59-A6C34878D82A}">
                    <a16:rowId xmlns:a16="http://schemas.microsoft.com/office/drawing/2014/main" val="786015779"/>
                  </a:ext>
                </a:extLst>
              </a:tr>
            </a:tbl>
          </a:graphicData>
        </a:graphic>
      </p:graphicFrame>
      <p:sp>
        <p:nvSpPr>
          <p:cNvPr id="10" name="Rounded Rectangle 9"/>
          <p:cNvSpPr/>
          <p:nvPr/>
        </p:nvSpPr>
        <p:spPr>
          <a:xfrm>
            <a:off x="7209692" y="4167553"/>
            <a:ext cx="2549770" cy="255856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1400" b="1" dirty="0" smtClean="0">
                <a:latin typeface="Arial" panose="020B0604020202020204" pitchFamily="34" charset="0"/>
                <a:cs typeface="Arial" panose="020B0604020202020204" pitchFamily="34" charset="0"/>
              </a:rPr>
              <a:t>MCP server</a:t>
            </a:r>
            <a:endParaRPr lang="en-IN" sz="1400" b="1" dirty="0">
              <a:latin typeface="Arial" panose="020B0604020202020204" pitchFamily="34" charset="0"/>
              <a:cs typeface="Arial" panose="020B0604020202020204" pitchFamily="34" charset="0"/>
            </a:endParaRPr>
          </a:p>
        </p:txBody>
      </p:sp>
      <p:sp>
        <p:nvSpPr>
          <p:cNvPr id="11" name="Rounded Rectangle 10"/>
          <p:cNvSpPr/>
          <p:nvPr/>
        </p:nvSpPr>
        <p:spPr>
          <a:xfrm>
            <a:off x="8702187" y="4792753"/>
            <a:ext cx="738553" cy="46599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latin typeface="Arial" panose="020B0604020202020204" pitchFamily="34" charset="0"/>
                <a:cs typeface="Arial" panose="020B0604020202020204" pitchFamily="34" charset="0"/>
              </a:rPr>
              <a:t>/list</a:t>
            </a:r>
          </a:p>
          <a:p>
            <a:pPr algn="ctr"/>
            <a:r>
              <a:rPr lang="en-IN" sz="1400" dirty="0" smtClean="0">
                <a:latin typeface="Arial" panose="020B0604020202020204" pitchFamily="34" charset="0"/>
                <a:cs typeface="Arial" panose="020B0604020202020204" pitchFamily="34" charset="0"/>
              </a:rPr>
              <a:t>/call</a:t>
            </a:r>
            <a:endParaRPr lang="en-IN" sz="1400" dirty="0">
              <a:latin typeface="Arial" panose="020B0604020202020204" pitchFamily="34" charset="0"/>
              <a:cs typeface="Arial" panose="020B0604020202020204" pitchFamily="34" charset="0"/>
            </a:endParaRPr>
          </a:p>
        </p:txBody>
      </p:sp>
      <p:sp>
        <p:nvSpPr>
          <p:cNvPr id="14" name="Rounded Rectangle 13"/>
          <p:cNvSpPr/>
          <p:nvPr/>
        </p:nvSpPr>
        <p:spPr>
          <a:xfrm>
            <a:off x="7385538" y="4792753"/>
            <a:ext cx="1222131" cy="46599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latin typeface="Arial" panose="020B0604020202020204" pitchFamily="34" charset="0"/>
                <a:cs typeface="Arial" panose="020B0604020202020204" pitchFamily="34" charset="0"/>
              </a:rPr>
              <a:t>Tools</a:t>
            </a:r>
            <a:endParaRPr lang="en-IN" sz="1400" dirty="0">
              <a:latin typeface="Arial" panose="020B0604020202020204" pitchFamily="34" charset="0"/>
              <a:cs typeface="Arial" panose="020B0604020202020204" pitchFamily="34" charset="0"/>
            </a:endParaRPr>
          </a:p>
        </p:txBody>
      </p:sp>
      <p:sp>
        <p:nvSpPr>
          <p:cNvPr id="15" name="Rounded Rectangle 14"/>
          <p:cNvSpPr/>
          <p:nvPr/>
        </p:nvSpPr>
        <p:spPr>
          <a:xfrm>
            <a:off x="8741752" y="5407264"/>
            <a:ext cx="738553" cy="46599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latin typeface="Arial" panose="020B0604020202020204" pitchFamily="34" charset="0"/>
                <a:cs typeface="Arial" panose="020B0604020202020204" pitchFamily="34" charset="0"/>
              </a:rPr>
              <a:t>/list</a:t>
            </a:r>
          </a:p>
          <a:p>
            <a:pPr algn="ctr"/>
            <a:r>
              <a:rPr lang="en-IN" sz="1400" dirty="0" smtClean="0">
                <a:latin typeface="Arial" panose="020B0604020202020204" pitchFamily="34" charset="0"/>
                <a:cs typeface="Arial" panose="020B0604020202020204" pitchFamily="34" charset="0"/>
              </a:rPr>
              <a:t>/read</a:t>
            </a:r>
            <a:endParaRPr lang="en-IN" sz="1400" dirty="0">
              <a:latin typeface="Arial" panose="020B0604020202020204" pitchFamily="34" charset="0"/>
              <a:cs typeface="Arial" panose="020B0604020202020204" pitchFamily="34" charset="0"/>
            </a:endParaRPr>
          </a:p>
        </p:txBody>
      </p:sp>
      <p:sp>
        <p:nvSpPr>
          <p:cNvPr id="16" name="Rounded Rectangle 15"/>
          <p:cNvSpPr/>
          <p:nvPr/>
        </p:nvSpPr>
        <p:spPr>
          <a:xfrm>
            <a:off x="7447085" y="5407264"/>
            <a:ext cx="1160584" cy="46599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latin typeface="Arial" panose="020B0604020202020204" pitchFamily="34" charset="0"/>
                <a:cs typeface="Arial" panose="020B0604020202020204" pitchFamily="34" charset="0"/>
              </a:rPr>
              <a:t>Resources</a:t>
            </a:r>
            <a:endParaRPr lang="en-IN" sz="1400" dirty="0">
              <a:latin typeface="Arial" panose="020B0604020202020204" pitchFamily="34" charset="0"/>
              <a:cs typeface="Arial" panose="020B0604020202020204" pitchFamily="34" charset="0"/>
            </a:endParaRPr>
          </a:p>
        </p:txBody>
      </p:sp>
      <p:sp>
        <p:nvSpPr>
          <p:cNvPr id="17" name="Rounded Rectangle 16"/>
          <p:cNvSpPr/>
          <p:nvPr/>
        </p:nvSpPr>
        <p:spPr>
          <a:xfrm>
            <a:off x="8768126" y="6002682"/>
            <a:ext cx="738553" cy="46599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latin typeface="Arial" panose="020B0604020202020204" pitchFamily="34" charset="0"/>
                <a:cs typeface="Arial" panose="020B0604020202020204" pitchFamily="34" charset="0"/>
              </a:rPr>
              <a:t>/list</a:t>
            </a:r>
          </a:p>
          <a:p>
            <a:pPr algn="ctr"/>
            <a:r>
              <a:rPr lang="en-IN" sz="1400" dirty="0" smtClean="0">
                <a:latin typeface="Arial" panose="020B0604020202020204" pitchFamily="34" charset="0"/>
                <a:cs typeface="Arial" panose="020B0604020202020204" pitchFamily="34" charset="0"/>
              </a:rPr>
              <a:t>/get</a:t>
            </a:r>
            <a:endParaRPr lang="en-IN" sz="1400" dirty="0">
              <a:latin typeface="Arial" panose="020B0604020202020204" pitchFamily="34" charset="0"/>
              <a:cs typeface="Arial" panose="020B0604020202020204" pitchFamily="34" charset="0"/>
            </a:endParaRPr>
          </a:p>
        </p:txBody>
      </p:sp>
      <p:sp>
        <p:nvSpPr>
          <p:cNvPr id="18" name="Rounded Rectangle 17"/>
          <p:cNvSpPr/>
          <p:nvPr/>
        </p:nvSpPr>
        <p:spPr>
          <a:xfrm>
            <a:off x="7473459" y="6002682"/>
            <a:ext cx="1160584" cy="46599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latin typeface="Arial" panose="020B0604020202020204" pitchFamily="34" charset="0"/>
                <a:cs typeface="Arial" panose="020B0604020202020204" pitchFamily="34" charset="0"/>
              </a:rPr>
              <a:t>Prompts</a:t>
            </a:r>
            <a:endParaRPr lang="en-IN" sz="1400" dirty="0">
              <a:latin typeface="Arial" panose="020B0604020202020204" pitchFamily="34" charset="0"/>
              <a:cs typeface="Arial" panose="020B0604020202020204" pitchFamily="34" charset="0"/>
            </a:endParaRPr>
          </a:p>
        </p:txBody>
      </p:sp>
      <p:sp>
        <p:nvSpPr>
          <p:cNvPr id="19" name="Rounded Rectangle 18"/>
          <p:cNvSpPr/>
          <p:nvPr/>
        </p:nvSpPr>
        <p:spPr>
          <a:xfrm>
            <a:off x="3631223" y="5194868"/>
            <a:ext cx="1793631" cy="5514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latin typeface="Arial" panose="020B0604020202020204" pitchFamily="34" charset="0"/>
                <a:cs typeface="Arial" panose="020B0604020202020204" pitchFamily="34" charset="0"/>
              </a:rPr>
              <a:t>MCP Client</a:t>
            </a:r>
            <a:endParaRPr lang="en-IN" sz="1400" dirty="0">
              <a:latin typeface="Arial" panose="020B0604020202020204" pitchFamily="34" charset="0"/>
              <a:cs typeface="Arial" panose="020B0604020202020204" pitchFamily="34" charset="0"/>
            </a:endParaRPr>
          </a:p>
        </p:txBody>
      </p:sp>
      <p:sp>
        <p:nvSpPr>
          <p:cNvPr id="23" name="Rounded Rectangle 22"/>
          <p:cNvSpPr/>
          <p:nvPr/>
        </p:nvSpPr>
        <p:spPr>
          <a:xfrm>
            <a:off x="3701561" y="5907318"/>
            <a:ext cx="1793631" cy="551456"/>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dirty="0" smtClean="0">
                <a:latin typeface="Arial" panose="020B0604020202020204" pitchFamily="34" charset="0"/>
                <a:cs typeface="Arial" panose="020B0604020202020204" pitchFamily="34" charset="0"/>
              </a:rPr>
              <a:t>MCP Client</a:t>
            </a:r>
            <a:endParaRPr lang="en-IN" sz="1400" dirty="0">
              <a:latin typeface="Arial" panose="020B0604020202020204" pitchFamily="34" charset="0"/>
              <a:cs typeface="Arial" panose="020B0604020202020204" pitchFamily="34" charset="0"/>
            </a:endParaRPr>
          </a:p>
        </p:txBody>
      </p:sp>
      <p:cxnSp>
        <p:nvCxnSpPr>
          <p:cNvPr id="21" name="Straight Arrow Connector 20"/>
          <p:cNvCxnSpPr>
            <a:stCxn id="19" idx="3"/>
            <a:endCxn id="10" idx="1"/>
          </p:cNvCxnSpPr>
          <p:nvPr/>
        </p:nvCxnSpPr>
        <p:spPr>
          <a:xfrm flipV="1">
            <a:off x="5424854" y="5446834"/>
            <a:ext cx="1784838" cy="23762"/>
          </a:xfrm>
          <a:prstGeom prst="straightConnector1">
            <a:avLst/>
          </a:prstGeom>
          <a:ln>
            <a:solidFill>
              <a:schemeClr val="accent2"/>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9850062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rmAutofit/>
          </a:bodyPr>
          <a:lstStyle/>
          <a:p>
            <a:pPr algn="ctr" fontAlgn="base"/>
            <a:r>
              <a:rPr lang="en-IN" sz="3200" b="1" dirty="0" smtClean="0">
                <a:latin typeface="Arial" panose="020B0604020202020204" pitchFamily="34" charset="0"/>
                <a:cs typeface="Arial" panose="020B0604020202020204" pitchFamily="34" charset="0"/>
              </a:rPr>
              <a:t>MCP Layers</a:t>
            </a:r>
            <a:endParaRPr lang="en-IN" sz="3200" b="1" dirty="0">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7132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base"/>
            <a:endParaRPr lang="en-IN" sz="14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1"/>
          <p:cNvSpPr>
            <a:spLocks noChangeArrowheads="1"/>
          </p:cNvSpPr>
          <p:nvPr/>
        </p:nvSpPr>
        <p:spPr bwMode="auto">
          <a:xfrm>
            <a:off x="752474" y="968525"/>
            <a:ext cx="10858501"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400" b="1" dirty="0">
                <a:latin typeface="Arial" panose="020B0604020202020204" pitchFamily="34" charset="0"/>
                <a:cs typeface="Arial" panose="020B0604020202020204" pitchFamily="34" charset="0"/>
              </a:rPr>
              <a:t>MCP layers exist to communicate between the MCP Client and MCP Server.</a:t>
            </a:r>
            <a:endParaRPr lang="en-US" sz="1400" dirty="0">
              <a:latin typeface="Arial" panose="020B0604020202020204" pitchFamily="34" charset="0"/>
              <a:cs typeface="Arial" panose="020B0604020202020204" pitchFamily="34" charset="0"/>
            </a:endParaRPr>
          </a:p>
          <a:p>
            <a:endParaRPr lang="en-US" sz="1400" b="1"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Data layer</a:t>
            </a:r>
            <a:r>
              <a:rPr lang="en-US" sz="1400" dirty="0">
                <a:latin typeface="Arial" panose="020B0604020202020204" pitchFamily="34" charset="0"/>
                <a:cs typeface="Arial" panose="020B0604020202020204" pitchFamily="34" charset="0"/>
              </a:rPr>
              <a:t>: Defines the JSON-RPC based protocol for client-server communication, including lifecycle </a:t>
            </a:r>
            <a:r>
              <a:rPr lang="en-US" sz="1400" dirty="0" smtClean="0">
                <a:latin typeface="Arial" panose="020B0604020202020204" pitchFamily="34" charset="0"/>
                <a:cs typeface="Arial" panose="020B0604020202020204" pitchFamily="34" charset="0"/>
              </a:rPr>
              <a:t>management(initialize and notification), </a:t>
            </a:r>
            <a:r>
              <a:rPr lang="en-US" sz="1400" dirty="0">
                <a:latin typeface="Arial" panose="020B0604020202020204" pitchFamily="34" charset="0"/>
                <a:cs typeface="Arial" panose="020B0604020202020204" pitchFamily="34" charset="0"/>
              </a:rPr>
              <a:t>and core primitives, such as tools, resources, prompts and notifications</a:t>
            </a:r>
            <a:r>
              <a:rPr lang="en-US" sz="1400" dirty="0" smtClean="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Lifecycle management</a:t>
            </a:r>
            <a:r>
              <a:rPr lang="en-US" sz="1400" dirty="0">
                <a:latin typeface="Arial" panose="020B0604020202020204" pitchFamily="34" charset="0"/>
                <a:cs typeface="Arial" panose="020B0604020202020204" pitchFamily="34" charset="0"/>
              </a:rPr>
              <a:t>: Handles connection initialization, capability negotiation, and connection termination between clients and servers</a:t>
            </a:r>
          </a:p>
          <a:p>
            <a:pPr marL="742950" lvl="1"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Server features</a:t>
            </a:r>
            <a:r>
              <a:rPr lang="en-US" sz="1400" dirty="0">
                <a:latin typeface="Arial" panose="020B0604020202020204" pitchFamily="34" charset="0"/>
                <a:cs typeface="Arial" panose="020B0604020202020204" pitchFamily="34" charset="0"/>
              </a:rPr>
              <a:t>: Enables servers to provide core functionality including tools for AI actions, resources for context data, and prompts for interaction templates from and to the client</a:t>
            </a:r>
          </a:p>
          <a:p>
            <a:pPr marL="742950" lvl="1"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Client features</a:t>
            </a:r>
            <a:r>
              <a:rPr lang="en-US" sz="1400" dirty="0">
                <a:latin typeface="Arial" panose="020B0604020202020204" pitchFamily="34" charset="0"/>
                <a:cs typeface="Arial" panose="020B0604020202020204" pitchFamily="34" charset="0"/>
              </a:rPr>
              <a:t>: Enables servers to ask the client to sample from the host LLM, elicit input from the user, and log messages to the client</a:t>
            </a:r>
          </a:p>
          <a:p>
            <a:pPr marL="742950" lvl="1"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Utility features</a:t>
            </a:r>
            <a:r>
              <a:rPr lang="en-US" sz="1400" dirty="0">
                <a:latin typeface="Arial" panose="020B0604020202020204" pitchFamily="34" charset="0"/>
                <a:cs typeface="Arial" panose="020B0604020202020204" pitchFamily="34" charset="0"/>
              </a:rPr>
              <a:t>: Supports additional capabilities like notifications for real-time updates and progress tracking for long-running operations</a:t>
            </a:r>
          </a:p>
          <a:p>
            <a:pPr marL="742950" lvl="1"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US" sz="1400" b="1"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b="1" dirty="0" smtClean="0">
                <a:latin typeface="Arial" panose="020B0604020202020204" pitchFamily="34" charset="0"/>
                <a:cs typeface="Arial" panose="020B0604020202020204" pitchFamily="34" charset="0"/>
              </a:rPr>
              <a:t>Transport </a:t>
            </a:r>
            <a:r>
              <a:rPr lang="en-US" sz="1400" b="1" dirty="0">
                <a:latin typeface="Arial" panose="020B0604020202020204" pitchFamily="34" charset="0"/>
                <a:cs typeface="Arial" panose="020B0604020202020204" pitchFamily="34" charset="0"/>
              </a:rPr>
              <a:t>layer</a:t>
            </a:r>
            <a:r>
              <a:rPr lang="en-US" sz="1400" dirty="0">
                <a:latin typeface="Arial" panose="020B0604020202020204" pitchFamily="34" charset="0"/>
                <a:cs typeface="Arial" panose="020B0604020202020204" pitchFamily="34" charset="0"/>
              </a:rPr>
              <a:t>: Defines the communication mechanisms and channels that enable data exchange between clients and servers, including transport-specific connection establishment, message framing, and authorization.</a:t>
            </a:r>
          </a:p>
          <a:p>
            <a:endParaRPr lang="en-US" sz="1400" dirty="0" smtClean="0">
              <a:latin typeface="Arial" panose="020B0604020202020204" pitchFamily="34" charset="0"/>
              <a:cs typeface="Arial" panose="020B0604020202020204" pitchFamily="34" charset="0"/>
            </a:endParaRPr>
          </a:p>
          <a:p>
            <a:r>
              <a:rPr lang="en-US" sz="1400" dirty="0" smtClean="0">
                <a:latin typeface="Arial" panose="020B0604020202020204" pitchFamily="34" charset="0"/>
                <a:cs typeface="Arial" panose="020B0604020202020204" pitchFamily="34" charset="0"/>
              </a:rPr>
              <a:t>Conceptually </a:t>
            </a:r>
            <a:r>
              <a:rPr lang="en-US" sz="1400" dirty="0">
                <a:latin typeface="Arial" panose="020B0604020202020204" pitchFamily="34" charset="0"/>
                <a:cs typeface="Arial" panose="020B0604020202020204" pitchFamily="34" charset="0"/>
              </a:rPr>
              <a:t>the data layer is the inner layer, while the transport layer is the outer layer.</a:t>
            </a:r>
          </a:p>
        </p:txBody>
      </p:sp>
    </p:spTree>
    <p:extLst>
      <p:ext uri="{BB962C8B-B14F-4D97-AF65-F5344CB8AC3E}">
        <p14:creationId xmlns:p14="http://schemas.microsoft.com/office/powerpoint/2010/main" val="320613412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rmAutofit/>
          </a:bodyPr>
          <a:lstStyle/>
          <a:p>
            <a:pPr algn="ctr" fontAlgn="base"/>
            <a:r>
              <a:rPr lang="en-IN" sz="3200" b="1" dirty="0" smtClean="0">
                <a:latin typeface="Arial" panose="020B0604020202020204" pitchFamily="34" charset="0"/>
                <a:cs typeface="Arial" panose="020B0604020202020204" pitchFamily="34" charset="0"/>
              </a:rPr>
              <a:t>Data Layer</a:t>
            </a:r>
            <a:endParaRPr lang="en-IN" sz="3200" b="1" dirty="0">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7132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base"/>
            <a:endParaRPr lang="en-IN" sz="14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5"/>
          <p:cNvSpPr/>
          <p:nvPr/>
        </p:nvSpPr>
        <p:spPr>
          <a:xfrm>
            <a:off x="6752493" y="2122142"/>
            <a:ext cx="4858481" cy="4693593"/>
          </a:xfrm>
          <a:prstGeom prst="rect">
            <a:avLst/>
          </a:prstGeom>
        </p:spPr>
        <p:txBody>
          <a:bodyPr wrap="square">
            <a:spAutoFit/>
          </a:bodyPr>
          <a:lstStyle/>
          <a:p>
            <a:r>
              <a:rPr lang="en-IN" sz="1300" dirty="0">
                <a:latin typeface="Arial" panose="020B0604020202020204" pitchFamily="34" charset="0"/>
                <a:cs typeface="Arial" panose="020B0604020202020204" pitchFamily="34" charset="0"/>
              </a:rPr>
              <a:t>{</a:t>
            </a:r>
          </a:p>
          <a:p>
            <a:r>
              <a:rPr lang="en-IN" sz="1300" dirty="0">
                <a:latin typeface="Arial" panose="020B0604020202020204" pitchFamily="34" charset="0"/>
                <a:cs typeface="Arial" panose="020B0604020202020204" pitchFamily="34" charset="0"/>
              </a:rPr>
              <a:t>  "</a:t>
            </a:r>
            <a:r>
              <a:rPr lang="en-IN" sz="1300" dirty="0" err="1">
                <a:latin typeface="Arial" panose="020B0604020202020204" pitchFamily="34" charset="0"/>
                <a:cs typeface="Arial" panose="020B0604020202020204" pitchFamily="34" charset="0"/>
              </a:rPr>
              <a:t>jsonrpc</a:t>
            </a:r>
            <a:r>
              <a:rPr lang="en-IN" sz="1300" dirty="0">
                <a:latin typeface="Arial" panose="020B0604020202020204" pitchFamily="34" charset="0"/>
                <a:cs typeface="Arial" panose="020B0604020202020204" pitchFamily="34" charset="0"/>
              </a:rPr>
              <a:t>": "2.0",</a:t>
            </a:r>
          </a:p>
          <a:p>
            <a:r>
              <a:rPr lang="en-IN" sz="1300" dirty="0">
                <a:latin typeface="Arial" panose="020B0604020202020204" pitchFamily="34" charset="0"/>
                <a:cs typeface="Arial" panose="020B0604020202020204" pitchFamily="34" charset="0"/>
              </a:rPr>
              <a:t>  "id": 2,</a:t>
            </a:r>
          </a:p>
          <a:p>
            <a:r>
              <a:rPr lang="en-IN" sz="1300" dirty="0">
                <a:latin typeface="Arial" panose="020B0604020202020204" pitchFamily="34" charset="0"/>
                <a:cs typeface="Arial" panose="020B0604020202020204" pitchFamily="34" charset="0"/>
              </a:rPr>
              <a:t>  "result": {</a:t>
            </a:r>
          </a:p>
          <a:p>
            <a:r>
              <a:rPr lang="en-IN" sz="1300" dirty="0">
                <a:latin typeface="Arial" panose="020B0604020202020204" pitchFamily="34" charset="0"/>
                <a:cs typeface="Arial" panose="020B0604020202020204" pitchFamily="34" charset="0"/>
              </a:rPr>
              <a:t>    "tools": [</a:t>
            </a:r>
          </a:p>
          <a:p>
            <a:r>
              <a:rPr lang="en-IN" sz="1300" dirty="0">
                <a:latin typeface="Arial" panose="020B0604020202020204" pitchFamily="34" charset="0"/>
                <a:cs typeface="Arial" panose="020B0604020202020204" pitchFamily="34" charset="0"/>
              </a:rPr>
              <a:t>      {</a:t>
            </a:r>
          </a:p>
          <a:p>
            <a:r>
              <a:rPr lang="en-IN" sz="1300" dirty="0">
                <a:latin typeface="Arial" panose="020B0604020202020204" pitchFamily="34" charset="0"/>
                <a:cs typeface="Arial" panose="020B0604020202020204" pitchFamily="34" charset="0"/>
              </a:rPr>
              <a:t>        "name": "</a:t>
            </a:r>
            <a:r>
              <a:rPr lang="en-IN" sz="1300" dirty="0" err="1">
                <a:latin typeface="Arial" panose="020B0604020202020204" pitchFamily="34" charset="0"/>
                <a:cs typeface="Arial" panose="020B0604020202020204" pitchFamily="34" charset="0"/>
              </a:rPr>
              <a:t>calculator_arithmetic</a:t>
            </a:r>
            <a:r>
              <a:rPr lang="en-IN" sz="1300" dirty="0">
                <a:latin typeface="Arial" panose="020B0604020202020204" pitchFamily="34" charset="0"/>
                <a:cs typeface="Arial" panose="020B0604020202020204" pitchFamily="34" charset="0"/>
              </a:rPr>
              <a:t>",</a:t>
            </a:r>
          </a:p>
          <a:p>
            <a:r>
              <a:rPr lang="en-IN" sz="1300" dirty="0">
                <a:latin typeface="Arial" panose="020B0604020202020204" pitchFamily="34" charset="0"/>
                <a:cs typeface="Arial" panose="020B0604020202020204" pitchFamily="34" charset="0"/>
              </a:rPr>
              <a:t>        "title": "Calculator",</a:t>
            </a:r>
          </a:p>
          <a:p>
            <a:r>
              <a:rPr lang="en-IN" sz="1300" dirty="0">
                <a:latin typeface="Arial" panose="020B0604020202020204" pitchFamily="34" charset="0"/>
                <a:cs typeface="Arial" panose="020B0604020202020204" pitchFamily="34" charset="0"/>
              </a:rPr>
              <a:t>        "description": "Perform mathematical calculations",</a:t>
            </a:r>
          </a:p>
          <a:p>
            <a:r>
              <a:rPr lang="en-IN" sz="1300" dirty="0">
                <a:latin typeface="Arial" panose="020B0604020202020204" pitchFamily="34" charset="0"/>
                <a:cs typeface="Arial" panose="020B0604020202020204" pitchFamily="34" charset="0"/>
              </a:rPr>
              <a:t>        "</a:t>
            </a:r>
            <a:r>
              <a:rPr lang="en-IN" sz="1300" dirty="0" err="1">
                <a:latin typeface="Arial" panose="020B0604020202020204" pitchFamily="34" charset="0"/>
                <a:cs typeface="Arial" panose="020B0604020202020204" pitchFamily="34" charset="0"/>
              </a:rPr>
              <a:t>inputSchema</a:t>
            </a:r>
            <a:r>
              <a:rPr lang="en-IN" sz="1300" dirty="0">
                <a:latin typeface="Arial" panose="020B0604020202020204" pitchFamily="34" charset="0"/>
                <a:cs typeface="Arial" panose="020B0604020202020204" pitchFamily="34" charset="0"/>
              </a:rPr>
              <a:t>": {</a:t>
            </a:r>
          </a:p>
          <a:p>
            <a:r>
              <a:rPr lang="en-IN" sz="1300" dirty="0">
                <a:latin typeface="Arial" panose="020B0604020202020204" pitchFamily="34" charset="0"/>
                <a:cs typeface="Arial" panose="020B0604020202020204" pitchFamily="34" charset="0"/>
              </a:rPr>
              <a:t>          "type": "object",</a:t>
            </a:r>
          </a:p>
          <a:p>
            <a:r>
              <a:rPr lang="en-IN" sz="1300" dirty="0">
                <a:latin typeface="Arial" panose="020B0604020202020204" pitchFamily="34" charset="0"/>
                <a:cs typeface="Arial" panose="020B0604020202020204" pitchFamily="34" charset="0"/>
              </a:rPr>
              <a:t>          "properties": {</a:t>
            </a:r>
          </a:p>
          <a:p>
            <a:r>
              <a:rPr lang="en-IN" sz="1300" dirty="0">
                <a:latin typeface="Arial" panose="020B0604020202020204" pitchFamily="34" charset="0"/>
                <a:cs typeface="Arial" panose="020B0604020202020204" pitchFamily="34" charset="0"/>
              </a:rPr>
              <a:t>            "expression": {</a:t>
            </a:r>
          </a:p>
          <a:p>
            <a:r>
              <a:rPr lang="en-IN" sz="1300" dirty="0">
                <a:latin typeface="Arial" panose="020B0604020202020204" pitchFamily="34" charset="0"/>
                <a:cs typeface="Arial" panose="020B0604020202020204" pitchFamily="34" charset="0"/>
              </a:rPr>
              <a:t>              "type": "string",</a:t>
            </a:r>
          </a:p>
          <a:p>
            <a:r>
              <a:rPr lang="en-IN" sz="1300" dirty="0">
                <a:latin typeface="Arial" panose="020B0604020202020204" pitchFamily="34" charset="0"/>
                <a:cs typeface="Arial" panose="020B0604020202020204" pitchFamily="34" charset="0"/>
              </a:rPr>
              <a:t>              "description": "Mathematical expression to evaluate"</a:t>
            </a:r>
          </a:p>
          <a:p>
            <a:r>
              <a:rPr lang="en-IN" sz="1300" dirty="0">
                <a:latin typeface="Arial" panose="020B0604020202020204" pitchFamily="34" charset="0"/>
                <a:cs typeface="Arial" panose="020B0604020202020204" pitchFamily="34" charset="0"/>
              </a:rPr>
              <a:t>            }</a:t>
            </a:r>
          </a:p>
          <a:p>
            <a:r>
              <a:rPr lang="en-IN" sz="1300" dirty="0">
                <a:latin typeface="Arial" panose="020B0604020202020204" pitchFamily="34" charset="0"/>
                <a:cs typeface="Arial" panose="020B0604020202020204" pitchFamily="34" charset="0"/>
              </a:rPr>
              <a:t>          },</a:t>
            </a:r>
          </a:p>
          <a:p>
            <a:r>
              <a:rPr lang="en-IN" sz="1300" dirty="0">
                <a:latin typeface="Arial" panose="020B0604020202020204" pitchFamily="34" charset="0"/>
                <a:cs typeface="Arial" panose="020B0604020202020204" pitchFamily="34" charset="0"/>
              </a:rPr>
              <a:t>          "required": ["expression"]</a:t>
            </a:r>
          </a:p>
          <a:p>
            <a:r>
              <a:rPr lang="en-IN" sz="1300" dirty="0">
                <a:latin typeface="Arial" panose="020B0604020202020204" pitchFamily="34" charset="0"/>
                <a:cs typeface="Arial" panose="020B0604020202020204" pitchFamily="34" charset="0"/>
              </a:rPr>
              <a:t>        }</a:t>
            </a:r>
          </a:p>
          <a:p>
            <a:r>
              <a:rPr lang="en-IN" sz="1300" dirty="0">
                <a:latin typeface="Arial" panose="020B0604020202020204" pitchFamily="34" charset="0"/>
                <a:cs typeface="Arial" panose="020B0604020202020204" pitchFamily="34" charset="0"/>
              </a:rPr>
              <a:t>      }</a:t>
            </a:r>
          </a:p>
          <a:p>
            <a:r>
              <a:rPr lang="en-IN" sz="1300" dirty="0">
                <a:latin typeface="Arial" panose="020B0604020202020204" pitchFamily="34" charset="0"/>
                <a:cs typeface="Arial" panose="020B0604020202020204" pitchFamily="34" charset="0"/>
              </a:rPr>
              <a:t>    ]</a:t>
            </a:r>
          </a:p>
          <a:p>
            <a:r>
              <a:rPr lang="en-IN" sz="1300" dirty="0">
                <a:latin typeface="Arial" panose="020B0604020202020204" pitchFamily="34" charset="0"/>
                <a:cs typeface="Arial" panose="020B0604020202020204" pitchFamily="34" charset="0"/>
              </a:rPr>
              <a:t>  }</a:t>
            </a:r>
          </a:p>
          <a:p>
            <a:r>
              <a:rPr lang="en-IN" sz="1300" dirty="0">
                <a:latin typeface="Arial" panose="020B0604020202020204" pitchFamily="34" charset="0"/>
                <a:cs typeface="Arial" panose="020B0604020202020204" pitchFamily="34" charset="0"/>
              </a:rPr>
              <a:t>}</a:t>
            </a:r>
          </a:p>
        </p:txBody>
      </p:sp>
      <p:sp>
        <p:nvSpPr>
          <p:cNvPr id="8" name="Rectangle 7"/>
          <p:cNvSpPr/>
          <p:nvPr/>
        </p:nvSpPr>
        <p:spPr>
          <a:xfrm>
            <a:off x="1852246" y="2805662"/>
            <a:ext cx="2429607" cy="1169551"/>
          </a:xfrm>
          <a:prstGeom prst="rect">
            <a:avLst/>
          </a:prstGeom>
        </p:spPr>
        <p:txBody>
          <a:bodyPr wrap="square">
            <a:spAutoFit/>
          </a:bodyPr>
          <a:lstStyle/>
          <a:p>
            <a:r>
              <a:rPr lang="en-US" sz="1400" dirty="0">
                <a:latin typeface="Arial" panose="020B0604020202020204" pitchFamily="34" charset="0"/>
                <a:cs typeface="Arial" panose="020B0604020202020204" pitchFamily="34" charset="0"/>
              </a:rPr>
              <a:t>{</a:t>
            </a:r>
          </a:p>
          <a:p>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jsonrpc</a:t>
            </a:r>
            <a:r>
              <a:rPr lang="en-US" sz="1400" dirty="0">
                <a:latin typeface="Arial" panose="020B0604020202020204" pitchFamily="34" charset="0"/>
                <a:cs typeface="Arial" panose="020B0604020202020204" pitchFamily="34" charset="0"/>
              </a:rPr>
              <a:t>": "2.0",</a:t>
            </a:r>
          </a:p>
          <a:p>
            <a:r>
              <a:rPr lang="en-US" sz="1400" dirty="0">
                <a:latin typeface="Arial" panose="020B0604020202020204" pitchFamily="34" charset="0"/>
                <a:cs typeface="Arial" panose="020B0604020202020204" pitchFamily="34" charset="0"/>
              </a:rPr>
              <a:t>  "id": 2,</a:t>
            </a:r>
          </a:p>
          <a:p>
            <a:r>
              <a:rPr lang="en-US" sz="1400" dirty="0">
                <a:latin typeface="Arial" panose="020B0604020202020204" pitchFamily="34" charset="0"/>
                <a:cs typeface="Arial" panose="020B0604020202020204" pitchFamily="34" charset="0"/>
              </a:rPr>
              <a:t>  "method": "tools/list"</a:t>
            </a:r>
          </a:p>
          <a:p>
            <a:r>
              <a:rPr lang="en-US" sz="1400" dirty="0">
                <a:latin typeface="Arial" panose="020B0604020202020204" pitchFamily="34" charset="0"/>
                <a:cs typeface="Arial" panose="020B0604020202020204" pitchFamily="34" charset="0"/>
              </a:rPr>
              <a:t>}</a:t>
            </a:r>
          </a:p>
        </p:txBody>
      </p:sp>
      <p:sp>
        <p:nvSpPr>
          <p:cNvPr id="9" name="Rectangle 8"/>
          <p:cNvSpPr/>
          <p:nvPr/>
        </p:nvSpPr>
        <p:spPr>
          <a:xfrm>
            <a:off x="925389" y="927369"/>
            <a:ext cx="10685585" cy="523220"/>
          </a:xfrm>
          <a:prstGeom prst="rect">
            <a:avLst/>
          </a:prstGeom>
        </p:spPr>
        <p:txBody>
          <a:bodyPr wrap="square">
            <a:spAutoFit/>
          </a:bodyPr>
          <a:lstStyle/>
          <a:p>
            <a:r>
              <a:rPr lang="en-US" sz="1400" dirty="0">
                <a:latin typeface="Arial" panose="020B0604020202020204" pitchFamily="34" charset="0"/>
                <a:cs typeface="Arial" panose="020B0604020202020204" pitchFamily="34" charset="0"/>
              </a:rPr>
              <a:t>The data layer implements a </a:t>
            </a:r>
            <a:r>
              <a:rPr lang="en-US" sz="1400" b="1" dirty="0">
                <a:latin typeface="Arial" panose="020B0604020202020204" pitchFamily="34" charset="0"/>
                <a:cs typeface="Arial" panose="020B0604020202020204" pitchFamily="34" charset="0"/>
                <a:hlinkClick r:id="rId2"/>
              </a:rPr>
              <a:t>JSON-RPC 2.0</a:t>
            </a:r>
            <a:r>
              <a:rPr lang="en-US" sz="1400" dirty="0">
                <a:latin typeface="Arial" panose="020B0604020202020204" pitchFamily="34" charset="0"/>
                <a:cs typeface="Arial" panose="020B0604020202020204" pitchFamily="34" charset="0"/>
              </a:rPr>
              <a:t> based exchange protocol that defines the message structure and semantics</a:t>
            </a:r>
            <a:r>
              <a:rPr lang="en-US" sz="1400" dirty="0" smtClean="0">
                <a:latin typeface="Arial" panose="020B0604020202020204" pitchFamily="34" charset="0"/>
                <a:cs typeface="Arial" panose="020B0604020202020204" pitchFamily="34" charset="0"/>
              </a:rPr>
              <a:t>. </a:t>
            </a:r>
          </a:p>
          <a:p>
            <a:r>
              <a:rPr lang="en-US" sz="1400" dirty="0" smtClean="0">
                <a:latin typeface="Arial" panose="020B0604020202020204" pitchFamily="34" charset="0"/>
                <a:cs typeface="Arial" panose="020B0604020202020204" pitchFamily="34" charset="0"/>
              </a:rPr>
              <a:t>Supports bi-directional communication</a:t>
            </a:r>
            <a:r>
              <a:rPr lang="en-US" sz="1400" dirty="0">
                <a:latin typeface="Arial" panose="020B0604020202020204" pitchFamily="34" charset="0"/>
                <a:cs typeface="Arial" panose="020B0604020202020204" pitchFamily="34" charset="0"/>
              </a:rPr>
              <a:t> </a:t>
            </a:r>
            <a:endParaRPr lang="en-US" sz="1400" dirty="0" smtClean="0">
              <a:latin typeface="Arial" panose="020B0604020202020204" pitchFamily="34" charset="0"/>
              <a:cs typeface="Arial" panose="020B0604020202020204" pitchFamily="34" charset="0"/>
            </a:endParaRPr>
          </a:p>
        </p:txBody>
      </p:sp>
      <p:sp>
        <p:nvSpPr>
          <p:cNvPr id="10" name="Rectangle 9"/>
          <p:cNvSpPr/>
          <p:nvPr/>
        </p:nvSpPr>
        <p:spPr>
          <a:xfrm>
            <a:off x="6630325" y="1663690"/>
            <a:ext cx="2792046" cy="307777"/>
          </a:xfrm>
          <a:prstGeom prst="rect">
            <a:avLst/>
          </a:prstGeom>
        </p:spPr>
        <p:txBody>
          <a:bodyPr wrap="none">
            <a:spAutoFit/>
          </a:bodyPr>
          <a:lstStyle/>
          <a:p>
            <a:r>
              <a:rPr lang="en-US" sz="1400" dirty="0" smtClean="0">
                <a:latin typeface="Arial" panose="020B0604020202020204" pitchFamily="34" charset="0"/>
                <a:cs typeface="Arial" panose="020B0604020202020204" pitchFamily="34" charset="0"/>
              </a:rPr>
              <a:t>JSON RPC - Tools list Response</a:t>
            </a:r>
            <a:endParaRPr lang="en-US" sz="1400" dirty="0">
              <a:latin typeface="Arial" panose="020B0604020202020204" pitchFamily="34" charset="0"/>
              <a:cs typeface="Arial" panose="020B0604020202020204" pitchFamily="34" charset="0"/>
            </a:endParaRPr>
          </a:p>
        </p:txBody>
      </p:sp>
      <p:sp>
        <p:nvSpPr>
          <p:cNvPr id="11" name="Rectangle 10"/>
          <p:cNvSpPr/>
          <p:nvPr/>
        </p:nvSpPr>
        <p:spPr>
          <a:xfrm>
            <a:off x="1700772" y="2436330"/>
            <a:ext cx="2711896" cy="307777"/>
          </a:xfrm>
          <a:prstGeom prst="rect">
            <a:avLst/>
          </a:prstGeom>
        </p:spPr>
        <p:txBody>
          <a:bodyPr wrap="none">
            <a:spAutoFit/>
          </a:bodyPr>
          <a:lstStyle/>
          <a:p>
            <a:r>
              <a:rPr lang="en-US" sz="1400" dirty="0" smtClean="0">
                <a:latin typeface="Arial" panose="020B0604020202020204" pitchFamily="34" charset="0"/>
                <a:cs typeface="Arial" panose="020B0604020202020204" pitchFamily="34" charset="0"/>
              </a:rPr>
              <a:t>JSON-RPC - Tools list Request </a:t>
            </a:r>
            <a:endParaRPr lang="en-US"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9997337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762000" y="158194"/>
            <a:ext cx="10515600" cy="595418"/>
          </a:xfrm>
        </p:spPr>
        <p:txBody>
          <a:bodyPr>
            <a:normAutofit/>
          </a:bodyPr>
          <a:lstStyle/>
          <a:p>
            <a:pPr algn="ctr" fontAlgn="base"/>
            <a:r>
              <a:rPr lang="en-IN" sz="3200" b="1" dirty="0" smtClean="0">
                <a:latin typeface="Arial" panose="020B0604020202020204" pitchFamily="34" charset="0"/>
                <a:cs typeface="Arial" panose="020B0604020202020204" pitchFamily="34" charset="0"/>
              </a:rPr>
              <a:t>Transport Layer</a:t>
            </a:r>
            <a:endParaRPr lang="en-IN" sz="3200" b="1" dirty="0">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7132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base"/>
            <a:endParaRPr lang="en-IN" sz="14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8"/>
          <p:cNvSpPr/>
          <p:nvPr/>
        </p:nvSpPr>
        <p:spPr>
          <a:xfrm>
            <a:off x="925389" y="927369"/>
            <a:ext cx="10685585" cy="3539430"/>
          </a:xfrm>
          <a:prstGeom prst="rect">
            <a:avLst/>
          </a:prstGeom>
        </p:spPr>
        <p:txBody>
          <a:bodyPr wrap="square">
            <a:spAutoFit/>
          </a:bodyPr>
          <a:lstStyle/>
          <a:p>
            <a:r>
              <a:rPr lang="en-US" sz="1400" dirty="0">
                <a:latin typeface="Arial" panose="020B0604020202020204" pitchFamily="34" charset="0"/>
                <a:cs typeface="Arial" panose="020B0604020202020204" pitchFamily="34" charset="0"/>
              </a:rPr>
              <a:t>MCP supports two transport mechanisms</a:t>
            </a:r>
            <a:r>
              <a:rPr lang="en-US" sz="1400" dirty="0" smtClean="0">
                <a:latin typeface="Arial" panose="020B0604020202020204" pitchFamily="34" charset="0"/>
                <a:cs typeface="Arial" panose="020B0604020202020204" pitchFamily="34" charset="0"/>
              </a:rPr>
              <a:t>:</a:t>
            </a:r>
          </a:p>
          <a:p>
            <a:endParaRPr lang="en-US" sz="1400" b="1"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US" sz="1400" b="1" dirty="0" err="1" smtClean="0">
                <a:latin typeface="Arial" panose="020B0604020202020204" pitchFamily="34" charset="0"/>
                <a:cs typeface="Arial" panose="020B0604020202020204" pitchFamily="34" charset="0"/>
              </a:rPr>
              <a:t>Stdio</a:t>
            </a:r>
            <a:r>
              <a:rPr lang="en-US" sz="1400" b="1" dirty="0" smtClean="0">
                <a:latin typeface="Arial" panose="020B0604020202020204" pitchFamily="34" charset="0"/>
                <a:cs typeface="Arial" panose="020B0604020202020204" pitchFamily="34" charset="0"/>
              </a:rPr>
              <a:t> </a:t>
            </a:r>
            <a:r>
              <a:rPr lang="en-US" sz="1400" b="1" dirty="0">
                <a:latin typeface="Arial" panose="020B0604020202020204" pitchFamily="34" charset="0"/>
                <a:cs typeface="Arial" panose="020B0604020202020204" pitchFamily="34" charset="0"/>
              </a:rPr>
              <a:t>transport</a:t>
            </a:r>
            <a:r>
              <a:rPr lang="en-US" sz="1400" dirty="0">
                <a:latin typeface="Arial" panose="020B0604020202020204" pitchFamily="34" charset="0"/>
                <a:cs typeface="Arial" panose="020B0604020202020204" pitchFamily="34" charset="0"/>
              </a:rPr>
              <a:t>: </a:t>
            </a:r>
            <a:r>
              <a:rPr lang="en-US" sz="1400" dirty="0" smtClean="0">
                <a:latin typeface="Arial" panose="020B0604020202020204" pitchFamily="34" charset="0"/>
                <a:cs typeface="Arial" panose="020B0604020202020204" pitchFamily="34" charset="0"/>
              </a:rPr>
              <a:t>(local Server)</a:t>
            </a:r>
          </a:p>
          <a:p>
            <a:pPr marL="742950" lvl="1" indent="-285750">
              <a:buFont typeface="Arial" panose="020B0604020202020204" pitchFamily="34" charset="0"/>
              <a:buChar char="•"/>
            </a:pPr>
            <a:endParaRPr lang="en-US" sz="14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400" dirty="0" smtClean="0">
                <a:latin typeface="Arial" panose="020B0604020202020204" pitchFamily="34" charset="0"/>
                <a:cs typeface="Arial" panose="020B0604020202020204" pitchFamily="34" charset="0"/>
              </a:rPr>
              <a:t>Uses </a:t>
            </a:r>
            <a:r>
              <a:rPr lang="en-US" sz="1400" dirty="0">
                <a:latin typeface="Arial" panose="020B0604020202020204" pitchFamily="34" charset="0"/>
                <a:cs typeface="Arial" panose="020B0604020202020204" pitchFamily="34" charset="0"/>
              </a:rPr>
              <a:t>standard input/output streams for direct process communication between local processes on the same machine, providing optimal performance with no network overhead</a:t>
            </a:r>
            <a:r>
              <a:rPr lang="en-US" sz="1400" dirty="0" smtClean="0">
                <a:latin typeface="Arial" panose="020B0604020202020204" pitchFamily="34" charset="0"/>
                <a:cs typeface="Arial" panose="020B0604020202020204" pitchFamily="34" charset="0"/>
              </a:rPr>
              <a:t>.</a:t>
            </a:r>
          </a:p>
          <a:p>
            <a:pPr marL="742950" lvl="1" indent="-285750">
              <a:buFont typeface="Arial" panose="020B0604020202020204" pitchFamily="34" charset="0"/>
              <a:buChar char="•"/>
            </a:pPr>
            <a:r>
              <a:rPr lang="en-US" sz="1400" dirty="0" smtClean="0">
                <a:latin typeface="Arial" panose="020B0604020202020204" pitchFamily="34" charset="0"/>
                <a:cs typeface="Arial" panose="020B0604020202020204" pitchFamily="34" charset="0"/>
              </a:rPr>
              <a:t>The host launches the server as a sub process on the same machine and client writes the JSON-RPC </a:t>
            </a:r>
            <a:r>
              <a:rPr lang="en-US" sz="1400" dirty="0" err="1" smtClean="0">
                <a:latin typeface="Arial" panose="020B0604020202020204" pitchFamily="34" charset="0"/>
                <a:cs typeface="Arial" panose="020B0604020202020204" pitchFamily="34" charset="0"/>
              </a:rPr>
              <a:t>msgs</a:t>
            </a:r>
            <a:r>
              <a:rPr lang="en-US" sz="1400" dirty="0" smtClean="0">
                <a:latin typeface="Arial" panose="020B0604020202020204" pitchFamily="34" charset="0"/>
                <a:cs typeface="Arial" panose="020B0604020202020204" pitchFamily="34" charset="0"/>
              </a:rPr>
              <a:t> to server’s STDIN and server reads the </a:t>
            </a:r>
            <a:r>
              <a:rPr lang="en-US" sz="1400" dirty="0" err="1" smtClean="0">
                <a:latin typeface="Arial" panose="020B0604020202020204" pitchFamily="34" charset="0"/>
                <a:cs typeface="Arial" panose="020B0604020202020204" pitchFamily="34" charset="0"/>
              </a:rPr>
              <a:t>msgs</a:t>
            </a:r>
            <a:r>
              <a:rPr lang="en-US" sz="1400" dirty="0" smtClean="0">
                <a:latin typeface="Arial" panose="020B0604020202020204" pitchFamily="34" charset="0"/>
                <a:cs typeface="Arial" panose="020B0604020202020204" pitchFamily="34" charset="0"/>
              </a:rPr>
              <a:t> and process and writes responses to STDOUT</a:t>
            </a:r>
            <a:endParaRPr lang="en-US" sz="1400" dirty="0">
              <a:latin typeface="Arial" panose="020B0604020202020204" pitchFamily="34" charset="0"/>
              <a:cs typeface="Arial" panose="020B0604020202020204" pitchFamily="34" charset="0"/>
            </a:endParaRPr>
          </a:p>
          <a:p>
            <a:endParaRPr lang="en-US" sz="1400" b="1" dirty="0" smtClean="0">
              <a:latin typeface="Arial" panose="020B0604020202020204" pitchFamily="34" charset="0"/>
              <a:cs typeface="Arial" panose="020B0604020202020204" pitchFamily="34" charset="0"/>
            </a:endParaRPr>
          </a:p>
          <a:p>
            <a:pPr marL="285750" indent="-285750">
              <a:buFont typeface="Wingdings" panose="05000000000000000000" pitchFamily="2" charset="2"/>
              <a:buChar char="Ø"/>
            </a:pPr>
            <a:r>
              <a:rPr lang="en-US" sz="1400" b="1" dirty="0" err="1" smtClean="0">
                <a:latin typeface="Arial" panose="020B0604020202020204" pitchFamily="34" charset="0"/>
                <a:cs typeface="Arial" panose="020B0604020202020204" pitchFamily="34" charset="0"/>
              </a:rPr>
              <a:t>Streamable</a:t>
            </a:r>
            <a:r>
              <a:rPr lang="en-US" sz="1400" b="1" dirty="0" smtClean="0">
                <a:latin typeface="Arial" panose="020B0604020202020204" pitchFamily="34" charset="0"/>
                <a:cs typeface="Arial" panose="020B0604020202020204" pitchFamily="34" charset="0"/>
              </a:rPr>
              <a:t> </a:t>
            </a:r>
            <a:r>
              <a:rPr lang="en-US" sz="1400" b="1" dirty="0">
                <a:latin typeface="Arial" panose="020B0604020202020204" pitchFamily="34" charset="0"/>
                <a:cs typeface="Arial" panose="020B0604020202020204" pitchFamily="34" charset="0"/>
              </a:rPr>
              <a:t>HTTP transport</a:t>
            </a:r>
            <a:r>
              <a:rPr lang="en-US" sz="1400" dirty="0">
                <a:latin typeface="Arial" panose="020B0604020202020204" pitchFamily="34" charset="0"/>
                <a:cs typeface="Arial" panose="020B0604020202020204" pitchFamily="34" charset="0"/>
              </a:rPr>
              <a:t>: </a:t>
            </a:r>
            <a:r>
              <a:rPr lang="en-US" sz="1400" dirty="0" smtClean="0">
                <a:latin typeface="Arial" panose="020B0604020202020204" pitchFamily="34" charset="0"/>
                <a:cs typeface="Arial" panose="020B0604020202020204" pitchFamily="34" charset="0"/>
              </a:rPr>
              <a:t>(Remote Server)</a:t>
            </a:r>
          </a:p>
          <a:p>
            <a:endParaRPr lang="en-US" sz="14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400" dirty="0" smtClean="0">
                <a:latin typeface="Arial" panose="020B0604020202020204" pitchFamily="34" charset="0"/>
                <a:cs typeface="Arial" panose="020B0604020202020204" pitchFamily="34" charset="0"/>
              </a:rPr>
              <a:t>Uses </a:t>
            </a:r>
            <a:r>
              <a:rPr lang="en-US" sz="1400" dirty="0">
                <a:latin typeface="Arial" panose="020B0604020202020204" pitchFamily="34" charset="0"/>
                <a:cs typeface="Arial" panose="020B0604020202020204" pitchFamily="34" charset="0"/>
              </a:rPr>
              <a:t>HTTP POST for client-to-server messages </a:t>
            </a:r>
            <a:r>
              <a:rPr lang="en-US" sz="1400" dirty="0" smtClean="0">
                <a:latin typeface="Arial" panose="020B0604020202020204" pitchFamily="34" charset="0"/>
                <a:cs typeface="Arial" panose="020B0604020202020204" pitchFamily="34" charset="0"/>
              </a:rPr>
              <a:t>by reaching server running anywhere</a:t>
            </a:r>
            <a:r>
              <a:rPr lang="en-US" sz="1400" dirty="0">
                <a:latin typeface="Arial" panose="020B0604020202020204" pitchFamily="34" charset="0"/>
                <a:cs typeface="Arial" panose="020B0604020202020204" pitchFamily="34" charset="0"/>
              </a:rPr>
              <a:t> </a:t>
            </a:r>
            <a:r>
              <a:rPr lang="en-US" sz="1400" dirty="0" smtClean="0">
                <a:latin typeface="Arial" panose="020B0604020202020204" pitchFamily="34" charset="0"/>
                <a:cs typeface="Arial" panose="020B0604020202020204" pitchFamily="34" charset="0"/>
              </a:rPr>
              <a:t>with optional Server-sent Events(SSE) for streaming.</a:t>
            </a:r>
          </a:p>
          <a:p>
            <a:pPr marL="742950" lvl="1" indent="-285750">
              <a:buFont typeface="Arial" panose="020B0604020202020204" pitchFamily="34" charset="0"/>
              <a:buChar char="•"/>
            </a:pPr>
            <a:r>
              <a:rPr lang="en-US" sz="1400" dirty="0" smtClean="0">
                <a:latin typeface="Arial" panose="020B0604020202020204" pitchFamily="34" charset="0"/>
                <a:cs typeface="Arial" panose="020B0604020202020204" pitchFamily="34" charset="0"/>
              </a:rPr>
              <a:t>This </a:t>
            </a:r>
            <a:r>
              <a:rPr lang="en-US" sz="1400" dirty="0">
                <a:latin typeface="Arial" panose="020B0604020202020204" pitchFamily="34" charset="0"/>
                <a:cs typeface="Arial" panose="020B0604020202020204" pitchFamily="34" charset="0"/>
              </a:rPr>
              <a:t>transport enables remote server communication and supports standard HTTP authentication methods including bearer tokens, API keys, and custom headers. </a:t>
            </a:r>
            <a:endParaRPr lang="en-US" sz="1400" dirty="0" smtClean="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400" dirty="0" smtClean="0">
                <a:latin typeface="Arial" panose="020B0604020202020204" pitchFamily="34" charset="0"/>
                <a:cs typeface="Arial" panose="020B0604020202020204" pitchFamily="34" charset="0"/>
              </a:rPr>
              <a:t>MCP </a:t>
            </a:r>
            <a:r>
              <a:rPr lang="en-US" sz="1400" dirty="0">
                <a:latin typeface="Arial" panose="020B0604020202020204" pitchFamily="34" charset="0"/>
                <a:cs typeface="Arial" panose="020B0604020202020204" pitchFamily="34" charset="0"/>
              </a:rPr>
              <a:t>recommends using OAuth to obtain authentication </a:t>
            </a:r>
            <a:r>
              <a:rPr lang="en-US" sz="1400" dirty="0" smtClean="0">
                <a:latin typeface="Arial" panose="020B0604020202020204" pitchFamily="34" charset="0"/>
                <a:cs typeface="Arial" panose="020B0604020202020204" pitchFamily="34" charset="0"/>
              </a:rPr>
              <a:t>tokens.</a:t>
            </a:r>
          </a:p>
        </p:txBody>
      </p:sp>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66059" y="3965331"/>
            <a:ext cx="4744915" cy="2644530"/>
          </a:xfrm>
          <a:prstGeom prst="rect">
            <a:avLst/>
          </a:prstGeom>
        </p:spPr>
      </p:pic>
    </p:spTree>
    <p:extLst>
      <p:ext uri="{BB962C8B-B14F-4D97-AF65-F5344CB8AC3E}">
        <p14:creationId xmlns:p14="http://schemas.microsoft.com/office/powerpoint/2010/main" val="151977467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395654" y="158194"/>
            <a:ext cx="11078308" cy="595418"/>
          </a:xfrm>
        </p:spPr>
        <p:txBody>
          <a:bodyPr>
            <a:noAutofit/>
          </a:bodyPr>
          <a:lstStyle/>
          <a:p>
            <a:pPr algn="ctr" fontAlgn="base"/>
            <a:r>
              <a:rPr lang="en-US" sz="3200" b="1" dirty="0">
                <a:latin typeface="Arial" panose="020B0604020202020204" pitchFamily="34" charset="0"/>
                <a:cs typeface="Arial" panose="020B0604020202020204" pitchFamily="34" charset="0"/>
              </a:rPr>
              <a:t>Connect to local MCP </a:t>
            </a:r>
            <a:r>
              <a:rPr lang="en-US" sz="3200" b="1" dirty="0" smtClean="0">
                <a:latin typeface="Arial" panose="020B0604020202020204" pitchFamily="34" charset="0"/>
                <a:cs typeface="Arial" panose="020B0604020202020204" pitchFamily="34" charset="0"/>
              </a:rPr>
              <a:t>servers</a:t>
            </a:r>
            <a:endParaRPr lang="en-IN" sz="3200" b="1" dirty="0">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7132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base"/>
            <a:endParaRPr lang="en-IN" sz="14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9" name="Rectangle 8"/>
          <p:cNvSpPr/>
          <p:nvPr/>
        </p:nvSpPr>
        <p:spPr>
          <a:xfrm>
            <a:off x="699136" y="883408"/>
            <a:ext cx="10798712" cy="5478423"/>
          </a:xfrm>
          <a:prstGeom prst="rect">
            <a:avLst/>
          </a:prstGeom>
        </p:spPr>
        <p:txBody>
          <a:bodyPr wrap="square">
            <a:spAutoFit/>
          </a:bodyPr>
          <a:lstStyle/>
          <a:p>
            <a:r>
              <a:rPr lang="en-US" sz="1400" dirty="0">
                <a:latin typeface="Arial" panose="020B0604020202020204" pitchFamily="34" charset="0"/>
                <a:cs typeface="Arial" panose="020B0604020202020204" pitchFamily="34" charset="0"/>
              </a:rPr>
              <a:t>Claude Desktop with local MCP servers to enable file system </a:t>
            </a:r>
            <a:r>
              <a:rPr lang="en-US" sz="1400" dirty="0" smtClean="0">
                <a:latin typeface="Arial" panose="020B0604020202020204" pitchFamily="34" charset="0"/>
                <a:cs typeface="Arial" panose="020B0604020202020204" pitchFamily="34" charset="0"/>
              </a:rPr>
              <a:t>access,</a:t>
            </a:r>
            <a:r>
              <a:rPr lang="en-US" sz="1400" dirty="0">
                <a:latin typeface="Arial" panose="020B0604020202020204" pitchFamily="34" charset="0"/>
                <a:cs typeface="Arial" panose="020B0604020202020204" pitchFamily="34" charset="0"/>
              </a:rPr>
              <a:t> to interact with files on your computer, create new documents, organize folders, and search through your file system—all with your explicit permission for each action</a:t>
            </a:r>
            <a:r>
              <a:rPr lang="en-US" sz="1400" dirty="0" smtClean="0">
                <a:latin typeface="Arial" panose="020B0604020202020204" pitchFamily="34" charset="0"/>
                <a:cs typeface="Arial" panose="020B0604020202020204" pitchFamily="34" charset="0"/>
              </a:rPr>
              <a:t>.</a:t>
            </a:r>
          </a:p>
          <a:p>
            <a:endParaRPr lang="en-US" sz="1400" dirty="0">
              <a:latin typeface="Arial" panose="020B0604020202020204" pitchFamily="34" charset="0"/>
              <a:cs typeface="Arial" panose="020B0604020202020204" pitchFamily="34" charset="0"/>
            </a:endParaRPr>
          </a:p>
          <a:p>
            <a:r>
              <a:rPr lang="en-IN" sz="1400" b="1" dirty="0" smtClean="0">
                <a:latin typeface="Arial" panose="020B0604020202020204" pitchFamily="34" charset="0"/>
                <a:cs typeface="Arial" panose="020B0604020202020204" pitchFamily="34" charset="0"/>
              </a:rPr>
              <a:t>Prerequisites</a:t>
            </a:r>
          </a:p>
          <a:p>
            <a:r>
              <a:rPr lang="en-US" sz="1400" b="1" dirty="0">
                <a:latin typeface="Arial" panose="020B0604020202020204" pitchFamily="34" charset="0"/>
                <a:cs typeface="Arial" panose="020B0604020202020204" pitchFamily="34" charset="0"/>
              </a:rPr>
              <a:t/>
            </a:r>
            <a:br>
              <a:rPr lang="en-US" sz="1400" b="1" dirty="0">
                <a:latin typeface="Arial" panose="020B0604020202020204" pitchFamily="34" charset="0"/>
                <a:cs typeface="Arial" panose="020B0604020202020204" pitchFamily="34" charset="0"/>
              </a:rPr>
            </a:br>
            <a:r>
              <a:rPr lang="en-US" sz="1400" b="1" dirty="0">
                <a:latin typeface="Arial" panose="020B0604020202020204" pitchFamily="34" charset="0"/>
                <a:cs typeface="Arial" panose="020B0604020202020204" pitchFamily="34" charset="0"/>
              </a:rPr>
              <a:t>Claude </a:t>
            </a:r>
            <a:r>
              <a:rPr lang="en-US" sz="1400" b="1" dirty="0" smtClean="0">
                <a:latin typeface="Arial" panose="020B0604020202020204" pitchFamily="34" charset="0"/>
                <a:cs typeface="Arial" panose="020B0604020202020204" pitchFamily="34" charset="0"/>
              </a:rPr>
              <a:t>Desktop:  </a:t>
            </a:r>
            <a:r>
              <a:rPr lang="en-US" sz="1400" dirty="0" smtClean="0">
                <a:latin typeface="Arial" panose="020B0604020202020204" pitchFamily="34" charset="0"/>
                <a:cs typeface="Arial" panose="020B0604020202020204" pitchFamily="34" charset="0"/>
              </a:rPr>
              <a:t>Download </a:t>
            </a:r>
            <a:r>
              <a:rPr lang="en-US" sz="1400" dirty="0">
                <a:latin typeface="Arial" panose="020B0604020202020204" pitchFamily="34" charset="0"/>
                <a:cs typeface="Arial" panose="020B0604020202020204" pitchFamily="34" charset="0"/>
              </a:rPr>
              <a:t>and install </a:t>
            </a:r>
            <a:r>
              <a:rPr lang="en-US" sz="1400" b="1" dirty="0">
                <a:latin typeface="Arial" panose="020B0604020202020204" pitchFamily="34" charset="0"/>
                <a:cs typeface="Arial" panose="020B0604020202020204" pitchFamily="34" charset="0"/>
                <a:hlinkClick r:id="rId3"/>
              </a:rPr>
              <a:t>Claude Desktop</a:t>
            </a:r>
            <a:r>
              <a:rPr lang="en-US" sz="1400" dirty="0">
                <a:latin typeface="Arial" panose="020B0604020202020204" pitchFamily="34" charset="0"/>
                <a:cs typeface="Arial" panose="020B0604020202020204" pitchFamily="34" charset="0"/>
              </a:rPr>
              <a:t> for your operating system</a:t>
            </a:r>
            <a:r>
              <a:rPr lang="en-US" sz="1400" dirty="0" smtClean="0">
                <a:latin typeface="Arial" panose="020B0604020202020204" pitchFamily="34" charset="0"/>
                <a:cs typeface="Arial" panose="020B0604020202020204" pitchFamily="34" charset="0"/>
              </a:rPr>
              <a:t>.</a:t>
            </a:r>
          </a:p>
          <a:p>
            <a:r>
              <a:rPr lang="en-US" sz="1400" b="1" dirty="0" smtClean="0">
                <a:solidFill>
                  <a:srgbClr val="FF0000"/>
                </a:solidFill>
                <a:latin typeface="Arial" panose="020B0604020202020204" pitchFamily="34" charset="0"/>
                <a:cs typeface="Arial" panose="020B0604020202020204" pitchFamily="34" charset="0"/>
              </a:rPr>
              <a:t>Node.js : The </a:t>
            </a:r>
            <a:r>
              <a:rPr lang="en-US" sz="1400" b="1" dirty="0" err="1">
                <a:solidFill>
                  <a:srgbClr val="FF0000"/>
                </a:solidFill>
                <a:latin typeface="Arial" panose="020B0604020202020204" pitchFamily="34" charset="0"/>
                <a:cs typeface="Arial" panose="020B0604020202020204" pitchFamily="34" charset="0"/>
              </a:rPr>
              <a:t>Filesystem</a:t>
            </a:r>
            <a:r>
              <a:rPr lang="en-US" sz="1400" b="1" dirty="0">
                <a:solidFill>
                  <a:srgbClr val="FF0000"/>
                </a:solidFill>
                <a:latin typeface="Arial" panose="020B0604020202020204" pitchFamily="34" charset="0"/>
                <a:cs typeface="Arial" panose="020B0604020202020204" pitchFamily="34" charset="0"/>
              </a:rPr>
              <a:t> Server and many other MCP servers require Node.js to run. </a:t>
            </a:r>
            <a:r>
              <a:rPr lang="en-IN" sz="1400" b="1" dirty="0">
                <a:solidFill>
                  <a:srgbClr val="FF0000"/>
                </a:solidFill>
                <a:latin typeface="Arial" panose="020B0604020202020204" pitchFamily="34" charset="0"/>
                <a:cs typeface="Arial" panose="020B0604020202020204" pitchFamily="34" charset="0"/>
              </a:rPr>
              <a:t>download it from </a:t>
            </a:r>
            <a:r>
              <a:rPr lang="en-IN" sz="1400" b="1" dirty="0">
                <a:solidFill>
                  <a:srgbClr val="FF0000"/>
                </a:solidFill>
                <a:latin typeface="Arial" panose="020B0604020202020204" pitchFamily="34" charset="0"/>
                <a:cs typeface="Arial" panose="020B0604020202020204" pitchFamily="34" charset="0"/>
                <a:hlinkClick r:id="rId4"/>
              </a:rPr>
              <a:t>nodejs.org</a:t>
            </a:r>
            <a:r>
              <a:rPr lang="en-IN" sz="1400" b="1" dirty="0" smtClean="0">
                <a:solidFill>
                  <a:srgbClr val="FF0000"/>
                </a:solidFill>
                <a:latin typeface="Arial" panose="020B0604020202020204" pitchFamily="34" charset="0"/>
                <a:cs typeface="Arial" panose="020B0604020202020204" pitchFamily="34" charset="0"/>
              </a:rPr>
              <a:t>.</a:t>
            </a:r>
          </a:p>
          <a:p>
            <a:endParaRPr lang="en-IN" sz="1400" dirty="0">
              <a:latin typeface="Arial" panose="020B0604020202020204" pitchFamily="34" charset="0"/>
              <a:cs typeface="Arial" panose="020B0604020202020204" pitchFamily="34" charset="0"/>
            </a:endParaRPr>
          </a:p>
          <a:p>
            <a:r>
              <a:rPr lang="en-IN" sz="1400" dirty="0" err="1" smtClean="0">
                <a:latin typeface="Arial" panose="020B0604020202020204" pitchFamily="34" charset="0"/>
                <a:cs typeface="Arial" panose="020B0604020202020204" pitchFamily="34" charset="0"/>
              </a:rPr>
              <a:t>Goto</a:t>
            </a:r>
            <a:r>
              <a:rPr lang="en-IN" sz="1400" dirty="0" smtClean="0">
                <a:latin typeface="Arial" panose="020B0604020202020204" pitchFamily="34" charset="0"/>
                <a:cs typeface="Arial" panose="020B0604020202020204" pitchFamily="34" charset="0"/>
              </a:rPr>
              <a:t> Claude Desktop, </a:t>
            </a:r>
            <a:r>
              <a:rPr lang="en-US" sz="1400" dirty="0" smtClean="0">
                <a:latin typeface="Arial" panose="020B0604020202020204" pitchFamily="34" charset="0"/>
                <a:cs typeface="Arial" panose="020B0604020202020204" pitchFamily="34" charset="0"/>
              </a:rPr>
              <a:t>In </a:t>
            </a:r>
            <a:r>
              <a:rPr lang="en-US" sz="1400" dirty="0">
                <a:latin typeface="Arial" panose="020B0604020202020204" pitchFamily="34" charset="0"/>
                <a:cs typeface="Arial" panose="020B0604020202020204" pitchFamily="34" charset="0"/>
              </a:rPr>
              <a:t>the Settings window, navigate to the “Developer” tab in the left sidebar. </a:t>
            </a:r>
            <a:r>
              <a:rPr lang="en-US" sz="1400" dirty="0" smtClean="0">
                <a:latin typeface="Arial" panose="020B0604020202020204" pitchFamily="34" charset="0"/>
                <a:cs typeface="Arial" panose="020B0604020202020204" pitchFamily="34" charset="0"/>
              </a:rPr>
              <a:t>Click </a:t>
            </a:r>
            <a:r>
              <a:rPr lang="en-US" sz="1400" dirty="0">
                <a:latin typeface="Arial" panose="020B0604020202020204" pitchFamily="34" charset="0"/>
                <a:cs typeface="Arial" panose="020B0604020202020204" pitchFamily="34" charset="0"/>
              </a:rPr>
              <a:t>the “Edit </a:t>
            </a:r>
            <a:r>
              <a:rPr lang="en-US" sz="1400" dirty="0" err="1">
                <a:latin typeface="Arial" panose="020B0604020202020204" pitchFamily="34" charset="0"/>
                <a:cs typeface="Arial" panose="020B0604020202020204" pitchFamily="34" charset="0"/>
              </a:rPr>
              <a:t>Config</a:t>
            </a:r>
            <a:r>
              <a:rPr lang="en-US" sz="1400" dirty="0">
                <a:latin typeface="Arial" panose="020B0604020202020204" pitchFamily="34" charset="0"/>
                <a:cs typeface="Arial" panose="020B0604020202020204" pitchFamily="34" charset="0"/>
              </a:rPr>
              <a:t>” button to open the configuration </a:t>
            </a:r>
            <a:r>
              <a:rPr lang="en-US" sz="1400" dirty="0" smtClean="0">
                <a:latin typeface="Arial" panose="020B0604020202020204" pitchFamily="34" charset="0"/>
                <a:cs typeface="Arial" panose="020B0604020202020204" pitchFamily="34" charset="0"/>
              </a:rPr>
              <a:t>file and add below </a:t>
            </a:r>
            <a:r>
              <a:rPr lang="en-US" sz="1400" b="1" dirty="0" smtClean="0">
                <a:latin typeface="Arial" panose="020B0604020202020204" pitchFamily="34" charset="0"/>
                <a:cs typeface="Arial" panose="020B0604020202020204" pitchFamily="34" charset="0"/>
              </a:rPr>
              <a:t>or</a:t>
            </a:r>
            <a:r>
              <a:rPr lang="en-US" sz="1400" dirty="0" smtClean="0">
                <a:latin typeface="Arial" panose="020B0604020202020204" pitchFamily="34" charset="0"/>
                <a:cs typeface="Arial" panose="020B0604020202020204" pitchFamily="34" charset="0"/>
              </a:rPr>
              <a:t> </a:t>
            </a:r>
            <a:r>
              <a:rPr lang="en-US" sz="1400" b="1" dirty="0" smtClean="0">
                <a:latin typeface="Arial" panose="020B0604020202020204" pitchFamily="34" charset="0"/>
                <a:cs typeface="Arial" panose="020B0604020202020204" pitchFamily="34" charset="0"/>
              </a:rPr>
              <a:t>use connectors and Browse and add the “</a:t>
            </a:r>
            <a:r>
              <a:rPr lang="en-US" sz="1400" b="1" dirty="0" err="1" smtClean="0">
                <a:latin typeface="Arial" panose="020B0604020202020204" pitchFamily="34" charset="0"/>
                <a:cs typeface="Arial" panose="020B0604020202020204" pitchFamily="34" charset="0"/>
              </a:rPr>
              <a:t>FileSystem</a:t>
            </a:r>
            <a:r>
              <a:rPr lang="en-US" sz="1400" b="1" dirty="0" smtClean="0">
                <a:latin typeface="Arial" panose="020B0604020202020204" pitchFamily="34" charset="0"/>
                <a:cs typeface="Arial" panose="020B0604020202020204" pitchFamily="34" charset="0"/>
              </a:rPr>
              <a:t>”</a:t>
            </a:r>
          </a:p>
          <a:p>
            <a:r>
              <a:rPr lang="en-US" sz="1400" dirty="0">
                <a:latin typeface="Arial" panose="020B0604020202020204" pitchFamily="34" charset="0"/>
                <a:cs typeface="Arial" panose="020B0604020202020204" pitchFamily="34" charset="0"/>
              </a:rPr>
              <a:t>{</a:t>
            </a:r>
          </a:p>
          <a:p>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mcpServers</a:t>
            </a:r>
            <a:r>
              <a:rPr lang="en-US" sz="1400" dirty="0">
                <a:latin typeface="Arial" panose="020B0604020202020204" pitchFamily="34" charset="0"/>
                <a:cs typeface="Arial" panose="020B0604020202020204" pitchFamily="34" charset="0"/>
              </a:rPr>
              <a:t>": {</a:t>
            </a:r>
          </a:p>
          <a:p>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filesystem</a:t>
            </a:r>
            <a:r>
              <a:rPr lang="en-US" sz="1400" dirty="0">
                <a:latin typeface="Arial" panose="020B0604020202020204" pitchFamily="34" charset="0"/>
                <a:cs typeface="Arial" panose="020B0604020202020204" pitchFamily="34" charset="0"/>
              </a:rPr>
              <a:t>": {</a:t>
            </a:r>
          </a:p>
          <a:p>
            <a:r>
              <a:rPr lang="en-US" sz="1400" dirty="0">
                <a:latin typeface="Arial" panose="020B0604020202020204" pitchFamily="34" charset="0"/>
                <a:cs typeface="Arial" panose="020B0604020202020204" pitchFamily="34" charset="0"/>
              </a:rPr>
              <a:t>      "command": "</a:t>
            </a:r>
            <a:r>
              <a:rPr lang="en-US" sz="1400" dirty="0" err="1">
                <a:latin typeface="Arial" panose="020B0604020202020204" pitchFamily="34" charset="0"/>
                <a:cs typeface="Arial" panose="020B0604020202020204" pitchFamily="34" charset="0"/>
              </a:rPr>
              <a:t>npx</a:t>
            </a:r>
            <a:r>
              <a:rPr lang="en-US" sz="1400" dirty="0">
                <a:latin typeface="Arial" panose="020B0604020202020204" pitchFamily="34" charset="0"/>
                <a:cs typeface="Arial" panose="020B0604020202020204" pitchFamily="34" charset="0"/>
              </a:rPr>
              <a:t>",</a:t>
            </a:r>
          </a:p>
          <a:p>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args</a:t>
            </a:r>
            <a:r>
              <a:rPr lang="en-US" sz="1400" dirty="0">
                <a:latin typeface="Arial" panose="020B0604020202020204" pitchFamily="34" charset="0"/>
                <a:cs typeface="Arial" panose="020B0604020202020204" pitchFamily="34" charset="0"/>
              </a:rPr>
              <a:t>": [</a:t>
            </a:r>
          </a:p>
          <a:p>
            <a:r>
              <a:rPr lang="en-US" sz="1400" dirty="0">
                <a:latin typeface="Arial" panose="020B0604020202020204" pitchFamily="34" charset="0"/>
                <a:cs typeface="Arial" panose="020B0604020202020204" pitchFamily="34" charset="0"/>
              </a:rPr>
              <a:t>        "-y",</a:t>
            </a:r>
          </a:p>
          <a:p>
            <a:r>
              <a:rPr lang="en-US" sz="1400" dirty="0">
                <a:latin typeface="Arial" panose="020B0604020202020204" pitchFamily="34" charset="0"/>
                <a:cs typeface="Arial" panose="020B0604020202020204" pitchFamily="34" charset="0"/>
              </a:rPr>
              <a:t>        "@</a:t>
            </a:r>
            <a:r>
              <a:rPr lang="en-US" sz="1400" dirty="0" err="1">
                <a:latin typeface="Arial" panose="020B0604020202020204" pitchFamily="34" charset="0"/>
                <a:cs typeface="Arial" panose="020B0604020202020204" pitchFamily="34" charset="0"/>
              </a:rPr>
              <a:t>modelcontextprotocol</a:t>
            </a:r>
            <a:r>
              <a:rPr lang="en-US" sz="1400" dirty="0">
                <a:latin typeface="Arial" panose="020B0604020202020204" pitchFamily="34" charset="0"/>
                <a:cs typeface="Arial" panose="020B0604020202020204" pitchFamily="34" charset="0"/>
              </a:rPr>
              <a:t>/server-</a:t>
            </a:r>
            <a:r>
              <a:rPr lang="en-US" sz="1400" dirty="0" err="1">
                <a:latin typeface="Arial" panose="020B0604020202020204" pitchFamily="34" charset="0"/>
                <a:cs typeface="Arial" panose="020B0604020202020204" pitchFamily="34" charset="0"/>
              </a:rPr>
              <a:t>filesystem</a:t>
            </a:r>
            <a:r>
              <a:rPr lang="en-US" sz="1400" dirty="0">
                <a:latin typeface="Arial" panose="020B0604020202020204" pitchFamily="34" charset="0"/>
                <a:cs typeface="Arial" panose="020B0604020202020204" pitchFamily="34" charset="0"/>
              </a:rPr>
              <a:t>",</a:t>
            </a:r>
          </a:p>
          <a:p>
            <a:r>
              <a:rPr lang="en-US" sz="1400" dirty="0">
                <a:latin typeface="Arial" panose="020B0604020202020204" pitchFamily="34" charset="0"/>
                <a:cs typeface="Arial" panose="020B0604020202020204" pitchFamily="34" charset="0"/>
              </a:rPr>
              <a:t>        "C:\\Users\\username\\Desktop",</a:t>
            </a:r>
          </a:p>
          <a:p>
            <a:r>
              <a:rPr lang="en-US" sz="1400" dirty="0">
                <a:latin typeface="Arial" panose="020B0604020202020204" pitchFamily="34" charset="0"/>
                <a:cs typeface="Arial" panose="020B0604020202020204" pitchFamily="34" charset="0"/>
              </a:rPr>
              <a:t>        "C:\\Users\\username\\Downloads"</a:t>
            </a:r>
          </a:p>
          <a:p>
            <a:r>
              <a:rPr lang="en-US" sz="1400" dirty="0">
                <a:latin typeface="Arial" panose="020B0604020202020204" pitchFamily="34" charset="0"/>
                <a:cs typeface="Arial" panose="020B0604020202020204" pitchFamily="34" charset="0"/>
              </a:rPr>
              <a:t>      ]</a:t>
            </a:r>
          </a:p>
          <a:p>
            <a:r>
              <a:rPr lang="en-US" sz="1400" dirty="0">
                <a:latin typeface="Arial" panose="020B0604020202020204" pitchFamily="34" charset="0"/>
                <a:cs typeface="Arial" panose="020B0604020202020204" pitchFamily="34" charset="0"/>
              </a:rPr>
              <a:t>    }</a:t>
            </a:r>
          </a:p>
          <a:p>
            <a:r>
              <a:rPr lang="en-US" sz="1400" dirty="0">
                <a:latin typeface="Arial" panose="020B0604020202020204" pitchFamily="34" charset="0"/>
                <a:cs typeface="Arial" panose="020B0604020202020204" pitchFamily="34" charset="0"/>
              </a:rPr>
              <a:t>  }</a:t>
            </a:r>
          </a:p>
          <a:p>
            <a:r>
              <a:rPr lang="en-US" sz="1400" dirty="0" smtClean="0">
                <a:latin typeface="Arial" panose="020B0604020202020204" pitchFamily="34" charset="0"/>
                <a:cs typeface="Arial" panose="020B0604020202020204" pitchFamily="34" charset="0"/>
              </a:rPr>
              <a:t>}</a:t>
            </a:r>
          </a:p>
          <a:p>
            <a:endParaRPr lang="en-US" sz="1400" b="1" dirty="0" smtClean="0">
              <a:latin typeface="Arial" panose="020B0604020202020204" pitchFamily="34" charset="0"/>
              <a:cs typeface="Arial" panose="020B0604020202020204" pitchFamily="34" charset="0"/>
            </a:endParaRPr>
          </a:p>
          <a:p>
            <a:r>
              <a:rPr lang="en-US" sz="1400" b="1" dirty="0" smtClean="0">
                <a:latin typeface="Arial" panose="020B0604020202020204" pitchFamily="34" charset="0"/>
                <a:cs typeface="Arial" panose="020B0604020202020204" pitchFamily="34" charset="0"/>
              </a:rPr>
              <a:t>Note: </a:t>
            </a:r>
            <a:r>
              <a:rPr lang="en-US" sz="1400" dirty="0">
                <a:latin typeface="Arial" panose="020B0604020202020204" pitchFamily="34" charset="0"/>
                <a:cs typeface="Arial" panose="020B0604020202020204" pitchFamily="34" charset="0"/>
              </a:rPr>
              <a:t>After saving the configuration file, completely quit Claude Desktop and restart it.</a:t>
            </a:r>
            <a:endParaRPr lang="en-US" sz="1400" dirty="0" smtClean="0">
              <a:latin typeface="Arial" panose="020B0604020202020204" pitchFamily="34" charset="0"/>
              <a:cs typeface="Arial" panose="020B0604020202020204" pitchFamily="34" charset="0"/>
            </a:endParaRPr>
          </a:p>
        </p:txBody>
      </p:sp>
      <p:sp>
        <p:nvSpPr>
          <p:cNvPr id="3" name="Rectangle 1"/>
          <p:cNvSpPr>
            <a:spLocks noChangeArrowheads="1"/>
          </p:cNvSpPr>
          <p:nvPr/>
        </p:nvSpPr>
        <p:spPr bwMode="auto">
          <a:xfrm>
            <a:off x="5416063" y="4153257"/>
            <a:ext cx="6453552" cy="19238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effectLst/>
                <a:latin typeface="Arial" panose="020B0604020202020204" pitchFamily="34" charset="0"/>
                <a:cs typeface="Arial" panose="020B0604020202020204" pitchFamily="34" charset="0"/>
              </a:rPr>
              <a:t>Understanding the Configuration</a:t>
            </a:r>
            <a:endParaRPr kumimoji="0" lang="en-US" altLang="en-US" sz="1400" b="0" i="0" u="none" strike="noStrike" cap="none" normalizeH="0" baseline="0" dirty="0" smtClean="0">
              <a:ln>
                <a:noFill/>
              </a:ln>
              <a:effectLst/>
              <a:latin typeface="Arial" panose="020B0604020202020204" pitchFamily="34" charset="0"/>
              <a:cs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smtClean="0">
                <a:ln>
                  <a:noFill/>
                </a:ln>
                <a:effectLst/>
                <a:latin typeface="Arial" panose="020B0604020202020204" pitchFamily="34" charset="0"/>
                <a:cs typeface="Arial" panose="020B0604020202020204" pitchFamily="34" charset="0"/>
              </a:rPr>
              <a:t>"</a:t>
            </a:r>
            <a:r>
              <a:rPr kumimoji="0" lang="en-US" altLang="en-US" sz="1400" b="0" i="0" u="none" strike="noStrike" cap="none" normalizeH="0" baseline="0" dirty="0" err="1" smtClean="0">
                <a:ln>
                  <a:noFill/>
                </a:ln>
                <a:effectLst/>
                <a:latin typeface="Arial" panose="020B0604020202020204" pitchFamily="34" charset="0"/>
                <a:cs typeface="Arial" panose="020B0604020202020204" pitchFamily="34" charset="0"/>
              </a:rPr>
              <a:t>filesystem</a:t>
            </a:r>
            <a:r>
              <a:rPr kumimoji="0" lang="en-US" altLang="en-US" sz="1400" b="0" i="0" u="none" strike="noStrike" cap="none" normalizeH="0" baseline="0" dirty="0" smtClean="0">
                <a:ln>
                  <a:noFill/>
                </a:ln>
                <a:effectLst/>
                <a:latin typeface="Arial" panose="020B0604020202020204" pitchFamily="34" charset="0"/>
                <a:cs typeface="Arial" panose="020B0604020202020204" pitchFamily="34" charset="0"/>
              </a:rPr>
              <a:t>": A friendly name for the server that appears in Claude Desktop</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smtClean="0">
                <a:ln>
                  <a:noFill/>
                </a:ln>
                <a:effectLst/>
                <a:latin typeface="Arial" panose="020B0604020202020204" pitchFamily="34" charset="0"/>
                <a:cs typeface="Arial" panose="020B0604020202020204" pitchFamily="34" charset="0"/>
              </a:rPr>
              <a:t>"command": "</a:t>
            </a:r>
            <a:r>
              <a:rPr kumimoji="0" lang="en-US" altLang="en-US" sz="1400" b="0" i="0" u="none" strike="noStrike" cap="none" normalizeH="0" baseline="0" dirty="0" err="1" smtClean="0">
                <a:ln>
                  <a:noFill/>
                </a:ln>
                <a:effectLst/>
                <a:latin typeface="Arial" panose="020B0604020202020204" pitchFamily="34" charset="0"/>
                <a:cs typeface="Arial" panose="020B0604020202020204" pitchFamily="34" charset="0"/>
              </a:rPr>
              <a:t>npx</a:t>
            </a:r>
            <a:r>
              <a:rPr kumimoji="0" lang="en-US" altLang="en-US" sz="1400" b="0" i="0" u="none" strike="noStrike" cap="none" normalizeH="0" baseline="0" dirty="0" smtClean="0">
                <a:ln>
                  <a:noFill/>
                </a:ln>
                <a:effectLst/>
                <a:latin typeface="Arial" panose="020B0604020202020204" pitchFamily="34" charset="0"/>
                <a:cs typeface="Arial" panose="020B0604020202020204" pitchFamily="34" charset="0"/>
              </a:rPr>
              <a:t>": Uses </a:t>
            </a:r>
            <a:r>
              <a:rPr kumimoji="0" lang="en-US" altLang="en-US" sz="1400" b="0" i="0" u="none" strike="noStrike" cap="none" normalizeH="0" baseline="0" dirty="0" err="1" smtClean="0">
                <a:ln>
                  <a:noFill/>
                </a:ln>
                <a:effectLst/>
                <a:latin typeface="Arial" panose="020B0604020202020204" pitchFamily="34" charset="0"/>
                <a:cs typeface="Arial" panose="020B0604020202020204" pitchFamily="34" charset="0"/>
              </a:rPr>
              <a:t>Node.js’s</a:t>
            </a:r>
            <a:r>
              <a:rPr kumimoji="0" lang="en-US" altLang="en-US" sz="1400" b="0" i="0" u="none" strike="noStrike" cap="none" normalizeH="0" baseline="0" dirty="0" smtClean="0">
                <a:ln>
                  <a:noFill/>
                </a:ln>
                <a:effectLst/>
                <a:latin typeface="Arial" panose="020B0604020202020204" pitchFamily="34" charset="0"/>
                <a:cs typeface="Arial" panose="020B0604020202020204" pitchFamily="34" charset="0"/>
              </a:rPr>
              <a:t> </a:t>
            </a:r>
            <a:r>
              <a:rPr kumimoji="0" lang="en-US" altLang="en-US" sz="1400" b="0" i="0" u="none" strike="noStrike" cap="none" normalizeH="0" baseline="0" dirty="0" err="1" smtClean="0">
                <a:ln>
                  <a:noFill/>
                </a:ln>
                <a:effectLst/>
                <a:latin typeface="Arial" panose="020B0604020202020204" pitchFamily="34" charset="0"/>
                <a:cs typeface="Arial" panose="020B0604020202020204" pitchFamily="34" charset="0"/>
              </a:rPr>
              <a:t>npx</a:t>
            </a:r>
            <a:r>
              <a:rPr kumimoji="0" lang="en-US" altLang="en-US" sz="1400" b="0" i="0" u="none" strike="noStrike" cap="none" normalizeH="0" baseline="0" dirty="0" smtClean="0">
                <a:ln>
                  <a:noFill/>
                </a:ln>
                <a:effectLst/>
                <a:latin typeface="Arial" panose="020B0604020202020204" pitchFamily="34" charset="0"/>
                <a:cs typeface="Arial" panose="020B0604020202020204" pitchFamily="34" charset="0"/>
              </a:rPr>
              <a:t> tool to run the server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smtClean="0">
                <a:ln>
                  <a:noFill/>
                </a:ln>
                <a:effectLst/>
                <a:latin typeface="Arial" panose="020B0604020202020204" pitchFamily="34" charset="0"/>
                <a:cs typeface="Arial" panose="020B0604020202020204" pitchFamily="34" charset="0"/>
              </a:rPr>
              <a:t>"-y": Automatically confirms the installation of the server package</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smtClean="0">
                <a:ln>
                  <a:noFill/>
                </a:ln>
                <a:effectLst/>
                <a:latin typeface="Arial" panose="020B0604020202020204" pitchFamily="34" charset="0"/>
                <a:cs typeface="Arial" panose="020B0604020202020204" pitchFamily="34" charset="0"/>
              </a:rPr>
              <a:t>"@</a:t>
            </a:r>
            <a:r>
              <a:rPr kumimoji="0" lang="en-US" altLang="en-US" sz="1400" b="0" i="0" u="none" strike="noStrike" cap="none" normalizeH="0" baseline="0" dirty="0" err="1" smtClean="0">
                <a:ln>
                  <a:noFill/>
                </a:ln>
                <a:effectLst/>
                <a:latin typeface="Arial" panose="020B0604020202020204" pitchFamily="34" charset="0"/>
                <a:cs typeface="Arial" panose="020B0604020202020204" pitchFamily="34" charset="0"/>
              </a:rPr>
              <a:t>modelcontextprotocol</a:t>
            </a:r>
            <a:r>
              <a:rPr kumimoji="0" lang="en-US" altLang="en-US" sz="1400" b="0" i="0" u="none" strike="noStrike" cap="none" normalizeH="0" baseline="0" dirty="0" smtClean="0">
                <a:ln>
                  <a:noFill/>
                </a:ln>
                <a:effectLst/>
                <a:latin typeface="Arial" panose="020B0604020202020204" pitchFamily="34" charset="0"/>
                <a:cs typeface="Arial" panose="020B0604020202020204" pitchFamily="34" charset="0"/>
              </a:rPr>
              <a:t>/server-</a:t>
            </a:r>
            <a:r>
              <a:rPr kumimoji="0" lang="en-US" altLang="en-US" sz="1400" b="0" i="0" u="none" strike="noStrike" cap="none" normalizeH="0" baseline="0" dirty="0" err="1" smtClean="0">
                <a:ln>
                  <a:noFill/>
                </a:ln>
                <a:effectLst/>
                <a:latin typeface="Arial" panose="020B0604020202020204" pitchFamily="34" charset="0"/>
                <a:cs typeface="Arial" panose="020B0604020202020204" pitchFamily="34" charset="0"/>
              </a:rPr>
              <a:t>filesystem</a:t>
            </a:r>
            <a:r>
              <a:rPr kumimoji="0" lang="en-US" altLang="en-US" sz="1400" b="0" i="0" u="none" strike="noStrike" cap="none" normalizeH="0" baseline="0" dirty="0" smtClean="0">
                <a:ln>
                  <a:noFill/>
                </a:ln>
                <a:effectLst/>
                <a:latin typeface="Arial" panose="020B0604020202020204" pitchFamily="34" charset="0"/>
                <a:cs typeface="Arial" panose="020B0604020202020204" pitchFamily="34" charset="0"/>
              </a:rPr>
              <a:t>": The package name of the </a:t>
            </a:r>
            <a:r>
              <a:rPr kumimoji="0" lang="en-US" altLang="en-US" sz="1400" b="0" i="0" u="none" strike="noStrike" cap="none" normalizeH="0" baseline="0" dirty="0" err="1" smtClean="0">
                <a:ln>
                  <a:noFill/>
                </a:ln>
                <a:effectLst/>
                <a:latin typeface="Arial" panose="020B0604020202020204" pitchFamily="34" charset="0"/>
                <a:cs typeface="Arial" panose="020B0604020202020204" pitchFamily="34" charset="0"/>
              </a:rPr>
              <a:t>Filesystem</a:t>
            </a:r>
            <a:r>
              <a:rPr kumimoji="0" lang="en-US" altLang="en-US" sz="1400" b="0" i="0" u="none" strike="noStrike" cap="none" normalizeH="0" baseline="0" dirty="0" smtClean="0">
                <a:ln>
                  <a:noFill/>
                </a:ln>
                <a:effectLst/>
                <a:latin typeface="Arial" panose="020B0604020202020204" pitchFamily="34" charset="0"/>
                <a:cs typeface="Arial" panose="020B0604020202020204" pitchFamily="34" charset="0"/>
              </a:rPr>
              <a:t> Server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smtClean="0">
                <a:ln>
                  <a:noFill/>
                </a:ln>
                <a:effectLst/>
                <a:latin typeface="Arial" panose="020B0604020202020204" pitchFamily="34" charset="0"/>
                <a:cs typeface="Arial" panose="020B0604020202020204" pitchFamily="34" charset="0"/>
              </a:rPr>
              <a:t>The remaining arguments: Directories the server is allowed to access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5053585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395654" y="158194"/>
            <a:ext cx="11078308" cy="595418"/>
          </a:xfrm>
        </p:spPr>
        <p:txBody>
          <a:bodyPr>
            <a:noAutofit/>
          </a:bodyPr>
          <a:lstStyle/>
          <a:p>
            <a:pPr algn="ctr" fontAlgn="base"/>
            <a:r>
              <a:rPr lang="en-US" sz="3200" b="1" dirty="0">
                <a:latin typeface="Arial" panose="020B0604020202020204" pitchFamily="34" charset="0"/>
                <a:cs typeface="Arial" panose="020B0604020202020204" pitchFamily="34" charset="0"/>
              </a:rPr>
              <a:t>Connect to </a:t>
            </a:r>
            <a:r>
              <a:rPr lang="en-US" sz="3200" b="1" dirty="0" smtClean="0">
                <a:latin typeface="Arial" panose="020B0604020202020204" pitchFamily="34" charset="0"/>
                <a:cs typeface="Arial" panose="020B0604020202020204" pitchFamily="34" charset="0"/>
              </a:rPr>
              <a:t>Remote </a:t>
            </a:r>
            <a:r>
              <a:rPr lang="en-US" sz="3200" b="1" dirty="0">
                <a:latin typeface="Arial" panose="020B0604020202020204" pitchFamily="34" charset="0"/>
                <a:cs typeface="Arial" panose="020B0604020202020204" pitchFamily="34" charset="0"/>
              </a:rPr>
              <a:t>MCP </a:t>
            </a:r>
            <a:r>
              <a:rPr lang="en-US" sz="3200" b="1" dirty="0" smtClean="0">
                <a:latin typeface="Arial" panose="020B0604020202020204" pitchFamily="34" charset="0"/>
                <a:cs typeface="Arial" panose="020B0604020202020204" pitchFamily="34" charset="0"/>
              </a:rPr>
              <a:t>servers</a:t>
            </a:r>
            <a:endParaRPr lang="en-IN" sz="3200" b="1" dirty="0">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7132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base"/>
            <a:endParaRPr lang="en-IN" sz="14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5"/>
          <p:cNvSpPr/>
          <p:nvPr/>
        </p:nvSpPr>
        <p:spPr>
          <a:xfrm>
            <a:off x="976454" y="1282184"/>
            <a:ext cx="10746623" cy="1815882"/>
          </a:xfrm>
          <a:prstGeom prst="rect">
            <a:avLst/>
          </a:prstGeom>
        </p:spPr>
        <p:txBody>
          <a:bodyPr wrap="square">
            <a:spAutoFit/>
          </a:bodyPr>
          <a:lstStyle/>
          <a:p>
            <a:pPr marL="285750" indent="-285750">
              <a:buFont typeface="Arial" panose="020B0604020202020204" pitchFamily="34" charset="0"/>
              <a:buChar char="•"/>
            </a:pPr>
            <a:r>
              <a:rPr lang="en-IN" sz="1600" dirty="0" smtClean="0">
                <a:latin typeface="Arial" panose="020B0604020202020204" pitchFamily="34" charset="0"/>
                <a:cs typeface="Arial" panose="020B0604020202020204" pitchFamily="34" charset="0"/>
              </a:rPr>
              <a:t>We can connect to different MCP servers supported. Like </a:t>
            </a:r>
            <a:r>
              <a:rPr lang="en-IN" sz="1600" dirty="0" err="1" smtClean="0">
                <a:latin typeface="Arial" panose="020B0604020202020204" pitchFamily="34" charset="0"/>
                <a:cs typeface="Arial" panose="020B0604020202020204" pitchFamily="34" charset="0"/>
              </a:rPr>
              <a:t>Huggingface</a:t>
            </a:r>
            <a:r>
              <a:rPr lang="en-IN" sz="1600" dirty="0" smtClean="0">
                <a:latin typeface="Arial" panose="020B0604020202020204" pitchFamily="34" charset="0"/>
                <a:cs typeface="Arial" panose="020B0604020202020204" pitchFamily="34" charset="0"/>
              </a:rPr>
              <a:t>, </a:t>
            </a:r>
            <a:r>
              <a:rPr lang="en-IN" sz="1600" dirty="0" err="1" smtClean="0">
                <a:latin typeface="Arial" panose="020B0604020202020204" pitchFamily="34" charset="0"/>
                <a:cs typeface="Arial" panose="020B0604020202020204" pitchFamily="34" charset="0"/>
              </a:rPr>
              <a:t>GoogleDrive</a:t>
            </a:r>
            <a:r>
              <a:rPr lang="en-IN" sz="1600" dirty="0" smtClean="0">
                <a:latin typeface="Arial" panose="020B0604020202020204" pitchFamily="34" charset="0"/>
                <a:cs typeface="Arial" panose="020B0604020202020204" pitchFamily="34" charset="0"/>
              </a:rPr>
              <a:t> and </a:t>
            </a:r>
            <a:r>
              <a:rPr lang="en-IN" sz="1600" dirty="0" err="1" smtClean="0">
                <a:latin typeface="Arial" panose="020B0604020202020204" pitchFamily="34" charset="0"/>
                <a:cs typeface="Arial" panose="020B0604020202020204" pitchFamily="34" charset="0"/>
              </a:rPr>
              <a:t>github</a:t>
            </a:r>
            <a:r>
              <a:rPr lang="en-IN" sz="1600" dirty="0" smtClean="0">
                <a:latin typeface="Arial" panose="020B0604020202020204" pitchFamily="34" charset="0"/>
                <a:cs typeface="Arial" panose="020B0604020202020204" pitchFamily="34" charset="0"/>
              </a:rPr>
              <a:t> etc.</a:t>
            </a:r>
            <a:br>
              <a:rPr lang="en-IN" sz="1600" dirty="0" smtClean="0">
                <a:latin typeface="Arial" panose="020B0604020202020204" pitchFamily="34" charset="0"/>
                <a:cs typeface="Arial" panose="020B0604020202020204" pitchFamily="34" charset="0"/>
              </a:rPr>
            </a:br>
            <a:endParaRPr lang="en-IN" sz="1600" dirty="0" smtClean="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sz="1600" dirty="0" smtClean="0">
                <a:latin typeface="Arial" panose="020B0604020202020204" pitchFamily="34" charset="0"/>
                <a:cs typeface="Arial" panose="020B0604020202020204" pitchFamily="34" charset="0"/>
              </a:rPr>
              <a:t>Search for respective MCP server and follow guidelines to add the MCP server to your host application like </a:t>
            </a:r>
            <a:r>
              <a:rPr lang="en-IN" sz="1600" dirty="0" err="1" smtClean="0">
                <a:latin typeface="Arial" panose="020B0604020202020204" pitchFamily="34" charset="0"/>
                <a:cs typeface="Arial" panose="020B0604020202020204" pitchFamily="34" charset="0"/>
              </a:rPr>
              <a:t>VSCode</a:t>
            </a:r>
            <a:r>
              <a:rPr lang="en-IN" sz="1600" dirty="0" smtClean="0">
                <a:latin typeface="Arial" panose="020B0604020202020204" pitchFamily="34" charset="0"/>
                <a:cs typeface="Arial" panose="020B0604020202020204" pitchFamily="34" charset="0"/>
              </a:rPr>
              <a:t>, Cursor, Claude Desktop etc.</a:t>
            </a:r>
          </a:p>
          <a:p>
            <a:pPr marL="285750" indent="-285750">
              <a:buFont typeface="Arial" panose="020B0604020202020204" pitchFamily="34" charset="0"/>
              <a:buChar char="•"/>
            </a:pPr>
            <a:endParaRPr lang="en-IN" sz="1600" dirty="0">
              <a:latin typeface="Arial" panose="020B0604020202020204" pitchFamily="34" charset="0"/>
              <a:cs typeface="Arial" panose="020B0604020202020204" pitchFamily="34" charset="0"/>
            </a:endParaRPr>
          </a:p>
          <a:p>
            <a:pPr marL="285750" lvl="1" indent="-285750">
              <a:buFont typeface="Arial" panose="020B0604020202020204" pitchFamily="34" charset="0"/>
              <a:buChar char="•"/>
            </a:pPr>
            <a:r>
              <a:rPr lang="en-US" altLang="en-US" sz="1600" dirty="0">
                <a:solidFill>
                  <a:srgbClr val="000000"/>
                </a:solidFill>
                <a:latin typeface="Arial" panose="020B0604020202020204" pitchFamily="34" charset="0"/>
                <a:ea typeface="Arial" panose="020B0604020202020204" pitchFamily="34" charset="0"/>
                <a:cs typeface="Arial" panose="020B0604020202020204" pitchFamily="34" charset="0"/>
              </a:rPr>
              <a:t>Works only with </a:t>
            </a:r>
            <a:r>
              <a:rPr lang="en-US" altLang="en-US" sz="1600" b="1" dirty="0">
                <a:solidFill>
                  <a:srgbClr val="000000"/>
                </a:solidFill>
                <a:latin typeface="Arial" panose="020B0604020202020204" pitchFamily="34" charset="0"/>
                <a:ea typeface="Arial" panose="020B0604020202020204" pitchFamily="34" charset="0"/>
                <a:cs typeface="Arial" panose="020B0604020202020204" pitchFamily="34" charset="0"/>
              </a:rPr>
              <a:t>Pro plan</a:t>
            </a:r>
            <a:r>
              <a:rPr lang="en-US" altLang="en-US" sz="1600" dirty="0">
                <a:solidFill>
                  <a:srgbClr val="000000"/>
                </a:solidFill>
                <a:latin typeface="Arial" panose="020B0604020202020204" pitchFamily="34" charset="0"/>
                <a:ea typeface="Arial" panose="020B0604020202020204" pitchFamily="34" charset="0"/>
                <a:cs typeface="Arial" panose="020B0604020202020204" pitchFamily="34" charset="0"/>
              </a:rPr>
              <a:t> currently.</a:t>
            </a:r>
            <a:endParaRPr lang="en-US" alt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8120892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395654" y="158194"/>
            <a:ext cx="11078308" cy="595418"/>
          </a:xfrm>
        </p:spPr>
        <p:txBody>
          <a:bodyPr>
            <a:noAutofit/>
          </a:bodyPr>
          <a:lstStyle/>
          <a:p>
            <a:pPr algn="ctr" fontAlgn="base"/>
            <a:r>
              <a:rPr lang="en-US" sz="3200" b="1" dirty="0" err="1" smtClean="0">
                <a:latin typeface="Arial" panose="020B0604020202020204" pitchFamily="34" charset="0"/>
                <a:cs typeface="Arial" panose="020B0604020202020204" pitchFamily="34" charset="0"/>
              </a:rPr>
              <a:t>FastMCP</a:t>
            </a:r>
            <a:r>
              <a:rPr lang="en-US" sz="3200" b="1" dirty="0" smtClean="0">
                <a:latin typeface="Arial" panose="020B0604020202020204" pitchFamily="34" charset="0"/>
                <a:cs typeface="Arial" panose="020B0604020202020204" pitchFamily="34" charset="0"/>
              </a:rPr>
              <a:t> Vs MCP SDK</a:t>
            </a:r>
            <a:endParaRPr lang="en-IN" sz="3200" b="1" dirty="0">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7132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base"/>
            <a:endParaRPr lang="en-IN" sz="14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5"/>
          <p:cNvSpPr/>
          <p:nvPr/>
        </p:nvSpPr>
        <p:spPr>
          <a:xfrm>
            <a:off x="976454" y="1282184"/>
            <a:ext cx="10746623" cy="5016758"/>
          </a:xfrm>
          <a:prstGeom prst="rect">
            <a:avLst/>
          </a:prstGeom>
        </p:spPr>
        <p:txBody>
          <a:bodyPr wrap="square">
            <a:spAutoFit/>
          </a:bodyPr>
          <a:lstStyle/>
          <a:p>
            <a:r>
              <a:rPr lang="en-US" sz="1600" dirty="0" smtClean="0">
                <a:latin typeface="Arial" panose="020B0604020202020204" pitchFamily="34" charset="0"/>
                <a:cs typeface="Arial" panose="020B0604020202020204" pitchFamily="34" charset="0"/>
              </a:rPr>
              <a:t>MCP </a:t>
            </a:r>
            <a:r>
              <a:rPr lang="en-US" sz="1600" dirty="0">
                <a:latin typeface="Arial" panose="020B0604020202020204" pitchFamily="34" charset="0"/>
                <a:cs typeface="Arial" panose="020B0604020202020204" pitchFamily="34" charset="0"/>
              </a:rPr>
              <a:t>is a protocol (set of rules). Writing servers from scratch is complex, so we use libraries. </a:t>
            </a:r>
            <a:endParaRPr lang="en-US" sz="1600" dirty="0" smtClean="0">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a:p>
            <a:r>
              <a:rPr lang="en-US" sz="1600" dirty="0" smtClean="0">
                <a:latin typeface="Arial" panose="020B0604020202020204" pitchFamily="34" charset="0"/>
                <a:cs typeface="Arial" panose="020B0604020202020204" pitchFamily="34" charset="0"/>
              </a:rPr>
              <a:t>Two </a:t>
            </a:r>
            <a:r>
              <a:rPr lang="en-US" sz="1600" dirty="0">
                <a:latin typeface="Arial" panose="020B0604020202020204" pitchFamily="34" charset="0"/>
                <a:cs typeface="Arial" panose="020B0604020202020204" pitchFamily="34" charset="0"/>
              </a:rPr>
              <a:t>main options are:</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MCP SDK (official </a:t>
            </a:r>
            <a:r>
              <a:rPr lang="en-US" sz="1600" dirty="0" smtClean="0">
                <a:latin typeface="Arial" panose="020B0604020202020204" pitchFamily="34" charset="0"/>
                <a:cs typeface="Arial" panose="020B0604020202020204" pitchFamily="34" charset="0"/>
              </a:rPr>
              <a:t>library by Anthropic)</a:t>
            </a: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err="1">
                <a:latin typeface="Arial" panose="020B0604020202020204" pitchFamily="34" charset="0"/>
                <a:cs typeface="Arial" panose="020B0604020202020204" pitchFamily="34" charset="0"/>
              </a:rPr>
              <a:t>FastMCP</a:t>
            </a:r>
            <a:r>
              <a:rPr lang="en-US" sz="1600" dirty="0">
                <a:latin typeface="Arial" panose="020B0604020202020204" pitchFamily="34" charset="0"/>
                <a:cs typeface="Arial" panose="020B0604020202020204" pitchFamily="34" charset="0"/>
              </a:rPr>
              <a:t> (simplified abstraction)</a:t>
            </a:r>
          </a:p>
          <a:p>
            <a:endParaRPr lang="en-US" sz="1600" dirty="0">
              <a:latin typeface="Arial" panose="020B0604020202020204" pitchFamily="34" charset="0"/>
              <a:cs typeface="Arial" panose="020B0604020202020204" pitchFamily="34" charset="0"/>
            </a:endParaRPr>
          </a:p>
          <a:p>
            <a:r>
              <a:rPr lang="en-US" sz="1600" dirty="0" smtClean="0">
                <a:latin typeface="Arial" panose="020B0604020202020204" pitchFamily="34" charset="0"/>
                <a:cs typeface="Arial" panose="020B0604020202020204" pitchFamily="34" charset="0"/>
              </a:rPr>
              <a:t>Evolution </a:t>
            </a:r>
            <a:r>
              <a:rPr lang="en-US" sz="1600" dirty="0">
                <a:latin typeface="Arial" panose="020B0604020202020204" pitchFamily="34" charset="0"/>
                <a:cs typeface="Arial" panose="020B0604020202020204" pitchFamily="34" charset="0"/>
              </a:rPr>
              <a:t>of MCP Libraries</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MCP was introduced by Anthropic in 2023</a:t>
            </a:r>
            <a:r>
              <a:rPr lang="en-US" sz="1600" dirty="0" smtClean="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dirty="0" smtClean="0">
                <a:latin typeface="Arial" panose="020B0604020202020204" pitchFamily="34" charset="0"/>
                <a:cs typeface="Arial" panose="020B0604020202020204" pitchFamily="34" charset="0"/>
              </a:rPr>
              <a:t>The problem with MCP SDK </a:t>
            </a:r>
            <a:r>
              <a:rPr lang="en-US" sz="1600" dirty="0">
                <a:latin typeface="Arial" panose="020B0604020202020204" pitchFamily="34" charset="0"/>
                <a:cs typeface="Arial" panose="020B0604020202020204" pitchFamily="34" charset="0"/>
              </a:rPr>
              <a:t>was too boilerplate-heavy</a:t>
            </a:r>
            <a:r>
              <a:rPr lang="en-US" sz="1600" dirty="0" smtClean="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dirty="0" err="1">
                <a:latin typeface="Arial" panose="020B0604020202020204" pitchFamily="34" charset="0"/>
                <a:cs typeface="Arial" panose="020B0604020202020204" pitchFamily="34" charset="0"/>
              </a:rPr>
              <a:t>FastMCP</a:t>
            </a:r>
            <a:r>
              <a:rPr lang="en-US" sz="1600" dirty="0">
                <a:latin typeface="Arial" panose="020B0604020202020204" pitchFamily="34" charset="0"/>
                <a:cs typeface="Arial" panose="020B0604020202020204" pitchFamily="34" charset="0"/>
              </a:rPr>
              <a:t> (by Jeremiah </a:t>
            </a:r>
            <a:r>
              <a:rPr lang="en-US" sz="1600" dirty="0" err="1" smtClean="0">
                <a:latin typeface="Arial" panose="020B0604020202020204" pitchFamily="34" charset="0"/>
                <a:cs typeface="Arial" panose="020B0604020202020204" pitchFamily="34" charset="0"/>
              </a:rPr>
              <a:t>Lowin</a:t>
            </a:r>
            <a:r>
              <a:rPr lang="en-US" sz="1600" dirty="0" smtClean="0">
                <a:latin typeface="Arial" panose="020B0604020202020204" pitchFamily="34" charset="0"/>
                <a:cs typeface="Arial" panose="020B0604020202020204" pitchFamily="34" charset="0"/>
              </a:rPr>
              <a:t> who built prefect like airflow) </a:t>
            </a:r>
            <a:r>
              <a:rPr lang="en-US" sz="1600" dirty="0">
                <a:latin typeface="Arial" panose="020B0604020202020204" pitchFamily="34" charset="0"/>
                <a:cs typeface="Arial" panose="020B0604020202020204" pitchFamily="34" charset="0"/>
              </a:rPr>
              <a:t>simplified it, like </a:t>
            </a:r>
            <a:r>
              <a:rPr lang="en-US" sz="1600" dirty="0" err="1">
                <a:latin typeface="Arial" panose="020B0604020202020204" pitchFamily="34" charset="0"/>
                <a:cs typeface="Arial" panose="020B0604020202020204" pitchFamily="34" charset="0"/>
              </a:rPr>
              <a:t>Keras</a:t>
            </a:r>
            <a:r>
              <a:rPr lang="en-US" sz="1600" dirty="0">
                <a:latin typeface="Arial" panose="020B0604020202020204" pitchFamily="34" charset="0"/>
                <a:cs typeface="Arial" panose="020B0604020202020204" pitchFamily="34" charset="0"/>
              </a:rPr>
              <a:t> simplified </a:t>
            </a:r>
            <a:r>
              <a:rPr lang="en-US" sz="1600" dirty="0" err="1">
                <a:latin typeface="Arial" panose="020B0604020202020204" pitchFamily="34" charset="0"/>
                <a:cs typeface="Arial" panose="020B0604020202020204" pitchFamily="34" charset="0"/>
              </a:rPr>
              <a:t>TensorFlow</a:t>
            </a:r>
            <a:r>
              <a:rPr lang="en-US" sz="1600" dirty="0" smtClean="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dirty="0" err="1">
                <a:latin typeface="Arial" panose="020B0604020202020204" pitchFamily="34" charset="0"/>
                <a:cs typeface="Arial" panose="020B0604020202020204" pitchFamily="34" charset="0"/>
              </a:rPr>
              <a:t>FastMCP</a:t>
            </a:r>
            <a:r>
              <a:rPr lang="en-US" sz="1600" dirty="0">
                <a:latin typeface="Arial" panose="020B0604020202020204" pitchFamily="34" charset="0"/>
                <a:cs typeface="Arial" panose="020B0604020202020204" pitchFamily="34" charset="0"/>
              </a:rPr>
              <a:t> was later integrated into the SDK but also exists independently.</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Key points:</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SDK had sub-libraries (server, client, CLI).</a:t>
            </a:r>
          </a:p>
          <a:p>
            <a:pPr marL="742950" lvl="1" indent="-285750">
              <a:buFont typeface="Arial" panose="020B0604020202020204" pitchFamily="34" charset="0"/>
              <a:buChar char="•"/>
            </a:pPr>
            <a:r>
              <a:rPr lang="en-US" sz="1600" dirty="0" err="1" smtClean="0">
                <a:latin typeface="Arial" panose="020B0604020202020204" pitchFamily="34" charset="0"/>
                <a:cs typeface="Arial" panose="020B0604020202020204" pitchFamily="34" charset="0"/>
              </a:rPr>
              <a:t>FastMCP</a:t>
            </a:r>
            <a:r>
              <a:rPr lang="en-US" sz="1600" dirty="0" smtClean="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became the developer-friendly choice.</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Current State of Libraries</a:t>
            </a:r>
          </a:p>
          <a:p>
            <a:pPr marL="742950" lvl="1" indent="-285750">
              <a:buFont typeface="Arial" panose="020B0604020202020204" pitchFamily="34" charset="0"/>
              <a:buChar char="•"/>
            </a:pPr>
            <a:r>
              <a:rPr lang="en-US" sz="1600" dirty="0" smtClean="0">
                <a:latin typeface="Arial" panose="020B0604020202020204" pitchFamily="34" charset="0"/>
                <a:cs typeface="Arial" panose="020B0604020202020204" pitchFamily="34" charset="0"/>
              </a:rPr>
              <a:t>MCP </a:t>
            </a:r>
            <a:r>
              <a:rPr lang="en-US" sz="1600" dirty="0">
                <a:latin typeface="Arial" panose="020B0604020202020204" pitchFamily="34" charset="0"/>
                <a:cs typeface="Arial" panose="020B0604020202020204" pitchFamily="34" charset="0"/>
              </a:rPr>
              <a:t>SDK with its tools</a:t>
            </a:r>
            <a:r>
              <a:rPr lang="en-US" sz="1600" dirty="0" smtClean="0">
                <a:latin typeface="Arial" panose="020B0604020202020204" pitchFamily="34" charset="0"/>
                <a:cs typeface="Arial" panose="020B0604020202020204" pitchFamily="34" charset="0"/>
              </a:rPr>
              <a:t>.</a:t>
            </a:r>
            <a:endParaRPr lang="en-US" sz="16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dirty="0" err="1">
                <a:latin typeface="Arial" panose="020B0604020202020204" pitchFamily="34" charset="0"/>
                <a:cs typeface="Arial" panose="020B0604020202020204" pitchFamily="34" charset="0"/>
              </a:rPr>
              <a:t>FastMCP</a:t>
            </a:r>
            <a:r>
              <a:rPr lang="en-US" sz="1600" dirty="0">
                <a:latin typeface="Arial" panose="020B0604020202020204" pitchFamily="34" charset="0"/>
                <a:cs typeface="Arial" panose="020B0604020202020204" pitchFamily="34" charset="0"/>
              </a:rPr>
              <a:t> 2.0 </a:t>
            </a:r>
            <a:r>
              <a:rPr lang="en-US" sz="1600" dirty="0" smtClean="0">
                <a:latin typeface="Arial" panose="020B0604020202020204" pitchFamily="34" charset="0"/>
                <a:cs typeface="Arial" panose="020B0604020202020204" pitchFamily="34" charset="0"/>
              </a:rPr>
              <a:t> has been built as </a:t>
            </a:r>
            <a:r>
              <a:rPr lang="en-US" sz="1600" dirty="0">
                <a:latin typeface="Arial" panose="020B0604020202020204" pitchFamily="34" charset="0"/>
                <a:cs typeface="Arial" panose="020B0604020202020204" pitchFamily="34" charset="0"/>
              </a:rPr>
              <a:t>an </a:t>
            </a:r>
            <a:r>
              <a:rPr lang="en-US" sz="1600" dirty="0" smtClean="0">
                <a:latin typeface="Arial" panose="020B0604020202020204" pitchFamily="34" charset="0"/>
                <a:cs typeface="Arial" panose="020B0604020202020204" pitchFamily="34" charset="0"/>
              </a:rPr>
              <a:t>independent library rather with MCP SDK, </a:t>
            </a:r>
            <a:r>
              <a:rPr lang="en-US" sz="1600" dirty="0">
                <a:latin typeface="Arial" panose="020B0604020202020204" pitchFamily="34" charset="0"/>
                <a:cs typeface="Arial" panose="020B0604020202020204" pitchFamily="34" charset="0"/>
              </a:rPr>
              <a:t>simpler option</a:t>
            </a:r>
            <a:r>
              <a:rPr lang="en-US" sz="1600" dirty="0" smtClean="0">
                <a:latin typeface="Arial" panose="020B0604020202020204" pitchFamily="34" charset="0"/>
                <a:cs typeface="Arial" panose="020B0604020202020204" pitchFamily="34" charset="0"/>
              </a:rPr>
              <a:t>.</a:t>
            </a:r>
          </a:p>
          <a:p>
            <a:pPr marL="1257300" lvl="2" indent="-342900">
              <a:buFont typeface="+mj-lt"/>
              <a:buAutoNum type="arabicPeriod"/>
            </a:pPr>
            <a:r>
              <a:rPr lang="en-US" sz="1600" dirty="0" smtClean="0">
                <a:latin typeface="Arial" panose="020B0604020202020204" pitchFamily="34" charset="0"/>
                <a:cs typeface="Arial" panose="020B0604020202020204" pitchFamily="34" charset="0"/>
              </a:rPr>
              <a:t>pip install </a:t>
            </a:r>
            <a:r>
              <a:rPr lang="en-US" sz="1600" dirty="0" err="1" smtClean="0">
                <a:latin typeface="Arial" panose="020B0604020202020204" pitchFamily="34" charset="0"/>
                <a:cs typeface="Arial" panose="020B0604020202020204" pitchFamily="34" charset="0"/>
              </a:rPr>
              <a:t>fastmcp</a:t>
            </a: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9819813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395654" y="158194"/>
            <a:ext cx="11078308" cy="595418"/>
          </a:xfrm>
        </p:spPr>
        <p:txBody>
          <a:bodyPr>
            <a:noAutofit/>
          </a:bodyPr>
          <a:lstStyle/>
          <a:p>
            <a:pPr algn="ctr" fontAlgn="base"/>
            <a:r>
              <a:rPr lang="en-US" sz="3200" b="1" dirty="0" smtClean="0">
                <a:latin typeface="Arial" panose="020B0604020202020204" pitchFamily="34" charset="0"/>
                <a:cs typeface="Arial" panose="020B0604020202020204" pitchFamily="34" charset="0"/>
              </a:rPr>
              <a:t>Custom Local MCP servers</a:t>
            </a:r>
            <a:endParaRPr lang="en-IN" sz="3200" b="1" dirty="0">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7132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base"/>
            <a:endParaRPr lang="en-IN" sz="14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5"/>
          <p:cNvSpPr/>
          <p:nvPr/>
        </p:nvSpPr>
        <p:spPr>
          <a:xfrm>
            <a:off x="864352" y="933301"/>
            <a:ext cx="10746623" cy="5755422"/>
          </a:xfrm>
          <a:prstGeom prst="rect">
            <a:avLst/>
          </a:prstGeom>
        </p:spPr>
        <p:txBody>
          <a:bodyPr wrap="square">
            <a:spAutoFit/>
          </a:bodyPr>
          <a:lstStyle/>
          <a:p>
            <a:r>
              <a:rPr lang="en-US" sz="1600" dirty="0" smtClean="0">
                <a:latin typeface="Arial" panose="020B0604020202020204" pitchFamily="34" charset="0"/>
                <a:cs typeface="Arial" panose="020B0604020202020204" pitchFamily="34" charset="0"/>
              </a:rPr>
              <a:t>pip install </a:t>
            </a:r>
            <a:r>
              <a:rPr lang="en-US" sz="1600" dirty="0" err="1" smtClean="0">
                <a:latin typeface="Arial" panose="020B0604020202020204" pitchFamily="34" charset="0"/>
                <a:cs typeface="Arial" panose="020B0604020202020204" pitchFamily="34" charset="0"/>
              </a:rPr>
              <a:t>uv</a:t>
            </a:r>
            <a:endParaRPr lang="en-US" sz="1600" dirty="0" smtClean="0">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 Create a new directory for our project </a:t>
            </a:r>
            <a:endParaRPr lang="en-US" sz="1600" dirty="0" smtClean="0">
              <a:latin typeface="Arial" panose="020B0604020202020204" pitchFamily="34" charset="0"/>
              <a:cs typeface="Arial" panose="020B0604020202020204" pitchFamily="34" charset="0"/>
            </a:endParaRPr>
          </a:p>
          <a:p>
            <a:r>
              <a:rPr lang="en-US" sz="1600" dirty="0" err="1" smtClean="0">
                <a:latin typeface="Arial" panose="020B0604020202020204" pitchFamily="34" charset="0"/>
                <a:cs typeface="Arial" panose="020B0604020202020204" pitchFamily="34" charset="0"/>
              </a:rPr>
              <a:t>uv</a:t>
            </a:r>
            <a:r>
              <a:rPr lang="en-US" sz="1600" dirty="0" smtClean="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init</a:t>
            </a:r>
            <a:r>
              <a:rPr lang="en-US" sz="1600" dirty="0">
                <a:latin typeface="Arial" panose="020B0604020202020204" pitchFamily="34" charset="0"/>
                <a:cs typeface="Arial" panose="020B0604020202020204" pitchFamily="34" charset="0"/>
              </a:rPr>
              <a:t> </a:t>
            </a:r>
            <a:r>
              <a:rPr lang="en-US" sz="1600" dirty="0" err="1" smtClean="0">
                <a:latin typeface="Arial" panose="020B0604020202020204" pitchFamily="34" charset="0"/>
                <a:cs typeface="Arial" panose="020B0604020202020204" pitchFamily="34" charset="0"/>
              </a:rPr>
              <a:t>mcp_local_server</a:t>
            </a:r>
            <a:r>
              <a:rPr lang="en-US" sz="1600" dirty="0" smtClean="0">
                <a:latin typeface="Arial" panose="020B0604020202020204" pitchFamily="34" charset="0"/>
                <a:cs typeface="Arial" panose="020B0604020202020204" pitchFamily="34" charset="0"/>
              </a:rPr>
              <a:t> </a:t>
            </a:r>
          </a:p>
          <a:p>
            <a:r>
              <a:rPr lang="en-US" sz="1600" dirty="0" smtClean="0">
                <a:latin typeface="Arial" panose="020B0604020202020204" pitchFamily="34" charset="0"/>
                <a:cs typeface="Arial" panose="020B0604020202020204" pitchFamily="34" charset="0"/>
              </a:rPr>
              <a:t>cd </a:t>
            </a:r>
            <a:r>
              <a:rPr lang="en-US" sz="1600" dirty="0" err="1">
                <a:latin typeface="Arial" panose="020B0604020202020204" pitchFamily="34" charset="0"/>
                <a:cs typeface="Arial" panose="020B0604020202020204" pitchFamily="34" charset="0"/>
              </a:rPr>
              <a:t>mcp_local_server</a:t>
            </a:r>
            <a:endParaRPr lang="en-US" sz="1600" dirty="0" smtClean="0">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 Create virtual environment and activate it</a:t>
            </a:r>
          </a:p>
          <a:p>
            <a:r>
              <a:rPr lang="en-US" sz="1600" dirty="0" err="1">
                <a:latin typeface="Arial" panose="020B0604020202020204" pitchFamily="34" charset="0"/>
                <a:cs typeface="Arial" panose="020B0604020202020204" pitchFamily="34" charset="0"/>
              </a:rPr>
              <a:t>uv</a:t>
            </a:r>
            <a:r>
              <a:rPr lang="en-US" sz="1600" dirty="0">
                <a:latin typeface="Arial" panose="020B0604020202020204" pitchFamily="34" charset="0"/>
                <a:cs typeface="Arial" panose="020B0604020202020204" pitchFamily="34" charset="0"/>
              </a:rPr>
              <a:t> </a:t>
            </a:r>
            <a:r>
              <a:rPr lang="en-US" sz="1600" dirty="0" err="1">
                <a:latin typeface="Arial" panose="020B0604020202020204" pitchFamily="34" charset="0"/>
                <a:cs typeface="Arial" panose="020B0604020202020204" pitchFamily="34" charset="0"/>
              </a:rPr>
              <a:t>venv</a:t>
            </a: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a:t>
            </a:r>
            <a:r>
              <a:rPr lang="en-US" sz="1600" dirty="0" err="1">
                <a:latin typeface="Arial" panose="020B0604020202020204" pitchFamily="34" charset="0"/>
                <a:cs typeface="Arial" panose="020B0604020202020204" pitchFamily="34" charset="0"/>
              </a:rPr>
              <a:t>venv</a:t>
            </a:r>
            <a:r>
              <a:rPr lang="en-US" sz="1600" dirty="0">
                <a:latin typeface="Arial" panose="020B0604020202020204" pitchFamily="34" charset="0"/>
                <a:cs typeface="Arial" panose="020B0604020202020204" pitchFamily="34" charset="0"/>
              </a:rPr>
              <a:t>\Scripts\activate</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 Install dependencies</a:t>
            </a:r>
          </a:p>
          <a:p>
            <a:r>
              <a:rPr lang="en-US" sz="1600" dirty="0" err="1">
                <a:latin typeface="Arial" panose="020B0604020202020204" pitchFamily="34" charset="0"/>
                <a:cs typeface="Arial" panose="020B0604020202020204" pitchFamily="34" charset="0"/>
              </a:rPr>
              <a:t>uv</a:t>
            </a:r>
            <a:r>
              <a:rPr lang="en-US" sz="1600" dirty="0">
                <a:latin typeface="Arial" panose="020B0604020202020204" pitchFamily="34" charset="0"/>
                <a:cs typeface="Arial" panose="020B0604020202020204" pitchFamily="34" charset="0"/>
              </a:rPr>
              <a:t> add </a:t>
            </a:r>
            <a:r>
              <a:rPr lang="en-US" sz="1600" dirty="0" err="1" smtClean="0">
                <a:latin typeface="Arial" panose="020B0604020202020204" pitchFamily="34" charset="0"/>
                <a:cs typeface="Arial" panose="020B0604020202020204" pitchFamily="34" charset="0"/>
              </a:rPr>
              <a:t>fastmcp</a:t>
            </a:r>
            <a:endParaRPr lang="en-US" sz="1600" dirty="0">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a:p>
            <a:r>
              <a:rPr lang="en-US" sz="1600" dirty="0" err="1" smtClean="0">
                <a:latin typeface="Arial" panose="020B0604020202020204" pitchFamily="34" charset="0"/>
                <a:cs typeface="Arial" panose="020B0604020202020204" pitchFamily="34" charset="0"/>
              </a:rPr>
              <a:t>Fastmcp</a:t>
            </a:r>
            <a:r>
              <a:rPr lang="en-US" sz="1600" dirty="0" smtClean="0">
                <a:latin typeface="Arial" panose="020B0604020202020204" pitchFamily="34" charset="0"/>
                <a:cs typeface="Arial" panose="020B0604020202020204" pitchFamily="34" charset="0"/>
              </a:rPr>
              <a:t> version</a:t>
            </a:r>
          </a:p>
          <a:p>
            <a:endParaRPr lang="en-US" sz="1600" dirty="0" smtClean="0">
              <a:latin typeface="Arial" panose="020B0604020202020204" pitchFamily="34" charset="0"/>
              <a:cs typeface="Arial" panose="020B0604020202020204" pitchFamily="34" charset="0"/>
            </a:endParaRPr>
          </a:p>
          <a:p>
            <a:r>
              <a:rPr lang="en-US" sz="1600" dirty="0" smtClean="0">
                <a:latin typeface="Arial" panose="020B0604020202020204" pitchFamily="34" charset="0"/>
                <a:cs typeface="Arial" panose="020B0604020202020204" pitchFamily="34" charset="0"/>
              </a:rPr>
              <a:t>#To test the </a:t>
            </a:r>
            <a:r>
              <a:rPr lang="en-US" sz="1600" smtClean="0">
                <a:latin typeface="Arial" panose="020B0604020202020204" pitchFamily="34" charset="0"/>
                <a:cs typeface="Arial" panose="020B0604020202020204" pitchFamily="34" charset="0"/>
              </a:rPr>
              <a:t>server </a:t>
            </a:r>
            <a:r>
              <a:rPr lang="en-US" sz="1600" b="1" smtClean="0">
                <a:solidFill>
                  <a:srgbClr val="FF0000"/>
                </a:solidFill>
                <a:latin typeface="Arial" panose="020B0604020202020204" pitchFamily="34" charset="0"/>
                <a:cs typeface="Arial" panose="020B0604020202020204" pitchFamily="34" charset="0"/>
              </a:rPr>
              <a:t>launches </a:t>
            </a:r>
            <a:r>
              <a:rPr lang="en-US" sz="1600" b="1" dirty="0" smtClean="0">
                <a:solidFill>
                  <a:srgbClr val="FF0000"/>
                </a:solidFill>
                <a:latin typeface="Arial" panose="020B0604020202020204" pitchFamily="34" charset="0"/>
                <a:cs typeface="Arial" panose="020B0604020202020204" pitchFamily="34" charset="0"/>
              </a:rPr>
              <a:t>MCP inspector</a:t>
            </a:r>
          </a:p>
          <a:p>
            <a:r>
              <a:rPr lang="en-US" sz="1600" dirty="0" err="1" smtClean="0">
                <a:latin typeface="Arial" panose="020B0604020202020204" pitchFamily="34" charset="0"/>
                <a:cs typeface="Arial" panose="020B0604020202020204" pitchFamily="34" charset="0"/>
              </a:rPr>
              <a:t>uv</a:t>
            </a:r>
            <a:r>
              <a:rPr lang="en-US" sz="1600" dirty="0" smtClean="0">
                <a:latin typeface="Arial" panose="020B0604020202020204" pitchFamily="34" charset="0"/>
                <a:cs typeface="Arial" panose="020B0604020202020204" pitchFamily="34" charset="0"/>
              </a:rPr>
              <a:t> run </a:t>
            </a:r>
            <a:r>
              <a:rPr lang="en-US" sz="1600" dirty="0" err="1" smtClean="0">
                <a:latin typeface="Arial" panose="020B0604020202020204" pitchFamily="34" charset="0"/>
                <a:cs typeface="Arial" panose="020B0604020202020204" pitchFamily="34" charset="0"/>
              </a:rPr>
              <a:t>fastmcp</a:t>
            </a:r>
            <a:r>
              <a:rPr lang="en-US" sz="1600" dirty="0" smtClean="0">
                <a:latin typeface="Arial" panose="020B0604020202020204" pitchFamily="34" charset="0"/>
                <a:cs typeface="Arial" panose="020B0604020202020204" pitchFamily="34" charset="0"/>
              </a:rPr>
              <a:t> dev main.py</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#To </a:t>
            </a:r>
            <a:r>
              <a:rPr lang="en-US" sz="1600" dirty="0" smtClean="0">
                <a:latin typeface="Arial" panose="020B0604020202020204" pitchFamily="34" charset="0"/>
                <a:cs typeface="Arial" panose="020B0604020202020204" pitchFamily="34" charset="0"/>
              </a:rPr>
              <a:t>run </a:t>
            </a:r>
            <a:r>
              <a:rPr lang="en-US" sz="1600" dirty="0">
                <a:latin typeface="Arial" panose="020B0604020202020204" pitchFamily="34" charset="0"/>
                <a:cs typeface="Arial" panose="020B0604020202020204" pitchFamily="34" charset="0"/>
              </a:rPr>
              <a:t>the server </a:t>
            </a:r>
          </a:p>
          <a:p>
            <a:r>
              <a:rPr lang="en-US" sz="1600" dirty="0" err="1">
                <a:latin typeface="Arial" panose="020B0604020202020204" pitchFamily="34" charset="0"/>
                <a:cs typeface="Arial" panose="020B0604020202020204" pitchFamily="34" charset="0"/>
              </a:rPr>
              <a:t>uv</a:t>
            </a:r>
            <a:r>
              <a:rPr lang="en-US" sz="1600" dirty="0">
                <a:latin typeface="Arial" panose="020B0604020202020204" pitchFamily="34" charset="0"/>
                <a:cs typeface="Arial" panose="020B0604020202020204" pitchFamily="34" charset="0"/>
              </a:rPr>
              <a:t> run </a:t>
            </a:r>
            <a:r>
              <a:rPr lang="en-US" sz="1600" dirty="0" err="1">
                <a:latin typeface="Arial" panose="020B0604020202020204" pitchFamily="34" charset="0"/>
                <a:cs typeface="Arial" panose="020B0604020202020204" pitchFamily="34" charset="0"/>
              </a:rPr>
              <a:t>fastmcp</a:t>
            </a:r>
            <a:r>
              <a:rPr lang="en-US" sz="1600" dirty="0">
                <a:latin typeface="Arial" panose="020B0604020202020204" pitchFamily="34" charset="0"/>
                <a:cs typeface="Arial" panose="020B0604020202020204" pitchFamily="34" charset="0"/>
              </a:rPr>
              <a:t> </a:t>
            </a:r>
            <a:r>
              <a:rPr lang="en-US" sz="1600" dirty="0" smtClean="0">
                <a:latin typeface="Arial" panose="020B0604020202020204" pitchFamily="34" charset="0"/>
                <a:cs typeface="Arial" panose="020B0604020202020204" pitchFamily="34" charset="0"/>
              </a:rPr>
              <a:t>run main.py</a:t>
            </a:r>
          </a:p>
          <a:p>
            <a:endParaRPr lang="en-US" sz="1600" dirty="0">
              <a:latin typeface="Arial" panose="020B0604020202020204" pitchFamily="34" charset="0"/>
              <a:cs typeface="Arial" panose="020B0604020202020204" pitchFamily="34" charset="0"/>
            </a:endParaRPr>
          </a:p>
          <a:p>
            <a:r>
              <a:rPr lang="en-IN" sz="1600" dirty="0" smtClean="0">
                <a:latin typeface="Arial" panose="020B0604020202020204" pitchFamily="34" charset="0"/>
                <a:cs typeface="Arial" panose="020B0604020202020204" pitchFamily="34" charset="0"/>
              </a:rPr>
              <a:t>#Add the server to </a:t>
            </a:r>
            <a:r>
              <a:rPr lang="en-IN" sz="1600" dirty="0" err="1" smtClean="0">
                <a:latin typeface="Arial" panose="020B0604020202020204" pitchFamily="34" charset="0"/>
                <a:cs typeface="Arial" panose="020B0604020202020204" pitchFamily="34" charset="0"/>
              </a:rPr>
              <a:t>claude</a:t>
            </a:r>
            <a:r>
              <a:rPr lang="en-IN" sz="1600" dirty="0" smtClean="0">
                <a:latin typeface="Arial" panose="020B0604020202020204" pitchFamily="34" charset="0"/>
                <a:cs typeface="Arial" panose="020B0604020202020204" pitchFamily="34" charset="0"/>
              </a:rPr>
              <a:t> desktop</a:t>
            </a:r>
          </a:p>
          <a:p>
            <a:r>
              <a:rPr lang="en-IN" sz="1600" dirty="0" err="1" smtClean="0">
                <a:latin typeface="Arial" panose="020B0604020202020204" pitchFamily="34" charset="0"/>
                <a:cs typeface="Arial" panose="020B0604020202020204" pitchFamily="34" charset="0"/>
              </a:rPr>
              <a:t>uv</a:t>
            </a:r>
            <a:r>
              <a:rPr lang="en-IN" sz="1600" dirty="0" smtClean="0">
                <a:latin typeface="Arial" panose="020B0604020202020204" pitchFamily="34" charset="0"/>
                <a:cs typeface="Arial" panose="020B0604020202020204" pitchFamily="34" charset="0"/>
              </a:rPr>
              <a:t> run </a:t>
            </a:r>
            <a:r>
              <a:rPr lang="en-IN" sz="1600" dirty="0" err="1" smtClean="0">
                <a:latin typeface="Arial" panose="020B0604020202020204" pitchFamily="34" charset="0"/>
                <a:cs typeface="Arial" panose="020B0604020202020204" pitchFamily="34" charset="0"/>
              </a:rPr>
              <a:t>fastmcp</a:t>
            </a:r>
            <a:r>
              <a:rPr lang="en-IN" sz="1600" dirty="0" smtClean="0">
                <a:latin typeface="Arial" panose="020B0604020202020204" pitchFamily="34" charset="0"/>
                <a:cs typeface="Arial" panose="020B0604020202020204" pitchFamily="34" charset="0"/>
              </a:rPr>
              <a:t> install </a:t>
            </a:r>
            <a:r>
              <a:rPr lang="en-IN" sz="1600" dirty="0" err="1" smtClean="0">
                <a:latin typeface="Arial" panose="020B0604020202020204" pitchFamily="34" charset="0"/>
                <a:cs typeface="Arial" panose="020B0604020202020204" pitchFamily="34" charset="0"/>
              </a:rPr>
              <a:t>claude</a:t>
            </a:r>
            <a:r>
              <a:rPr lang="en-IN" sz="1600" dirty="0" smtClean="0">
                <a:latin typeface="Arial" panose="020B0604020202020204" pitchFamily="34" charset="0"/>
                <a:cs typeface="Arial" panose="020B0604020202020204" pitchFamily="34" charset="0"/>
              </a:rPr>
              <a:t>-desktop main.py</a:t>
            </a:r>
            <a:endParaRPr lang="en-IN" sz="1600" dirty="0">
              <a:latin typeface="Arial" panose="020B0604020202020204" pitchFamily="34" charset="0"/>
              <a:cs typeface="Arial" panose="020B0604020202020204" pitchFamily="34" charset="0"/>
            </a:endParaRPr>
          </a:p>
        </p:txBody>
      </p:sp>
      <p:sp>
        <p:nvSpPr>
          <p:cNvPr id="8" name="Rectangle 7"/>
          <p:cNvSpPr/>
          <p:nvPr/>
        </p:nvSpPr>
        <p:spPr>
          <a:xfrm>
            <a:off x="6237663" y="3692678"/>
            <a:ext cx="4909039" cy="584775"/>
          </a:xfrm>
          <a:prstGeom prst="rect">
            <a:avLst/>
          </a:prstGeom>
        </p:spPr>
        <p:txBody>
          <a:bodyPr wrap="square">
            <a:spAutoFit/>
          </a:bodyPr>
          <a:lstStyle/>
          <a:p>
            <a:r>
              <a:rPr lang="en-IN" sz="1600" dirty="0" smtClean="0">
                <a:solidFill>
                  <a:srgbClr val="FF0000"/>
                </a:solidFill>
                <a:latin typeface="Arial" panose="020B0604020202020204" pitchFamily="34" charset="0"/>
                <a:cs typeface="Arial" panose="020B0604020202020204" pitchFamily="34" charset="0"/>
              </a:rPr>
              <a:t>In </a:t>
            </a:r>
            <a:r>
              <a:rPr lang="en-IN" sz="1600" dirty="0" err="1" smtClean="0">
                <a:solidFill>
                  <a:srgbClr val="FF0000"/>
                </a:solidFill>
                <a:latin typeface="Arial" panose="020B0604020202020204" pitchFamily="34" charset="0"/>
                <a:cs typeface="Arial" panose="020B0604020202020204" pitchFamily="34" charset="0"/>
              </a:rPr>
              <a:t>config</a:t>
            </a:r>
            <a:r>
              <a:rPr lang="en-IN" sz="1600" dirty="0" smtClean="0">
                <a:solidFill>
                  <a:srgbClr val="FF0000"/>
                </a:solidFill>
                <a:latin typeface="Arial" panose="020B0604020202020204" pitchFamily="34" charset="0"/>
                <a:cs typeface="Arial" panose="020B0604020202020204" pitchFamily="34" charset="0"/>
              </a:rPr>
              <a:t> file try give complete </a:t>
            </a:r>
            <a:r>
              <a:rPr lang="en-IN" sz="1600" dirty="0" err="1" smtClean="0">
                <a:solidFill>
                  <a:srgbClr val="FF0000"/>
                </a:solidFill>
                <a:latin typeface="Arial" panose="020B0604020202020204" pitchFamily="34" charset="0"/>
                <a:cs typeface="Arial" panose="020B0604020202020204" pitchFamily="34" charset="0"/>
              </a:rPr>
              <a:t>uv</a:t>
            </a:r>
            <a:r>
              <a:rPr lang="en-IN" sz="1600" dirty="0" smtClean="0">
                <a:solidFill>
                  <a:srgbClr val="FF0000"/>
                </a:solidFill>
                <a:latin typeface="Arial" panose="020B0604020202020204" pitchFamily="34" charset="0"/>
                <a:cs typeface="Arial" panose="020B0604020202020204" pitchFamily="34" charset="0"/>
              </a:rPr>
              <a:t> path for that use </a:t>
            </a:r>
          </a:p>
          <a:p>
            <a:pPr marL="742950" lvl="1" indent="-285750">
              <a:buFont typeface="Arial" panose="020B0604020202020204" pitchFamily="34" charset="0"/>
              <a:buChar char="•"/>
            </a:pPr>
            <a:r>
              <a:rPr lang="en-IN" sz="1600" dirty="0" smtClean="0">
                <a:latin typeface="Arial" panose="020B0604020202020204" pitchFamily="34" charset="0"/>
                <a:cs typeface="Arial" panose="020B0604020202020204" pitchFamily="34" charset="0"/>
              </a:rPr>
              <a:t>where </a:t>
            </a:r>
            <a:r>
              <a:rPr lang="en-IN" sz="1600" dirty="0" err="1" smtClean="0">
                <a:latin typeface="Arial" panose="020B0604020202020204" pitchFamily="34" charset="0"/>
                <a:cs typeface="Arial" panose="020B0604020202020204" pitchFamily="34" charset="0"/>
              </a:rPr>
              <a:t>uv</a:t>
            </a:r>
            <a:r>
              <a:rPr lang="en-IN" sz="1600" dirty="0" smtClean="0">
                <a:latin typeface="Arial" panose="020B0604020202020204" pitchFamily="34" charset="0"/>
                <a:cs typeface="Arial" panose="020B0604020202020204" pitchFamily="34" charset="0"/>
              </a:rPr>
              <a:t> and copy the path in </a:t>
            </a:r>
            <a:r>
              <a:rPr lang="en-IN" sz="1600" dirty="0" err="1" smtClean="0">
                <a:latin typeface="Arial" panose="020B0604020202020204" pitchFamily="34" charset="0"/>
                <a:cs typeface="Arial" panose="020B0604020202020204" pitchFamily="34" charset="0"/>
              </a:rPr>
              <a:t>config</a:t>
            </a:r>
            <a:r>
              <a:rPr lang="en-IN" sz="1600" dirty="0" smtClean="0">
                <a:latin typeface="Arial" panose="020B0604020202020204" pitchFamily="34" charset="0"/>
                <a:cs typeface="Arial" panose="020B0604020202020204" pitchFamily="34" charset="0"/>
              </a:rPr>
              <a:t> file</a:t>
            </a:r>
            <a:endParaRPr lang="en-IN"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413677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395654" y="158194"/>
            <a:ext cx="11078308" cy="595418"/>
          </a:xfrm>
        </p:spPr>
        <p:txBody>
          <a:bodyPr>
            <a:noAutofit/>
          </a:bodyPr>
          <a:lstStyle/>
          <a:p>
            <a:pPr algn="ctr" fontAlgn="base"/>
            <a:r>
              <a:rPr lang="en-US" sz="3200" b="1" dirty="0" smtClean="0">
                <a:latin typeface="Arial" panose="020B0604020202020204" pitchFamily="34" charset="0"/>
                <a:cs typeface="Arial" panose="020B0604020202020204" pitchFamily="34" charset="0"/>
              </a:rPr>
              <a:t>Custom Remote MCP servers</a:t>
            </a:r>
            <a:endParaRPr lang="en-IN" sz="3200" b="1" dirty="0">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7132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base"/>
            <a:endParaRPr lang="en-IN" sz="14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3" name="Rectangle 6"/>
          <p:cNvSpPr>
            <a:spLocks noChangeArrowheads="1"/>
          </p:cNvSpPr>
          <p:nvPr/>
        </p:nvSpPr>
        <p:spPr bwMode="auto">
          <a:xfrm>
            <a:off x="605350" y="1155815"/>
            <a:ext cx="5963237" cy="5134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77744"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R="0" lvl="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smtClean="0">
                <a:ln>
                  <a:noFill/>
                </a:ln>
                <a:solidFill>
                  <a:srgbClr val="000000"/>
                </a:solidFill>
                <a:effectLst/>
                <a:cs typeface="Arial" panose="020B0604020202020204" pitchFamily="34" charset="0"/>
              </a:rPr>
              <a:t>1. Steps to Create a Remote MCP Server</a:t>
            </a:r>
            <a:endParaRPr kumimoji="0" lang="en-US" altLang="en-US" sz="1400" b="0" i="0" u="none" strike="noStrike" cap="none" normalizeH="0" baseline="0" dirty="0" smtClean="0">
              <a:ln>
                <a:noFill/>
              </a:ln>
              <a:solidFill>
                <a:srgbClr val="434343"/>
              </a:solidFill>
              <a:effectLst/>
              <a:cs typeface="Arial" panose="020B0604020202020204" pitchFamily="34" charset="0"/>
            </a:endParaRPr>
          </a:p>
          <a:p>
            <a:pPr lvl="1">
              <a:buFontTx/>
              <a:buAutoNum type="arabicPeriod"/>
            </a:pPr>
            <a:r>
              <a:rPr kumimoji="0" lang="en-US" altLang="en-US" sz="1400" b="1" i="0" u="none" strike="noStrike" cap="none" normalizeH="0" baseline="0" dirty="0" smtClean="0">
                <a:ln>
                  <a:noFill/>
                </a:ln>
                <a:solidFill>
                  <a:srgbClr val="000000"/>
                </a:solidFill>
                <a:effectLst/>
                <a:ea typeface="Arial" panose="020B0604020202020204" pitchFamily="34" charset="0"/>
              </a:rPr>
              <a:t>Install dependencies</a:t>
            </a:r>
            <a:br>
              <a:rPr kumimoji="0" lang="en-US" altLang="en-US" sz="1400" b="1" i="0" u="none" strike="noStrike" cap="none" normalizeH="0" baseline="0" dirty="0" smtClean="0">
                <a:ln>
                  <a:noFill/>
                </a:ln>
                <a:solidFill>
                  <a:srgbClr val="000000"/>
                </a:solidFill>
                <a:effectLst/>
                <a:ea typeface="Arial" panose="020B0604020202020204" pitchFamily="34" charset="0"/>
              </a:rPr>
            </a:br>
            <a:endParaRPr kumimoji="0" lang="en-US" altLang="en-US" sz="1400" b="0" i="0" u="none" strike="noStrike" cap="none" normalizeH="0" baseline="0" dirty="0" smtClean="0">
              <a:ln>
                <a:noFill/>
              </a:ln>
              <a:solidFill>
                <a:schemeClr val="tx1"/>
              </a:solidFill>
              <a:effectLst/>
            </a:endParaRPr>
          </a:p>
          <a:p>
            <a:pPr marL="1257300" lvl="2" indent="-342900">
              <a:buFont typeface="+mj-lt"/>
              <a:buAutoNum type="arabicPeriod"/>
            </a:pPr>
            <a:r>
              <a:rPr kumimoji="0" lang="en-US" altLang="en-US" sz="1400" b="0" i="0" u="none" strike="noStrike" cap="none" normalizeH="0" baseline="0" dirty="0" smtClean="0">
                <a:ln>
                  <a:noFill/>
                </a:ln>
                <a:solidFill>
                  <a:srgbClr val="000000"/>
                </a:solidFill>
                <a:effectLst/>
                <a:ea typeface="Roboto Mono"/>
                <a:cs typeface="Roboto Mono"/>
              </a:rPr>
              <a:t>pip install </a:t>
            </a:r>
            <a:r>
              <a:rPr kumimoji="0" lang="en-US" altLang="en-US" sz="1400" b="0" i="0" u="none" strike="noStrike" cap="none" normalizeH="0" baseline="0" dirty="0" err="1" smtClean="0">
                <a:ln>
                  <a:noFill/>
                </a:ln>
                <a:solidFill>
                  <a:srgbClr val="000000"/>
                </a:solidFill>
                <a:effectLst/>
                <a:ea typeface="Roboto Mono"/>
                <a:cs typeface="Roboto Mono"/>
              </a:rPr>
              <a:t>uv</a:t>
            </a:r>
            <a:r>
              <a:rPr kumimoji="0" lang="en-US" altLang="en-US" sz="1400" b="0" i="0" u="none" strike="noStrike" cap="none" normalizeH="0" baseline="0" dirty="0" smtClean="0">
                <a:ln>
                  <a:noFill/>
                </a:ln>
                <a:solidFill>
                  <a:srgbClr val="000000"/>
                </a:solidFill>
                <a:effectLst/>
                <a:ea typeface="Roboto Mono"/>
                <a:cs typeface="Roboto Mono"/>
              </a:rPr>
              <a:t/>
            </a:r>
            <a:br>
              <a:rPr kumimoji="0" lang="en-US" altLang="en-US" sz="1400" b="0" i="0" u="none" strike="noStrike" cap="none" normalizeH="0" baseline="0" dirty="0" smtClean="0">
                <a:ln>
                  <a:noFill/>
                </a:ln>
                <a:solidFill>
                  <a:srgbClr val="000000"/>
                </a:solidFill>
                <a:effectLst/>
                <a:ea typeface="Roboto Mono"/>
                <a:cs typeface="Roboto Mono"/>
              </a:rPr>
            </a:br>
            <a:endParaRPr kumimoji="0" lang="en-US" altLang="en-US" sz="1400" b="0" i="0" u="none" strike="noStrike" cap="none" normalizeH="0" baseline="0" dirty="0" smtClean="0">
              <a:ln>
                <a:noFill/>
              </a:ln>
              <a:solidFill>
                <a:schemeClr val="tx1"/>
              </a:solidFill>
              <a:effectLst/>
            </a:endParaRPr>
          </a:p>
          <a:p>
            <a:pPr marL="1257300" lvl="2" indent="-342900">
              <a:buFont typeface="+mj-lt"/>
              <a:buAutoNum type="arabicPeriod"/>
            </a:pPr>
            <a:r>
              <a:rPr kumimoji="0" lang="en-US" altLang="en-US" sz="1400" b="0" i="0" u="none" strike="noStrike" cap="none" normalizeH="0" baseline="0" dirty="0" err="1" smtClean="0">
                <a:ln>
                  <a:noFill/>
                </a:ln>
                <a:solidFill>
                  <a:srgbClr val="000000"/>
                </a:solidFill>
                <a:effectLst/>
                <a:ea typeface="Roboto Mono"/>
                <a:cs typeface="Roboto Mono"/>
              </a:rPr>
              <a:t>uv</a:t>
            </a:r>
            <a:r>
              <a:rPr kumimoji="0" lang="en-US" altLang="en-US" sz="1400" b="0" i="0" u="none" strike="noStrike" cap="none" normalizeH="0" baseline="0" dirty="0" smtClean="0">
                <a:ln>
                  <a:noFill/>
                </a:ln>
                <a:solidFill>
                  <a:srgbClr val="000000"/>
                </a:solidFill>
                <a:effectLst/>
                <a:ea typeface="Roboto Mono"/>
                <a:cs typeface="Roboto Mono"/>
              </a:rPr>
              <a:t> add </a:t>
            </a:r>
            <a:r>
              <a:rPr kumimoji="0" lang="en-US" altLang="en-US" sz="1400" b="0" i="0" u="none" strike="noStrike" cap="none" normalizeH="0" baseline="0" dirty="0" err="1" smtClean="0">
                <a:ln>
                  <a:noFill/>
                </a:ln>
                <a:solidFill>
                  <a:srgbClr val="000000"/>
                </a:solidFill>
                <a:effectLst/>
                <a:ea typeface="Roboto Mono"/>
                <a:cs typeface="Roboto Mono"/>
              </a:rPr>
              <a:t>fastmcp</a:t>
            </a:r>
            <a:r>
              <a:rPr kumimoji="0" lang="en-US" altLang="en-US" sz="1400" b="0" i="0" u="none" strike="noStrike" cap="none" normalizeH="0" baseline="0" dirty="0" smtClean="0">
                <a:ln>
                  <a:noFill/>
                </a:ln>
                <a:solidFill>
                  <a:srgbClr val="000000"/>
                </a:solidFill>
                <a:effectLst/>
                <a:ea typeface="Roboto Mono"/>
                <a:cs typeface="Roboto Mono"/>
              </a:rPr>
              <a:t/>
            </a:r>
            <a:br>
              <a:rPr kumimoji="0" lang="en-US" altLang="en-US" sz="1400" b="0" i="0" u="none" strike="noStrike" cap="none" normalizeH="0" baseline="0" dirty="0" smtClean="0">
                <a:ln>
                  <a:noFill/>
                </a:ln>
                <a:solidFill>
                  <a:srgbClr val="000000"/>
                </a:solidFill>
                <a:effectLst/>
                <a:ea typeface="Roboto Mono"/>
                <a:cs typeface="Roboto Mono"/>
              </a:rPr>
            </a:br>
            <a:endParaRPr kumimoji="0" lang="en-US" altLang="en-US" sz="1400" b="0" i="0" u="none" strike="noStrike" cap="none" normalizeH="0" baseline="0" dirty="0" smtClean="0">
              <a:ln>
                <a:noFill/>
              </a:ln>
              <a:solidFill>
                <a:schemeClr val="tx1"/>
              </a:solidFill>
              <a:effectLst/>
            </a:endParaRPr>
          </a:p>
          <a:p>
            <a:pPr marL="800100" lvl="1" indent="-342900">
              <a:buFont typeface="+mj-lt"/>
              <a:buAutoNum type="arabicPeriod"/>
            </a:pPr>
            <a:r>
              <a:rPr kumimoji="0" lang="en-US" altLang="en-US" sz="1400" b="1" i="0" u="none" strike="noStrike" cap="none" normalizeH="0" baseline="0" dirty="0" smtClean="0">
                <a:ln>
                  <a:noFill/>
                </a:ln>
                <a:solidFill>
                  <a:srgbClr val="000000"/>
                </a:solidFill>
                <a:effectLst/>
                <a:ea typeface="Arial" panose="020B0604020202020204" pitchFamily="34" charset="0"/>
              </a:rPr>
              <a:t>Setup project</a:t>
            </a:r>
            <a:br>
              <a:rPr kumimoji="0" lang="en-US" altLang="en-US" sz="1400" b="1" i="0" u="none" strike="noStrike" cap="none" normalizeH="0" baseline="0" dirty="0" smtClean="0">
                <a:ln>
                  <a:noFill/>
                </a:ln>
                <a:solidFill>
                  <a:srgbClr val="000000"/>
                </a:solidFill>
                <a:effectLst/>
                <a:ea typeface="Arial" panose="020B0604020202020204" pitchFamily="34" charset="0"/>
              </a:rPr>
            </a:br>
            <a:endParaRPr kumimoji="0" lang="en-US" altLang="en-US" sz="1400" b="0" i="0" u="none" strike="noStrike" cap="none" normalizeH="0" baseline="0" dirty="0" smtClean="0">
              <a:ln>
                <a:noFill/>
              </a:ln>
              <a:solidFill>
                <a:schemeClr val="tx1"/>
              </a:solidFill>
              <a:effectLst/>
            </a:endParaRPr>
          </a:p>
          <a:p>
            <a:pPr marL="1257300" lvl="2" indent="-342900">
              <a:buFont typeface="+mj-lt"/>
              <a:buAutoNum type="arabicPeriod"/>
            </a:pPr>
            <a:r>
              <a:rPr kumimoji="0" lang="en-US" altLang="en-US" sz="1400" b="0" i="0" u="none" strike="noStrike" cap="none" normalizeH="0" baseline="0" dirty="0" smtClean="0">
                <a:ln>
                  <a:noFill/>
                </a:ln>
                <a:solidFill>
                  <a:srgbClr val="000000"/>
                </a:solidFill>
                <a:effectLst/>
                <a:ea typeface="Arial Unicode MS"/>
                <a:cs typeface="Arial Unicode MS"/>
              </a:rPr>
              <a:t>Create a folder → open in VS Code.</a:t>
            </a:r>
            <a:br>
              <a:rPr kumimoji="0" lang="en-US" altLang="en-US" sz="1400" b="0" i="0" u="none" strike="noStrike" cap="none" normalizeH="0" baseline="0" dirty="0" smtClean="0">
                <a:ln>
                  <a:noFill/>
                </a:ln>
                <a:solidFill>
                  <a:srgbClr val="000000"/>
                </a:solidFill>
                <a:effectLst/>
                <a:ea typeface="Arial Unicode MS"/>
                <a:cs typeface="Arial Unicode MS"/>
              </a:rPr>
            </a:br>
            <a:endParaRPr kumimoji="0" lang="en-US" altLang="en-US" sz="1400" b="0" i="0" u="none" strike="noStrike" cap="none" normalizeH="0" baseline="0" dirty="0" smtClean="0">
              <a:ln>
                <a:noFill/>
              </a:ln>
              <a:solidFill>
                <a:schemeClr val="tx1"/>
              </a:solidFill>
              <a:effectLst/>
            </a:endParaRPr>
          </a:p>
          <a:p>
            <a:pPr marL="1257300" lvl="2" indent="-342900">
              <a:buFont typeface="+mj-lt"/>
              <a:buAutoNum type="arabicPeriod"/>
            </a:pPr>
            <a:r>
              <a:rPr kumimoji="0" lang="en-US" altLang="en-US" sz="1400" b="0" i="0" u="none" strike="noStrike" cap="none" normalizeH="0" baseline="0" dirty="0" smtClean="0">
                <a:ln>
                  <a:noFill/>
                </a:ln>
                <a:solidFill>
                  <a:srgbClr val="000000"/>
                </a:solidFill>
                <a:effectLst/>
                <a:ea typeface="Arial" panose="020B0604020202020204" pitchFamily="34" charset="0"/>
              </a:rPr>
              <a:t>Initialize with </a:t>
            </a:r>
            <a:r>
              <a:rPr kumimoji="0" lang="en-US" altLang="en-US" sz="1400" b="0" i="0" u="none" strike="noStrike" cap="none" normalizeH="0" baseline="0" dirty="0" err="1" smtClean="0">
                <a:ln>
                  <a:noFill/>
                </a:ln>
                <a:solidFill>
                  <a:srgbClr val="000000"/>
                </a:solidFill>
                <a:effectLst/>
                <a:ea typeface="Roboto Mono"/>
                <a:cs typeface="Roboto Mono"/>
              </a:rPr>
              <a:t>uv</a:t>
            </a:r>
            <a:r>
              <a:rPr kumimoji="0" lang="en-US" altLang="en-US" sz="1400" b="0" i="0" u="none" strike="noStrike" cap="none" normalizeH="0" baseline="0" dirty="0" smtClean="0">
                <a:ln>
                  <a:noFill/>
                </a:ln>
                <a:solidFill>
                  <a:srgbClr val="000000"/>
                </a:solidFill>
                <a:effectLst/>
                <a:ea typeface="Roboto Mono"/>
                <a:cs typeface="Roboto Mono"/>
              </a:rPr>
              <a:t> </a:t>
            </a:r>
            <a:r>
              <a:rPr kumimoji="0" lang="en-US" altLang="en-US" sz="1400" b="0" i="0" u="none" strike="noStrike" cap="none" normalizeH="0" baseline="0" dirty="0" err="1" smtClean="0">
                <a:ln>
                  <a:noFill/>
                </a:ln>
                <a:solidFill>
                  <a:srgbClr val="000000"/>
                </a:solidFill>
                <a:effectLst/>
                <a:ea typeface="Roboto Mono"/>
                <a:cs typeface="Roboto Mono"/>
              </a:rPr>
              <a:t>init</a:t>
            </a:r>
            <a:r>
              <a:rPr kumimoji="0" lang="en-US" altLang="en-US" sz="1400" b="0" i="0" u="none" strike="noStrike" cap="none" normalizeH="0" baseline="0" dirty="0" smtClean="0">
                <a:ln>
                  <a:noFill/>
                </a:ln>
                <a:solidFill>
                  <a:srgbClr val="000000"/>
                </a:solidFill>
                <a:effectLst/>
                <a:ea typeface="Roboto Mono"/>
                <a:cs typeface="Roboto Mono"/>
              </a:rPr>
              <a:t> .</a:t>
            </a:r>
            <a:br>
              <a:rPr kumimoji="0" lang="en-US" altLang="en-US" sz="1400" b="0" i="0" u="none" strike="noStrike" cap="none" normalizeH="0" baseline="0" dirty="0" smtClean="0">
                <a:ln>
                  <a:noFill/>
                </a:ln>
                <a:solidFill>
                  <a:srgbClr val="000000"/>
                </a:solidFill>
                <a:effectLst/>
                <a:ea typeface="Roboto Mono"/>
                <a:cs typeface="Roboto Mono"/>
              </a:rPr>
            </a:br>
            <a:endParaRPr kumimoji="0" lang="en-US" altLang="en-US" sz="1400" b="0" i="0" u="none" strike="noStrike" cap="none" normalizeH="0" baseline="0" dirty="0" smtClean="0">
              <a:ln>
                <a:noFill/>
              </a:ln>
              <a:solidFill>
                <a:schemeClr val="tx1"/>
              </a:solidFill>
              <a:effectLst/>
            </a:endParaRPr>
          </a:p>
          <a:p>
            <a:pPr lvl="1">
              <a:buFontTx/>
              <a:buAutoNum type="arabicPeriod"/>
            </a:pPr>
            <a:r>
              <a:rPr kumimoji="0" lang="en-US" altLang="en-US" sz="1400" b="1" i="0" u="none" strike="noStrike" cap="none" normalizeH="0" baseline="0" dirty="0" smtClean="0">
                <a:ln>
                  <a:noFill/>
                </a:ln>
                <a:solidFill>
                  <a:srgbClr val="000000"/>
                </a:solidFill>
                <a:effectLst/>
                <a:ea typeface="Arial" panose="020B0604020202020204" pitchFamily="34" charset="0"/>
              </a:rPr>
              <a:t>Write server code</a:t>
            </a:r>
            <a:r>
              <a:rPr kumimoji="0" lang="en-US" altLang="en-US" sz="1400" b="0" i="0" u="none" strike="noStrike" cap="none" normalizeH="0" baseline="0" dirty="0" smtClean="0">
                <a:ln>
                  <a:noFill/>
                </a:ln>
                <a:solidFill>
                  <a:srgbClr val="000000"/>
                </a:solidFill>
                <a:effectLst/>
                <a:ea typeface="Arial" panose="020B0604020202020204" pitchFamily="34" charset="0"/>
              </a:rPr>
              <a:t> (main.py)</a:t>
            </a:r>
            <a:br>
              <a:rPr kumimoji="0" lang="en-US" altLang="en-US" sz="1400" b="0" i="0" u="none" strike="noStrike" cap="none" normalizeH="0" baseline="0" dirty="0" smtClean="0">
                <a:ln>
                  <a:noFill/>
                </a:ln>
                <a:solidFill>
                  <a:srgbClr val="000000"/>
                </a:solidFill>
                <a:effectLst/>
                <a:ea typeface="Arial" panose="020B0604020202020204" pitchFamily="34" charset="0"/>
              </a:rPr>
            </a:br>
            <a:endParaRPr kumimoji="0" lang="en-US" altLang="en-US" sz="1400" b="0" i="0" u="none" strike="noStrike" cap="none" normalizeH="0" baseline="0" dirty="0" smtClean="0">
              <a:ln>
                <a:noFill/>
              </a:ln>
              <a:solidFill>
                <a:schemeClr val="tx1"/>
              </a:solidFill>
              <a:effectLst/>
            </a:endParaRPr>
          </a:p>
          <a:p>
            <a:pPr marL="1257300" lvl="2" indent="-342900">
              <a:buFont typeface="+mj-lt"/>
              <a:buAutoNum type="arabicPeriod"/>
            </a:pPr>
            <a:r>
              <a:rPr kumimoji="0" lang="en-US" altLang="en-US" sz="1400" b="0" i="0" u="none" strike="noStrike" cap="none" normalizeH="0" baseline="0" dirty="0" smtClean="0">
                <a:ln>
                  <a:noFill/>
                </a:ln>
                <a:solidFill>
                  <a:srgbClr val="000000"/>
                </a:solidFill>
                <a:effectLst/>
                <a:ea typeface="Arial" panose="020B0604020202020204" pitchFamily="34" charset="0"/>
              </a:rPr>
              <a:t>Tools: write your own tools(</a:t>
            </a:r>
            <a:r>
              <a:rPr kumimoji="0" lang="en-US" altLang="en-US" sz="1400" b="0" i="0" u="none" strike="noStrike" cap="none" normalizeH="0" baseline="0" dirty="0" err="1" smtClean="0">
                <a:ln>
                  <a:noFill/>
                </a:ln>
                <a:solidFill>
                  <a:srgbClr val="000000"/>
                </a:solidFill>
                <a:effectLst/>
                <a:ea typeface="Arial" panose="020B0604020202020204" pitchFamily="34" charset="0"/>
              </a:rPr>
              <a:t>Async</a:t>
            </a:r>
            <a:r>
              <a:rPr kumimoji="0" lang="en-US" altLang="en-US" sz="1400" b="0" i="0" u="none" strike="noStrike" cap="none" normalizeH="0" baseline="0" dirty="0" smtClean="0">
                <a:ln>
                  <a:noFill/>
                </a:ln>
                <a:solidFill>
                  <a:srgbClr val="000000"/>
                </a:solidFill>
                <a:effectLst/>
                <a:ea typeface="Arial" panose="020B0604020202020204" pitchFamily="34" charset="0"/>
              </a:rPr>
              <a:t>)</a:t>
            </a:r>
            <a:br>
              <a:rPr kumimoji="0" lang="en-US" altLang="en-US" sz="1400" b="0" i="0" u="none" strike="noStrike" cap="none" normalizeH="0" baseline="0" dirty="0" smtClean="0">
                <a:ln>
                  <a:noFill/>
                </a:ln>
                <a:solidFill>
                  <a:srgbClr val="000000"/>
                </a:solidFill>
                <a:effectLst/>
                <a:ea typeface="Arial" panose="020B0604020202020204" pitchFamily="34" charset="0"/>
              </a:rPr>
            </a:br>
            <a:endParaRPr kumimoji="0" lang="en-US" altLang="en-US" sz="1400" b="0" i="0" u="none" strike="noStrike" cap="none" normalizeH="0" baseline="0" dirty="0" smtClean="0">
              <a:ln>
                <a:noFill/>
              </a:ln>
              <a:solidFill>
                <a:schemeClr val="tx1"/>
              </a:solidFill>
              <a:effectLst/>
            </a:endParaRPr>
          </a:p>
          <a:p>
            <a:pPr marL="1257300" lvl="2" indent="-342900">
              <a:buFont typeface="+mj-lt"/>
              <a:buAutoNum type="arabicPeriod"/>
            </a:pPr>
            <a:r>
              <a:rPr kumimoji="0" lang="en-US" altLang="en-US" sz="1400" b="0" i="0" u="none" strike="noStrike" cap="none" normalizeH="0" baseline="0" dirty="0" smtClean="0">
                <a:ln>
                  <a:noFill/>
                </a:ln>
                <a:solidFill>
                  <a:srgbClr val="000000"/>
                </a:solidFill>
                <a:effectLst/>
                <a:ea typeface="Arial" panose="020B0604020202020204" pitchFamily="34" charset="0"/>
              </a:rPr>
              <a:t>Key difference from local server:</a:t>
            </a:r>
            <a:br>
              <a:rPr kumimoji="0" lang="en-US" altLang="en-US" sz="1400" b="0" i="0" u="none" strike="noStrike" cap="none" normalizeH="0" baseline="0" dirty="0" smtClean="0">
                <a:ln>
                  <a:noFill/>
                </a:ln>
                <a:solidFill>
                  <a:srgbClr val="000000"/>
                </a:solidFill>
                <a:effectLst/>
                <a:ea typeface="Arial" panose="020B0604020202020204" pitchFamily="34" charset="0"/>
              </a:rPr>
            </a:br>
            <a:endParaRPr kumimoji="0" lang="en-US" altLang="en-US" sz="1400" b="0" i="0" u="none" strike="noStrike" cap="none" normalizeH="0" baseline="0" dirty="0" smtClean="0">
              <a:ln>
                <a:noFill/>
              </a:ln>
              <a:solidFill>
                <a:schemeClr val="tx1"/>
              </a:solidFill>
              <a:effectLst/>
            </a:endParaRPr>
          </a:p>
          <a:p>
            <a:pPr marL="1714500" lvl="3" indent="-342900">
              <a:buFont typeface="+mj-lt"/>
              <a:buAutoNum type="arabicPeriod"/>
            </a:pPr>
            <a:r>
              <a:rPr kumimoji="0" lang="en-US" altLang="en-US" sz="1400" b="0" i="0" u="none" strike="noStrike" cap="none" normalizeH="0" baseline="0" dirty="0" smtClean="0">
                <a:ln>
                  <a:noFill/>
                </a:ln>
                <a:solidFill>
                  <a:srgbClr val="000000"/>
                </a:solidFill>
                <a:effectLst/>
                <a:ea typeface="Arial Unicode MS"/>
                <a:cs typeface="Arial Unicode MS"/>
              </a:rPr>
              <a:t>Local → </a:t>
            </a:r>
            <a:r>
              <a:rPr kumimoji="0" lang="en-US" altLang="en-US" sz="1400" b="0" i="0" u="none" strike="noStrike" cap="none" normalizeH="0" baseline="0" dirty="0" err="1" smtClean="0">
                <a:ln>
                  <a:noFill/>
                </a:ln>
                <a:solidFill>
                  <a:srgbClr val="000000"/>
                </a:solidFill>
                <a:effectLst/>
                <a:ea typeface="Roboto Mono"/>
                <a:cs typeface="Roboto Mono"/>
              </a:rPr>
              <a:t>mcp.run</a:t>
            </a:r>
            <a:r>
              <a:rPr kumimoji="0" lang="en-US" altLang="en-US" sz="1400" b="0" i="0" u="none" strike="noStrike" cap="none" normalizeH="0" baseline="0" dirty="0" smtClean="0">
                <a:ln>
                  <a:noFill/>
                </a:ln>
                <a:solidFill>
                  <a:srgbClr val="000000"/>
                </a:solidFill>
                <a:effectLst/>
                <a:ea typeface="Roboto Mono"/>
                <a:cs typeface="Roboto Mono"/>
              </a:rPr>
              <a:t>()</a:t>
            </a:r>
            <a:r>
              <a:rPr kumimoji="0" lang="en-US" altLang="en-US" sz="1400" b="0" i="0" u="none" strike="noStrike" cap="none" normalizeH="0" baseline="0" dirty="0" smtClean="0">
                <a:ln>
                  <a:noFill/>
                </a:ln>
                <a:solidFill>
                  <a:srgbClr val="000000"/>
                </a:solidFill>
                <a:effectLst/>
                <a:ea typeface="Arial" panose="020B0604020202020204" pitchFamily="34" charset="0"/>
              </a:rPr>
              <a:t> (default: </a:t>
            </a:r>
            <a:r>
              <a:rPr kumimoji="0" lang="en-US" altLang="en-US" sz="1400" b="0" i="0" u="none" strike="noStrike" cap="none" normalizeH="0" baseline="0" dirty="0" err="1" smtClean="0">
                <a:ln>
                  <a:noFill/>
                </a:ln>
                <a:solidFill>
                  <a:srgbClr val="000000"/>
                </a:solidFill>
                <a:effectLst/>
                <a:ea typeface="Arial" panose="020B0604020202020204" pitchFamily="34" charset="0"/>
              </a:rPr>
              <a:t>stdio</a:t>
            </a:r>
            <a:r>
              <a:rPr kumimoji="0" lang="en-US" altLang="en-US" sz="1400" b="0" i="0" u="none" strike="noStrike" cap="none" normalizeH="0" baseline="0" dirty="0" smtClean="0">
                <a:ln>
                  <a:noFill/>
                </a:ln>
                <a:solidFill>
                  <a:srgbClr val="000000"/>
                </a:solidFill>
                <a:effectLst/>
                <a:ea typeface="Arial" panose="020B0604020202020204" pitchFamily="34" charset="0"/>
              </a:rPr>
              <a:t> transport).</a:t>
            </a:r>
            <a:br>
              <a:rPr kumimoji="0" lang="en-US" altLang="en-US" sz="1400" b="0" i="0" u="none" strike="noStrike" cap="none" normalizeH="0" baseline="0" dirty="0" smtClean="0">
                <a:ln>
                  <a:noFill/>
                </a:ln>
                <a:solidFill>
                  <a:srgbClr val="000000"/>
                </a:solidFill>
                <a:effectLst/>
                <a:ea typeface="Arial" panose="020B0604020202020204" pitchFamily="34" charset="0"/>
              </a:rPr>
            </a:br>
            <a:endParaRPr kumimoji="0" lang="en-US" altLang="en-US" sz="1400" b="0" i="0" u="none" strike="noStrike" cap="none" normalizeH="0" baseline="0" dirty="0" smtClean="0">
              <a:ln>
                <a:noFill/>
              </a:ln>
              <a:solidFill>
                <a:schemeClr val="tx1"/>
              </a:solidFill>
              <a:effectLst/>
            </a:endParaRPr>
          </a:p>
          <a:p>
            <a:pPr marL="1714500" lvl="3" indent="-342900">
              <a:buFont typeface="+mj-lt"/>
              <a:buAutoNum type="arabicPeriod"/>
            </a:pPr>
            <a:r>
              <a:rPr kumimoji="0" lang="en-US" altLang="en-US" sz="1400" b="0" i="0" u="none" strike="noStrike" cap="none" normalizeH="0" baseline="0" dirty="0" smtClean="0">
                <a:ln>
                  <a:noFill/>
                </a:ln>
                <a:solidFill>
                  <a:srgbClr val="000000"/>
                </a:solidFill>
                <a:effectLst/>
                <a:ea typeface="Arial Unicode MS"/>
                <a:cs typeface="Arial Unicode MS"/>
              </a:rPr>
              <a:t>Remote → use </a:t>
            </a:r>
            <a:r>
              <a:rPr kumimoji="0" lang="en-US" altLang="en-US" sz="1400" b="0" i="0" u="none" strike="noStrike" cap="none" normalizeH="0" baseline="0" dirty="0" smtClean="0">
                <a:ln>
                  <a:noFill/>
                </a:ln>
                <a:solidFill>
                  <a:srgbClr val="000000"/>
                </a:solidFill>
                <a:effectLst/>
                <a:ea typeface="Roboto Mono"/>
                <a:cs typeface="Roboto Mono"/>
              </a:rPr>
              <a:t>transport = HTTP</a:t>
            </a:r>
            <a:r>
              <a:rPr kumimoji="0" lang="en-US" altLang="en-US" sz="1400" b="0" i="0" u="none" strike="noStrike" cap="none" normalizeH="0" baseline="0" dirty="0" smtClean="0">
                <a:ln>
                  <a:noFill/>
                </a:ln>
                <a:solidFill>
                  <a:srgbClr val="000000"/>
                </a:solidFill>
                <a:effectLst/>
                <a:ea typeface="Arial" panose="020B0604020202020204" pitchFamily="34" charset="0"/>
              </a:rPr>
              <a:t> with host </a:t>
            </a:r>
            <a:r>
              <a:rPr kumimoji="0" lang="en-US" altLang="en-US" sz="1400" b="0" i="0" u="none" strike="noStrike" cap="none" normalizeH="0" baseline="0" dirty="0" smtClean="0">
                <a:ln>
                  <a:noFill/>
                </a:ln>
                <a:solidFill>
                  <a:srgbClr val="000000"/>
                </a:solidFill>
                <a:effectLst/>
                <a:ea typeface="Roboto Mono"/>
                <a:cs typeface="Roboto Mono"/>
              </a:rPr>
              <a:t>0.0.0.0</a:t>
            </a:r>
            <a:r>
              <a:rPr kumimoji="0" lang="en-US" altLang="en-US" sz="1400" b="0" i="0" u="none" strike="noStrike" cap="none" normalizeH="0" baseline="0" dirty="0" smtClean="0">
                <a:ln>
                  <a:noFill/>
                </a:ln>
                <a:solidFill>
                  <a:srgbClr val="000000"/>
                </a:solidFill>
                <a:effectLst/>
                <a:ea typeface="Arial" panose="020B0604020202020204" pitchFamily="34" charset="0"/>
              </a:rPr>
              <a:t> and a defined port.</a:t>
            </a:r>
            <a:endParaRPr kumimoji="0" lang="en-US" altLang="en-US" sz="1400" b="0" i="0" u="none" strike="noStrike" cap="none" normalizeH="0" baseline="0" dirty="0" smtClean="0">
              <a:ln>
                <a:noFill/>
              </a:ln>
              <a:solidFill>
                <a:schemeClr val="tx1"/>
              </a:solidFill>
              <a:effectLst/>
            </a:endParaRPr>
          </a:p>
        </p:txBody>
      </p:sp>
      <p:sp>
        <p:nvSpPr>
          <p:cNvPr id="3" name="Rectangle 2"/>
          <p:cNvSpPr/>
          <p:nvPr/>
        </p:nvSpPr>
        <p:spPr>
          <a:xfrm>
            <a:off x="6640389" y="1898145"/>
            <a:ext cx="4970586" cy="3323987"/>
          </a:xfrm>
          <a:prstGeom prst="rect">
            <a:avLst/>
          </a:prstGeom>
        </p:spPr>
        <p:txBody>
          <a:bodyPr wrap="square">
            <a:spAutoFit/>
          </a:bodyPr>
          <a:lstStyle/>
          <a:p>
            <a:pPr lvl="0" eaLnBrk="0" fontAlgn="base" hangingPunct="0">
              <a:spcBef>
                <a:spcPct val="0"/>
              </a:spcBef>
              <a:spcAft>
                <a:spcPct val="0"/>
              </a:spcAft>
            </a:pPr>
            <a:r>
              <a:rPr lang="en-US" altLang="en-US" sz="1400" b="1" dirty="0" smtClean="0">
                <a:latin typeface="Arial" panose="020B0604020202020204" pitchFamily="34" charset="0"/>
              </a:rPr>
              <a:t>4. Run </a:t>
            </a:r>
            <a:r>
              <a:rPr lang="en-US" altLang="en-US" sz="1400" b="1" dirty="0">
                <a:latin typeface="Arial" panose="020B0604020202020204" pitchFamily="34" charset="0"/>
              </a:rPr>
              <a:t>server</a:t>
            </a:r>
            <a:r>
              <a:rPr lang="en-US" altLang="en-US" sz="1400" b="1" dirty="0">
                <a:solidFill>
                  <a:srgbClr val="000000"/>
                </a:solidFill>
                <a:latin typeface="Arial" panose="020B0604020202020204" pitchFamily="34" charset="0"/>
                <a:ea typeface="Arial" panose="020B0604020202020204" pitchFamily="34" charset="0"/>
              </a:rPr>
              <a:t/>
            </a:r>
            <a:br>
              <a:rPr lang="en-US" altLang="en-US" sz="1400" b="1" dirty="0">
                <a:solidFill>
                  <a:srgbClr val="000000"/>
                </a:solidFill>
                <a:latin typeface="Arial" panose="020B0604020202020204" pitchFamily="34" charset="0"/>
                <a:ea typeface="Arial" panose="020B0604020202020204" pitchFamily="34" charset="0"/>
              </a:rPr>
            </a:br>
            <a:endParaRPr lang="en-US" altLang="en-US" sz="1400" dirty="0">
              <a:latin typeface="Arial" panose="020B0604020202020204" pitchFamily="34" charset="0"/>
            </a:endParaRPr>
          </a:p>
          <a:p>
            <a:pPr marL="800100" lvl="1" indent="-342900" eaLnBrk="0" fontAlgn="base" hangingPunct="0">
              <a:spcBef>
                <a:spcPct val="0"/>
              </a:spcBef>
              <a:spcAft>
                <a:spcPct val="0"/>
              </a:spcAft>
              <a:buFont typeface="+mj-lt"/>
              <a:buAutoNum type="arabicPeriod"/>
            </a:pPr>
            <a:r>
              <a:rPr lang="en-US" altLang="en-US" sz="1400" dirty="0" err="1">
                <a:solidFill>
                  <a:srgbClr val="000000"/>
                </a:solidFill>
                <a:latin typeface="Arial" panose="020B0604020202020204" pitchFamily="34" charset="0"/>
                <a:ea typeface="Roboto Mono"/>
                <a:cs typeface="Roboto Mono"/>
              </a:rPr>
              <a:t>fastmcp</a:t>
            </a:r>
            <a:r>
              <a:rPr lang="en-US" altLang="en-US" sz="1400" dirty="0">
                <a:solidFill>
                  <a:srgbClr val="000000"/>
                </a:solidFill>
                <a:latin typeface="Arial" panose="020B0604020202020204" pitchFamily="34" charset="0"/>
                <a:ea typeface="Roboto Mono"/>
                <a:cs typeface="Roboto Mono"/>
              </a:rPr>
              <a:t> run main.py --transport http --host 0.0.0.0 --port &lt;number&gt;</a:t>
            </a:r>
            <a:br>
              <a:rPr lang="en-US" altLang="en-US" sz="1400" dirty="0">
                <a:solidFill>
                  <a:srgbClr val="000000"/>
                </a:solidFill>
                <a:latin typeface="Arial" panose="020B0604020202020204" pitchFamily="34" charset="0"/>
                <a:ea typeface="Roboto Mono"/>
                <a:cs typeface="Roboto Mono"/>
              </a:rPr>
            </a:br>
            <a:endParaRPr lang="en-US" altLang="en-US" sz="1400" dirty="0" smtClean="0">
              <a:latin typeface="Arial" panose="020B0604020202020204" pitchFamily="34" charset="0"/>
            </a:endParaRPr>
          </a:p>
          <a:p>
            <a:pPr lvl="0" eaLnBrk="0" fontAlgn="base" hangingPunct="0">
              <a:spcBef>
                <a:spcPct val="0"/>
              </a:spcBef>
              <a:spcAft>
                <a:spcPct val="0"/>
              </a:spcAft>
            </a:pPr>
            <a:r>
              <a:rPr lang="en-US" altLang="en-US" sz="1400" b="1" dirty="0" smtClean="0">
                <a:latin typeface="Arial" panose="020B0604020202020204" pitchFamily="34" charset="0"/>
              </a:rPr>
              <a:t>5. Debug with MCP Inspector</a:t>
            </a:r>
            <a:r>
              <a:rPr lang="en-US" altLang="en-US" sz="1400" b="1" dirty="0" smtClean="0">
                <a:solidFill>
                  <a:srgbClr val="000000"/>
                </a:solidFill>
                <a:latin typeface="Arial" panose="020B0604020202020204" pitchFamily="34" charset="0"/>
                <a:ea typeface="Arial" panose="020B0604020202020204" pitchFamily="34" charset="0"/>
              </a:rPr>
              <a:t/>
            </a:r>
            <a:br>
              <a:rPr lang="en-US" altLang="en-US" sz="1400" b="1" dirty="0" smtClean="0">
                <a:solidFill>
                  <a:srgbClr val="000000"/>
                </a:solidFill>
                <a:latin typeface="Arial" panose="020B0604020202020204" pitchFamily="34" charset="0"/>
                <a:ea typeface="Arial" panose="020B0604020202020204" pitchFamily="34" charset="0"/>
              </a:rPr>
            </a:br>
            <a:endParaRPr lang="en-US" altLang="en-US" sz="1400" dirty="0" smtClean="0">
              <a:latin typeface="Arial" panose="020B0604020202020204" pitchFamily="34" charset="0"/>
            </a:endParaRPr>
          </a:p>
          <a:p>
            <a:pPr marL="800100" lvl="1" indent="-342900" eaLnBrk="0" fontAlgn="base" hangingPunct="0">
              <a:spcBef>
                <a:spcPct val="0"/>
              </a:spcBef>
              <a:spcAft>
                <a:spcPct val="0"/>
              </a:spcAft>
              <a:buFont typeface="+mj-lt"/>
              <a:buAutoNum type="arabicPeriod"/>
            </a:pPr>
            <a:r>
              <a:rPr lang="en-US" altLang="en-US" sz="1400" dirty="0" err="1" smtClean="0">
                <a:solidFill>
                  <a:srgbClr val="000000"/>
                </a:solidFill>
                <a:latin typeface="Arial" panose="020B0604020202020204" pitchFamily="34" charset="0"/>
                <a:ea typeface="Roboto Mono"/>
                <a:cs typeface="Roboto Mono"/>
              </a:rPr>
              <a:t>uv</a:t>
            </a:r>
            <a:r>
              <a:rPr lang="en-US" altLang="en-US" sz="1400" dirty="0" smtClean="0">
                <a:solidFill>
                  <a:srgbClr val="000000"/>
                </a:solidFill>
                <a:latin typeface="Arial" panose="020B0604020202020204" pitchFamily="34" charset="0"/>
                <a:ea typeface="Roboto Mono"/>
                <a:cs typeface="Roboto Mono"/>
              </a:rPr>
              <a:t> </a:t>
            </a:r>
            <a:r>
              <a:rPr lang="en-US" altLang="en-US" sz="1400" dirty="0">
                <a:solidFill>
                  <a:srgbClr val="000000"/>
                </a:solidFill>
                <a:latin typeface="Arial" panose="020B0604020202020204" pitchFamily="34" charset="0"/>
                <a:ea typeface="Roboto Mono"/>
                <a:cs typeface="Roboto Mono"/>
              </a:rPr>
              <a:t>run </a:t>
            </a:r>
            <a:r>
              <a:rPr lang="en-US" altLang="en-US" sz="1400" dirty="0" err="1">
                <a:solidFill>
                  <a:srgbClr val="000000"/>
                </a:solidFill>
                <a:latin typeface="Arial" panose="020B0604020202020204" pitchFamily="34" charset="0"/>
                <a:ea typeface="Roboto Mono"/>
                <a:cs typeface="Roboto Mono"/>
              </a:rPr>
              <a:t>fastmcp</a:t>
            </a:r>
            <a:r>
              <a:rPr lang="en-US" altLang="en-US" sz="1400" dirty="0">
                <a:solidFill>
                  <a:srgbClr val="000000"/>
                </a:solidFill>
                <a:latin typeface="Arial" panose="020B0604020202020204" pitchFamily="34" charset="0"/>
                <a:ea typeface="Roboto Mono"/>
                <a:cs typeface="Roboto Mono"/>
              </a:rPr>
              <a:t> dev main.py</a:t>
            </a:r>
            <a:br>
              <a:rPr lang="en-US" altLang="en-US" sz="1400" dirty="0">
                <a:solidFill>
                  <a:srgbClr val="000000"/>
                </a:solidFill>
                <a:latin typeface="Arial" panose="020B0604020202020204" pitchFamily="34" charset="0"/>
                <a:ea typeface="Roboto Mono"/>
                <a:cs typeface="Roboto Mono"/>
              </a:rPr>
            </a:br>
            <a:endParaRPr lang="en-US" altLang="en-US" sz="1400" dirty="0" smtClean="0">
              <a:latin typeface="Arial" panose="020B0604020202020204" pitchFamily="34" charset="0"/>
            </a:endParaRPr>
          </a:p>
          <a:p>
            <a:pPr marL="800100" lvl="1" indent="-342900" eaLnBrk="0" fontAlgn="base" hangingPunct="0">
              <a:spcBef>
                <a:spcPct val="0"/>
              </a:spcBef>
              <a:spcAft>
                <a:spcPct val="0"/>
              </a:spcAft>
              <a:buFont typeface="+mj-lt"/>
              <a:buAutoNum type="arabicPeriod"/>
            </a:pPr>
            <a:r>
              <a:rPr lang="en-US" altLang="en-US" sz="1400" dirty="0" smtClean="0">
                <a:solidFill>
                  <a:srgbClr val="000000"/>
                </a:solidFill>
                <a:latin typeface="Arial" panose="020B0604020202020204" pitchFamily="34" charset="0"/>
                <a:ea typeface="Arial" panose="020B0604020202020204" pitchFamily="34" charset="0"/>
              </a:rPr>
              <a:t>Select transport: </a:t>
            </a:r>
            <a:r>
              <a:rPr lang="en-US" altLang="en-US" sz="1400" dirty="0" err="1" smtClean="0">
                <a:solidFill>
                  <a:srgbClr val="000000"/>
                </a:solidFill>
                <a:latin typeface="Arial" panose="020B0604020202020204" pitchFamily="34" charset="0"/>
                <a:ea typeface="Roboto Mono"/>
                <a:cs typeface="Roboto Mono"/>
              </a:rPr>
              <a:t>streamable</a:t>
            </a:r>
            <a:r>
              <a:rPr lang="en-US" altLang="en-US" sz="1400" dirty="0" smtClean="0">
                <a:solidFill>
                  <a:srgbClr val="000000"/>
                </a:solidFill>
                <a:latin typeface="Arial" panose="020B0604020202020204" pitchFamily="34" charset="0"/>
                <a:ea typeface="Roboto Mono"/>
                <a:cs typeface="Roboto Mono"/>
              </a:rPr>
              <a:t> http</a:t>
            </a:r>
            <a:r>
              <a:rPr lang="en-US" altLang="en-US" sz="1400" dirty="0" smtClean="0">
                <a:solidFill>
                  <a:srgbClr val="000000"/>
                </a:solidFill>
                <a:latin typeface="Arial" panose="020B0604020202020204" pitchFamily="34" charset="0"/>
                <a:ea typeface="Arial" panose="020B0604020202020204" pitchFamily="34" charset="0"/>
              </a:rPr>
              <a:t>.</a:t>
            </a:r>
            <a:br>
              <a:rPr lang="en-US" altLang="en-US" sz="1400" dirty="0" smtClean="0">
                <a:solidFill>
                  <a:srgbClr val="000000"/>
                </a:solidFill>
                <a:latin typeface="Arial" panose="020B0604020202020204" pitchFamily="34" charset="0"/>
                <a:ea typeface="Arial" panose="020B0604020202020204" pitchFamily="34" charset="0"/>
              </a:rPr>
            </a:br>
            <a:endParaRPr lang="en-US" altLang="en-US" sz="1400" dirty="0" smtClean="0">
              <a:latin typeface="Arial" panose="020B0604020202020204" pitchFamily="34" charset="0"/>
            </a:endParaRPr>
          </a:p>
          <a:p>
            <a:pPr marL="800100" lvl="1" indent="-342900" eaLnBrk="0" fontAlgn="base" hangingPunct="0">
              <a:spcBef>
                <a:spcPct val="0"/>
              </a:spcBef>
              <a:spcAft>
                <a:spcPct val="0"/>
              </a:spcAft>
              <a:buFont typeface="+mj-lt"/>
              <a:buAutoNum type="arabicPeriod"/>
            </a:pPr>
            <a:r>
              <a:rPr lang="en-US" altLang="en-US" sz="1400" dirty="0" smtClean="0">
                <a:solidFill>
                  <a:srgbClr val="000000"/>
                </a:solidFill>
                <a:latin typeface="Arial" panose="020B0604020202020204" pitchFamily="34" charset="0"/>
                <a:ea typeface="Arial" panose="020B0604020202020204" pitchFamily="34" charset="0"/>
              </a:rPr>
              <a:t>Check </a:t>
            </a:r>
            <a:r>
              <a:rPr lang="en-US" altLang="en-US" sz="1400" dirty="0">
                <a:solidFill>
                  <a:srgbClr val="000000"/>
                </a:solidFill>
                <a:latin typeface="Arial" panose="020B0604020202020204" pitchFamily="34" charset="0"/>
                <a:ea typeface="Arial" panose="020B0604020202020204" pitchFamily="34" charset="0"/>
              </a:rPr>
              <a:t>tools &amp; resources.</a:t>
            </a:r>
            <a:br>
              <a:rPr lang="en-US" altLang="en-US" sz="1400" dirty="0">
                <a:solidFill>
                  <a:srgbClr val="000000"/>
                </a:solidFill>
                <a:latin typeface="Arial" panose="020B0604020202020204" pitchFamily="34" charset="0"/>
                <a:ea typeface="Arial" panose="020B0604020202020204" pitchFamily="34" charset="0"/>
              </a:rPr>
            </a:br>
            <a:r>
              <a:rPr lang="en-US" altLang="en-US" sz="1400" dirty="0">
                <a:solidFill>
                  <a:srgbClr val="000000"/>
                </a:solidFill>
                <a:latin typeface="Arial" panose="020B0604020202020204" pitchFamily="34" charset="0"/>
                <a:ea typeface="Arial" panose="020B0604020202020204" pitchFamily="34" charset="0"/>
              </a:rPr>
              <a:t/>
            </a:r>
            <a:br>
              <a:rPr lang="en-US" altLang="en-US" sz="1400" dirty="0">
                <a:solidFill>
                  <a:srgbClr val="000000"/>
                </a:solidFill>
                <a:latin typeface="Arial" panose="020B0604020202020204" pitchFamily="34" charset="0"/>
                <a:ea typeface="Arial" panose="020B0604020202020204" pitchFamily="34" charset="0"/>
              </a:rPr>
            </a:br>
            <a:endParaRPr lang="en-US" altLang="en-US" sz="1400" dirty="0">
              <a:latin typeface="Arial" panose="020B0604020202020204" pitchFamily="34" charset="0"/>
            </a:endParaRPr>
          </a:p>
          <a:p>
            <a:pPr lvl="0" eaLnBrk="0" fontAlgn="base" hangingPunct="0">
              <a:spcBef>
                <a:spcPct val="0"/>
              </a:spcBef>
              <a:spcAft>
                <a:spcPct val="0"/>
              </a:spcAft>
            </a:pPr>
            <a:endParaRPr lang="en-US" altLang="en-US" sz="1400" dirty="0">
              <a:latin typeface="Arial" panose="020B0604020202020204" pitchFamily="34" charset="0"/>
            </a:endParaRPr>
          </a:p>
        </p:txBody>
      </p:sp>
      <p:sp>
        <p:nvSpPr>
          <p:cNvPr id="6" name="Rectangle 5"/>
          <p:cNvSpPr/>
          <p:nvPr/>
        </p:nvSpPr>
        <p:spPr>
          <a:xfrm>
            <a:off x="7180012" y="5060767"/>
            <a:ext cx="4430963" cy="923330"/>
          </a:xfrm>
          <a:prstGeom prst="rect">
            <a:avLst/>
          </a:prstGeom>
        </p:spPr>
        <p:txBody>
          <a:bodyPr wrap="square">
            <a:spAutoFit/>
          </a:bodyPr>
          <a:lstStyle/>
          <a:p>
            <a:r>
              <a:rPr lang="en-IN" dirty="0" smtClean="0">
                <a:solidFill>
                  <a:srgbClr val="267F99"/>
                </a:solidFill>
                <a:latin typeface="Consolas" panose="020B0609020204030204" pitchFamily="49" charset="0"/>
              </a:rPr>
              <a:t>Main.py at server : </a:t>
            </a:r>
            <a:r>
              <a:rPr lang="en-IN" dirty="0" err="1" smtClean="0">
                <a:solidFill>
                  <a:srgbClr val="267F99"/>
                </a:solidFill>
                <a:latin typeface="Consolas" panose="020B0609020204030204" pitchFamily="49" charset="0"/>
              </a:rPr>
              <a:t>Aiosqlite</a:t>
            </a:r>
            <a:r>
              <a:rPr lang="en-IN" dirty="0" smtClean="0">
                <a:solidFill>
                  <a:srgbClr val="267F99"/>
                </a:solidFill>
                <a:latin typeface="Consolas" panose="020B0609020204030204" pitchFamily="49" charset="0"/>
              </a:rPr>
              <a:t> and all tools definition should be </a:t>
            </a:r>
            <a:r>
              <a:rPr lang="en-IN" dirty="0" err="1" smtClean="0">
                <a:solidFill>
                  <a:srgbClr val="267F99"/>
                </a:solidFill>
                <a:latin typeface="Consolas" panose="020B0609020204030204" pitchFamily="49" charset="0"/>
              </a:rPr>
              <a:t>async</a:t>
            </a:r>
            <a:endParaRPr lang="en-IN" b="0" dirty="0">
              <a:solidFill>
                <a:srgbClr val="3B3B3B"/>
              </a:solidFill>
              <a:effectLst/>
              <a:latin typeface="Consolas" panose="020B0609020204030204" pitchFamily="49" charset="0"/>
            </a:endParaRPr>
          </a:p>
        </p:txBody>
      </p:sp>
    </p:spTree>
    <p:extLst>
      <p:ext uri="{BB962C8B-B14F-4D97-AF65-F5344CB8AC3E}">
        <p14:creationId xmlns:p14="http://schemas.microsoft.com/office/powerpoint/2010/main" val="274686480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395654" y="158194"/>
            <a:ext cx="11078308" cy="595418"/>
          </a:xfrm>
        </p:spPr>
        <p:txBody>
          <a:bodyPr>
            <a:noAutofit/>
          </a:bodyPr>
          <a:lstStyle/>
          <a:p>
            <a:pPr algn="ctr" fontAlgn="base"/>
            <a:r>
              <a:rPr lang="en-US" sz="3200" b="1" dirty="0" smtClean="0">
                <a:latin typeface="Arial" panose="020B0604020202020204" pitchFamily="34" charset="0"/>
                <a:cs typeface="Arial" panose="020B0604020202020204" pitchFamily="34" charset="0"/>
              </a:rPr>
              <a:t>Custom Remote MCP servers</a:t>
            </a:r>
            <a:endParaRPr lang="en-IN" sz="3200" b="1" dirty="0">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7132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base"/>
            <a:endParaRPr lang="en-IN" sz="14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5" name="Rectangle 8"/>
          <p:cNvSpPr>
            <a:spLocks noChangeArrowheads="1"/>
          </p:cNvSpPr>
          <p:nvPr/>
        </p:nvSpPr>
        <p:spPr bwMode="auto">
          <a:xfrm>
            <a:off x="785446" y="753612"/>
            <a:ext cx="4741252" cy="59964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77744"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rgbClr val="000000"/>
                </a:solidFill>
                <a:effectLst/>
                <a:cs typeface="Arial" panose="020B0604020202020204" pitchFamily="34" charset="0"/>
              </a:rPr>
              <a:t>3. Deployment with Fast MCP Cloud, need </a:t>
            </a:r>
            <a:r>
              <a:rPr kumimoji="0" lang="en-US" altLang="en-US" sz="1400" b="1" i="0" u="none" strike="noStrike" cap="none" normalizeH="0" baseline="0" dirty="0" err="1" smtClean="0">
                <a:ln>
                  <a:noFill/>
                </a:ln>
                <a:solidFill>
                  <a:srgbClr val="000000"/>
                </a:solidFill>
                <a:effectLst/>
                <a:cs typeface="Arial" panose="020B0604020202020204" pitchFamily="34" charset="0"/>
              </a:rPr>
              <a:t>gitRepo</a:t>
            </a:r>
            <a:endParaRPr kumimoji="0" lang="en-US" altLang="en-US" sz="1400" b="0" i="0" u="none" strike="noStrike" cap="none" normalizeH="0" baseline="0" dirty="0" smtClean="0">
              <a:ln>
                <a:noFill/>
              </a:ln>
              <a:solidFill>
                <a:srgbClr val="434343"/>
              </a:solidFill>
              <a:effectLst/>
              <a:cs typeface="Arial" panose="020B0604020202020204" pitchFamily="34" charset="0"/>
            </a:endParaRPr>
          </a:p>
          <a:p>
            <a:pPr lvl="1">
              <a:buFontTx/>
              <a:buAutoNum type="arabicPeriod"/>
            </a:pPr>
            <a:r>
              <a:rPr kumimoji="0" lang="en-US" altLang="en-US" sz="1400" b="0" i="0" u="none" strike="noStrike" cap="none" normalizeH="0" baseline="0" dirty="0" smtClean="0">
                <a:ln>
                  <a:noFill/>
                </a:ln>
                <a:solidFill>
                  <a:srgbClr val="000000"/>
                </a:solidFill>
                <a:effectLst/>
                <a:ea typeface="Arial" panose="020B0604020202020204" pitchFamily="34" charset="0"/>
              </a:rPr>
              <a:t>Push code to GitHub.</a:t>
            </a:r>
            <a:br>
              <a:rPr kumimoji="0" lang="en-US" altLang="en-US" sz="1400" b="0" i="0" u="none" strike="noStrike" cap="none" normalizeH="0" baseline="0" dirty="0" smtClean="0">
                <a:ln>
                  <a:noFill/>
                </a:ln>
                <a:solidFill>
                  <a:srgbClr val="000000"/>
                </a:solidFill>
                <a:effectLst/>
                <a:ea typeface="Arial" panose="020B0604020202020204" pitchFamily="34" charset="0"/>
              </a:rPr>
            </a:br>
            <a:endParaRPr kumimoji="0" lang="en-US" altLang="en-US" sz="1400" b="0" i="0" u="none" strike="noStrike" cap="none" normalizeH="0" baseline="0" dirty="0" smtClean="0">
              <a:ln>
                <a:noFill/>
              </a:ln>
              <a:solidFill>
                <a:schemeClr val="tx1"/>
              </a:solidFill>
              <a:effectLst/>
            </a:endParaRPr>
          </a:p>
          <a:p>
            <a:pPr lvl="2">
              <a:buFontTx/>
              <a:buAutoNum type="arabicPeriod"/>
            </a:pPr>
            <a:r>
              <a:rPr kumimoji="0" lang="en-US" altLang="en-US" sz="1400" b="0" i="0" u="none" strike="noStrike" cap="none" normalizeH="0" baseline="0" dirty="0" err="1" smtClean="0">
                <a:ln>
                  <a:noFill/>
                </a:ln>
                <a:solidFill>
                  <a:srgbClr val="000000"/>
                </a:solidFill>
                <a:effectLst/>
                <a:ea typeface="Roboto Mono"/>
                <a:cs typeface="Roboto Mono"/>
              </a:rPr>
              <a:t>git</a:t>
            </a:r>
            <a:r>
              <a:rPr kumimoji="0" lang="en-US" altLang="en-US" sz="1400" b="0" i="0" u="none" strike="noStrike" cap="none" normalizeH="0" baseline="0" dirty="0" smtClean="0">
                <a:ln>
                  <a:noFill/>
                </a:ln>
                <a:solidFill>
                  <a:srgbClr val="000000"/>
                </a:solidFill>
                <a:effectLst/>
                <a:ea typeface="Roboto Mono"/>
                <a:cs typeface="Roboto Mono"/>
              </a:rPr>
              <a:t> </a:t>
            </a:r>
            <a:r>
              <a:rPr kumimoji="0" lang="en-US" altLang="en-US" sz="1400" b="0" i="0" u="none" strike="noStrike" cap="none" normalizeH="0" baseline="0" dirty="0" err="1" smtClean="0">
                <a:ln>
                  <a:noFill/>
                </a:ln>
                <a:solidFill>
                  <a:srgbClr val="000000"/>
                </a:solidFill>
                <a:effectLst/>
                <a:ea typeface="Roboto Mono"/>
                <a:cs typeface="Roboto Mono"/>
              </a:rPr>
              <a:t>init</a:t>
            </a:r>
            <a:r>
              <a:rPr kumimoji="0" lang="en-US" altLang="en-US" sz="1400" b="0" i="0" u="none" strike="noStrike" cap="none" normalizeH="0" baseline="0" dirty="0" smtClean="0">
                <a:ln>
                  <a:noFill/>
                </a:ln>
                <a:solidFill>
                  <a:srgbClr val="000000"/>
                </a:solidFill>
                <a:effectLst/>
                <a:ea typeface="Arial" panose="020B0604020202020204" pitchFamily="34" charset="0"/>
              </a:rPr>
              <a:t>, </a:t>
            </a:r>
            <a:endParaRPr kumimoji="0" lang="en-US" altLang="en-US" sz="1400" b="0" i="0" u="none" strike="noStrike" cap="none" normalizeH="0" baseline="0" dirty="0" smtClean="0">
              <a:ln>
                <a:noFill/>
              </a:ln>
              <a:solidFill>
                <a:schemeClr val="tx1"/>
              </a:solidFill>
              <a:effectLst/>
            </a:endParaRPr>
          </a:p>
          <a:p>
            <a:pPr lvl="2">
              <a:buFontTx/>
              <a:buAutoNum type="arabicPeriod"/>
            </a:pPr>
            <a:r>
              <a:rPr kumimoji="0" lang="en-US" altLang="en-US" sz="1400" b="0" i="0" u="none" strike="noStrike" cap="none" normalizeH="0" baseline="0" dirty="0" err="1" smtClean="0">
                <a:ln>
                  <a:noFill/>
                </a:ln>
                <a:solidFill>
                  <a:srgbClr val="000000"/>
                </a:solidFill>
                <a:effectLst/>
                <a:ea typeface="Roboto Mono"/>
                <a:cs typeface="Roboto Mono"/>
              </a:rPr>
              <a:t>git</a:t>
            </a:r>
            <a:r>
              <a:rPr kumimoji="0" lang="en-US" altLang="en-US" sz="1400" b="0" i="0" u="none" strike="noStrike" cap="none" normalizeH="0" baseline="0" dirty="0" smtClean="0">
                <a:ln>
                  <a:noFill/>
                </a:ln>
                <a:solidFill>
                  <a:srgbClr val="000000"/>
                </a:solidFill>
                <a:effectLst/>
                <a:ea typeface="Roboto Mono"/>
                <a:cs typeface="Roboto Mono"/>
              </a:rPr>
              <a:t> add .</a:t>
            </a:r>
            <a:endParaRPr kumimoji="0" lang="en-US" altLang="en-US" sz="1400" b="0" i="0" u="none" strike="noStrike" cap="none" normalizeH="0" baseline="0" dirty="0" smtClean="0">
              <a:ln>
                <a:noFill/>
              </a:ln>
              <a:solidFill>
                <a:schemeClr val="tx1"/>
              </a:solidFill>
              <a:effectLst/>
            </a:endParaRPr>
          </a:p>
          <a:p>
            <a:pPr lvl="2">
              <a:buFontTx/>
              <a:buAutoNum type="arabicPeriod"/>
            </a:pPr>
            <a:r>
              <a:rPr kumimoji="0" lang="en-US" altLang="en-US" sz="1400" b="0" i="0" u="none" strike="noStrike" cap="none" normalizeH="0" baseline="0" dirty="0" err="1" smtClean="0">
                <a:ln>
                  <a:noFill/>
                </a:ln>
                <a:solidFill>
                  <a:srgbClr val="000000"/>
                </a:solidFill>
                <a:effectLst/>
                <a:ea typeface="Roboto Mono"/>
                <a:cs typeface="Roboto Mono"/>
              </a:rPr>
              <a:t>git</a:t>
            </a:r>
            <a:r>
              <a:rPr kumimoji="0" lang="en-US" altLang="en-US" sz="1400" b="0" i="0" u="none" strike="noStrike" cap="none" normalizeH="0" baseline="0" dirty="0" smtClean="0">
                <a:ln>
                  <a:noFill/>
                </a:ln>
                <a:solidFill>
                  <a:srgbClr val="000000"/>
                </a:solidFill>
                <a:effectLst/>
                <a:ea typeface="Roboto Mono"/>
                <a:cs typeface="Roboto Mono"/>
              </a:rPr>
              <a:t> commit -m "initial commit"</a:t>
            </a:r>
            <a:r>
              <a:rPr kumimoji="0" lang="en-US" altLang="en-US" sz="1400" b="0" i="0" u="none" strike="noStrike" cap="none" normalizeH="0" baseline="0" dirty="0" smtClean="0">
                <a:ln>
                  <a:noFill/>
                </a:ln>
                <a:solidFill>
                  <a:srgbClr val="000000"/>
                </a:solidFill>
                <a:effectLst/>
                <a:ea typeface="Arial" panose="020B0604020202020204" pitchFamily="34" charset="0"/>
              </a:rPr>
              <a:t>.</a:t>
            </a:r>
            <a:br>
              <a:rPr kumimoji="0" lang="en-US" altLang="en-US" sz="1400" b="0" i="0" u="none" strike="noStrike" cap="none" normalizeH="0" baseline="0" dirty="0" smtClean="0">
                <a:ln>
                  <a:noFill/>
                </a:ln>
                <a:solidFill>
                  <a:srgbClr val="000000"/>
                </a:solidFill>
                <a:effectLst/>
                <a:ea typeface="Arial" panose="020B0604020202020204" pitchFamily="34" charset="0"/>
              </a:rPr>
            </a:br>
            <a:r>
              <a:rPr kumimoji="0" lang="en-US" altLang="en-US" sz="1400" b="0" i="0" u="none" strike="noStrike" cap="none" normalizeH="0" baseline="0" dirty="0" smtClean="0">
                <a:ln>
                  <a:noFill/>
                </a:ln>
                <a:solidFill>
                  <a:srgbClr val="000000"/>
                </a:solidFill>
                <a:effectLst/>
                <a:ea typeface="Arial" panose="020B0604020202020204" pitchFamily="34" charset="0"/>
              </a:rPr>
              <a:t/>
            </a:r>
            <a:br>
              <a:rPr kumimoji="0" lang="en-US" altLang="en-US" sz="1400" b="0" i="0" u="none" strike="noStrike" cap="none" normalizeH="0" baseline="0" dirty="0" smtClean="0">
                <a:ln>
                  <a:noFill/>
                </a:ln>
                <a:solidFill>
                  <a:srgbClr val="000000"/>
                </a:solidFill>
                <a:effectLst/>
                <a:ea typeface="Arial" panose="020B0604020202020204" pitchFamily="34" charset="0"/>
              </a:rPr>
            </a:br>
            <a:endParaRPr kumimoji="0" lang="en-US" altLang="en-US" sz="1400" b="0" i="0" u="none" strike="noStrike" cap="none" normalizeH="0" baseline="0" dirty="0" smtClean="0">
              <a:ln>
                <a:noFill/>
              </a:ln>
              <a:solidFill>
                <a:schemeClr val="tx1"/>
              </a:solidFill>
              <a:effectLst/>
            </a:endParaRPr>
          </a:p>
          <a:p>
            <a:pPr lvl="2">
              <a:buFontTx/>
              <a:buAutoNum type="arabicPeriod"/>
            </a:pPr>
            <a:r>
              <a:rPr kumimoji="0" lang="en-US" altLang="en-US" sz="1400" b="0" i="0" u="none" strike="noStrike" cap="none" normalizeH="0" baseline="0" dirty="0" smtClean="0">
                <a:ln>
                  <a:noFill/>
                </a:ln>
                <a:solidFill>
                  <a:srgbClr val="000000"/>
                </a:solidFill>
                <a:effectLst/>
                <a:ea typeface="Arial" panose="020B0604020202020204" pitchFamily="34" charset="0"/>
              </a:rPr>
              <a:t>Add remote &amp; push: </a:t>
            </a:r>
            <a:endParaRPr kumimoji="0" lang="en-US" altLang="en-US" sz="1400" b="0" i="0" u="none" strike="noStrike" cap="none" normalizeH="0" baseline="0" dirty="0" smtClean="0">
              <a:ln>
                <a:noFill/>
              </a:ln>
              <a:solidFill>
                <a:schemeClr val="tx1"/>
              </a:solidFill>
              <a:effectLst/>
            </a:endParaRPr>
          </a:p>
          <a:p>
            <a:pPr lvl="2">
              <a:buFontTx/>
              <a:buAutoNum type="arabicPeriod"/>
            </a:pPr>
            <a:r>
              <a:rPr kumimoji="0" lang="en-US" altLang="en-US" sz="1400" b="0" i="0" u="none" strike="noStrike" cap="none" normalizeH="0" baseline="0" dirty="0" err="1" smtClean="0">
                <a:ln>
                  <a:noFill/>
                </a:ln>
                <a:solidFill>
                  <a:srgbClr val="000000"/>
                </a:solidFill>
                <a:effectLst/>
                <a:ea typeface="Roboto Mono"/>
                <a:cs typeface="Roboto Mono"/>
              </a:rPr>
              <a:t>git</a:t>
            </a:r>
            <a:r>
              <a:rPr kumimoji="0" lang="en-US" altLang="en-US" sz="1400" b="0" i="0" u="none" strike="noStrike" cap="none" normalizeH="0" baseline="0" dirty="0" smtClean="0">
                <a:ln>
                  <a:noFill/>
                </a:ln>
                <a:solidFill>
                  <a:srgbClr val="000000"/>
                </a:solidFill>
                <a:effectLst/>
                <a:ea typeface="Roboto Mono"/>
                <a:cs typeface="Roboto Mono"/>
              </a:rPr>
              <a:t> remote add origin &lt;</a:t>
            </a:r>
            <a:r>
              <a:rPr kumimoji="0" lang="en-US" altLang="en-US" sz="1400" b="0" i="0" u="none" strike="noStrike" cap="none" normalizeH="0" baseline="0" dirty="0" err="1" smtClean="0">
                <a:ln>
                  <a:noFill/>
                </a:ln>
                <a:solidFill>
                  <a:srgbClr val="000000"/>
                </a:solidFill>
                <a:effectLst/>
                <a:ea typeface="Roboto Mono"/>
                <a:cs typeface="Roboto Mono"/>
              </a:rPr>
              <a:t>url</a:t>
            </a:r>
            <a:r>
              <a:rPr kumimoji="0" lang="en-US" altLang="en-US" sz="1400" b="0" i="0" u="none" strike="noStrike" cap="none" normalizeH="0" baseline="0" dirty="0" smtClean="0">
                <a:ln>
                  <a:noFill/>
                </a:ln>
                <a:solidFill>
                  <a:srgbClr val="000000"/>
                </a:solidFill>
                <a:effectLst/>
                <a:ea typeface="Roboto Mono"/>
                <a:cs typeface="Roboto Mono"/>
              </a:rPr>
              <a:t>&gt;</a:t>
            </a:r>
            <a:r>
              <a:rPr kumimoji="0" lang="en-US" altLang="en-US" sz="1400" b="0" i="0" u="none" strike="noStrike" cap="none" normalizeH="0" baseline="0" dirty="0" smtClean="0">
                <a:ln>
                  <a:noFill/>
                </a:ln>
                <a:solidFill>
                  <a:srgbClr val="000000"/>
                </a:solidFill>
                <a:effectLst/>
                <a:ea typeface="Arial Unicode MS"/>
                <a:cs typeface="Arial Unicode MS"/>
              </a:rPr>
              <a:t> </a:t>
            </a:r>
            <a:endParaRPr kumimoji="0" lang="en-US" altLang="en-US" sz="1400" b="0" i="0" u="none" strike="noStrike" cap="none" normalizeH="0" baseline="0" dirty="0" smtClean="0">
              <a:ln>
                <a:noFill/>
              </a:ln>
              <a:solidFill>
                <a:schemeClr val="tx1"/>
              </a:solidFill>
              <a:effectLst/>
            </a:endParaRPr>
          </a:p>
          <a:p>
            <a:pPr lvl="2">
              <a:buFontTx/>
              <a:buAutoNum type="arabicPeriod"/>
            </a:pPr>
            <a:r>
              <a:rPr kumimoji="0" lang="en-US" altLang="en-US" sz="1400" b="0" i="0" u="none" strike="noStrike" cap="none" normalizeH="0" baseline="0" dirty="0" err="1" smtClean="0">
                <a:ln>
                  <a:noFill/>
                </a:ln>
                <a:solidFill>
                  <a:srgbClr val="000000"/>
                </a:solidFill>
                <a:effectLst/>
                <a:ea typeface="Roboto Mono"/>
                <a:cs typeface="Roboto Mono"/>
              </a:rPr>
              <a:t>git</a:t>
            </a:r>
            <a:r>
              <a:rPr kumimoji="0" lang="en-US" altLang="en-US" sz="1400" b="0" i="0" u="none" strike="noStrike" cap="none" normalizeH="0" baseline="0" dirty="0" smtClean="0">
                <a:ln>
                  <a:noFill/>
                </a:ln>
                <a:solidFill>
                  <a:srgbClr val="000000"/>
                </a:solidFill>
                <a:effectLst/>
                <a:ea typeface="Roboto Mono"/>
                <a:cs typeface="Roboto Mono"/>
              </a:rPr>
              <a:t> push origin master</a:t>
            </a:r>
            <a:r>
              <a:rPr kumimoji="0" lang="en-US" altLang="en-US" sz="1400" b="0" i="0" u="none" strike="noStrike" cap="none" normalizeH="0" baseline="0" dirty="0" smtClean="0">
                <a:ln>
                  <a:noFill/>
                </a:ln>
                <a:solidFill>
                  <a:srgbClr val="000000"/>
                </a:solidFill>
                <a:effectLst/>
                <a:ea typeface="Arial" panose="020B0604020202020204" pitchFamily="34" charset="0"/>
              </a:rPr>
              <a:t/>
            </a:r>
            <a:br>
              <a:rPr kumimoji="0" lang="en-US" altLang="en-US" sz="1400" b="0" i="0" u="none" strike="noStrike" cap="none" normalizeH="0" baseline="0" dirty="0" smtClean="0">
                <a:ln>
                  <a:noFill/>
                </a:ln>
                <a:solidFill>
                  <a:srgbClr val="000000"/>
                </a:solidFill>
                <a:effectLst/>
                <a:ea typeface="Arial" panose="020B0604020202020204" pitchFamily="34" charset="0"/>
              </a:rPr>
            </a:br>
            <a:endParaRPr kumimoji="0" lang="en-US" altLang="en-US" sz="1400" b="0" i="0" u="none" strike="noStrike" cap="none" normalizeH="0" baseline="0" dirty="0" smtClean="0">
              <a:ln>
                <a:noFill/>
              </a:ln>
              <a:solidFill>
                <a:schemeClr val="tx1"/>
              </a:solidFill>
              <a:effectLst/>
            </a:endParaRPr>
          </a:p>
          <a:p>
            <a:pPr lvl="1">
              <a:buFontTx/>
              <a:buAutoNum type="arabicPeriod"/>
            </a:pPr>
            <a:r>
              <a:rPr kumimoji="0" lang="en-US" altLang="en-US" sz="1400" b="0" i="0" u="none" strike="noStrike" cap="none" normalizeH="0" baseline="0" dirty="0" smtClean="0">
                <a:ln>
                  <a:noFill/>
                </a:ln>
                <a:solidFill>
                  <a:srgbClr val="000000"/>
                </a:solidFill>
                <a:effectLst/>
                <a:ea typeface="Arial" panose="020B0604020202020204" pitchFamily="34" charset="0"/>
              </a:rPr>
              <a:t>Go to </a:t>
            </a:r>
            <a:r>
              <a:rPr kumimoji="0" lang="en-US" altLang="en-US" sz="1400" b="0" i="0" u="none" strike="noStrike" cap="none" normalizeH="0" baseline="0" dirty="0" err="1" smtClean="0">
                <a:ln>
                  <a:noFill/>
                </a:ln>
                <a:solidFill>
                  <a:srgbClr val="000000"/>
                </a:solidFill>
                <a:effectLst/>
                <a:ea typeface="Arial" panose="020B0604020202020204" pitchFamily="34" charset="0"/>
              </a:rPr>
              <a:t>fastmcp.cloud</a:t>
            </a:r>
            <a:r>
              <a:rPr kumimoji="0" lang="en-US" altLang="en-US" sz="1400" b="0" i="0" u="none" strike="noStrike" cap="none" normalizeH="0" baseline="0" dirty="0" smtClean="0">
                <a:ln>
                  <a:noFill/>
                </a:ln>
                <a:solidFill>
                  <a:srgbClr val="000000"/>
                </a:solidFill>
                <a:effectLst/>
                <a:ea typeface="Arial" panose="020B0604020202020204" pitchFamily="34" charset="0"/>
              </a:rPr>
              <a:t>.</a:t>
            </a:r>
            <a:br>
              <a:rPr kumimoji="0" lang="en-US" altLang="en-US" sz="1400" b="0" i="0" u="none" strike="noStrike" cap="none" normalizeH="0" baseline="0" dirty="0" smtClean="0">
                <a:ln>
                  <a:noFill/>
                </a:ln>
                <a:solidFill>
                  <a:srgbClr val="000000"/>
                </a:solidFill>
                <a:effectLst/>
                <a:ea typeface="Arial" panose="020B0604020202020204" pitchFamily="34" charset="0"/>
              </a:rPr>
            </a:br>
            <a:endParaRPr kumimoji="0" lang="en-US" altLang="en-US" sz="1400" b="0" i="0" u="none" strike="noStrike" cap="none" normalizeH="0" baseline="0" dirty="0" smtClean="0">
              <a:ln>
                <a:noFill/>
              </a:ln>
              <a:solidFill>
                <a:schemeClr val="tx1"/>
              </a:solidFill>
              <a:effectLst/>
            </a:endParaRPr>
          </a:p>
          <a:p>
            <a:pPr lvl="2">
              <a:buFontTx/>
              <a:buAutoNum type="arabicPeriod"/>
            </a:pPr>
            <a:r>
              <a:rPr kumimoji="0" lang="en-US" altLang="en-US" sz="1400" b="0" i="0" u="none" strike="noStrike" cap="none" normalizeH="0" baseline="0" dirty="0" smtClean="0">
                <a:ln>
                  <a:noFill/>
                </a:ln>
                <a:solidFill>
                  <a:srgbClr val="000000"/>
                </a:solidFill>
                <a:effectLst/>
                <a:ea typeface="Arial" panose="020B0604020202020204" pitchFamily="34" charset="0"/>
              </a:rPr>
              <a:t>Connect GitHub account.</a:t>
            </a:r>
            <a:br>
              <a:rPr kumimoji="0" lang="en-US" altLang="en-US" sz="1400" b="0" i="0" u="none" strike="noStrike" cap="none" normalizeH="0" baseline="0" dirty="0" smtClean="0">
                <a:ln>
                  <a:noFill/>
                </a:ln>
                <a:solidFill>
                  <a:srgbClr val="000000"/>
                </a:solidFill>
                <a:effectLst/>
                <a:ea typeface="Arial" panose="020B0604020202020204" pitchFamily="34" charset="0"/>
              </a:rPr>
            </a:br>
            <a:endParaRPr kumimoji="0" lang="en-US" altLang="en-US" sz="1400" b="0" i="0" u="none" strike="noStrike" cap="none" normalizeH="0" baseline="0" dirty="0" smtClean="0">
              <a:ln>
                <a:noFill/>
              </a:ln>
              <a:solidFill>
                <a:schemeClr val="tx1"/>
              </a:solidFill>
              <a:effectLst/>
            </a:endParaRPr>
          </a:p>
          <a:p>
            <a:pPr lvl="2">
              <a:buFontTx/>
              <a:buAutoNum type="arabicPeriod"/>
            </a:pPr>
            <a:r>
              <a:rPr kumimoji="0" lang="en-US" altLang="en-US" sz="1400" b="0" i="0" u="none" strike="noStrike" cap="none" normalizeH="0" baseline="0" dirty="0" smtClean="0">
                <a:ln>
                  <a:noFill/>
                </a:ln>
                <a:solidFill>
                  <a:srgbClr val="000000"/>
                </a:solidFill>
                <a:effectLst/>
                <a:ea typeface="Arial Unicode MS"/>
                <a:cs typeface="Arial Unicode MS"/>
              </a:rPr>
              <a:t>Select repository → Deploy.</a:t>
            </a:r>
            <a:br>
              <a:rPr kumimoji="0" lang="en-US" altLang="en-US" sz="1400" b="0" i="0" u="none" strike="noStrike" cap="none" normalizeH="0" baseline="0" dirty="0" smtClean="0">
                <a:ln>
                  <a:noFill/>
                </a:ln>
                <a:solidFill>
                  <a:srgbClr val="000000"/>
                </a:solidFill>
                <a:effectLst/>
                <a:ea typeface="Arial Unicode MS"/>
                <a:cs typeface="Arial Unicode MS"/>
              </a:rPr>
            </a:br>
            <a:endParaRPr kumimoji="0" lang="en-US" altLang="en-US" sz="1400" b="0" i="0" u="none" strike="noStrike" cap="none" normalizeH="0" baseline="0" dirty="0" smtClean="0">
              <a:ln>
                <a:noFill/>
              </a:ln>
              <a:solidFill>
                <a:schemeClr val="tx1"/>
              </a:solidFill>
              <a:effectLst/>
            </a:endParaRPr>
          </a:p>
          <a:p>
            <a:pPr lvl="2">
              <a:buFontTx/>
              <a:buAutoNum type="arabicPeriod"/>
            </a:pPr>
            <a:r>
              <a:rPr kumimoji="0" lang="en-US" altLang="en-US" sz="1400" b="0" i="0" u="none" strike="noStrike" cap="none" normalizeH="0" baseline="0" dirty="0" smtClean="0">
                <a:ln>
                  <a:noFill/>
                </a:ln>
                <a:solidFill>
                  <a:srgbClr val="000000"/>
                </a:solidFill>
                <a:effectLst/>
                <a:ea typeface="Arial" panose="020B0604020202020204" pitchFamily="34" charset="0"/>
              </a:rPr>
              <a:t>Set entry point (</a:t>
            </a:r>
            <a:r>
              <a:rPr kumimoji="0" lang="en-US" altLang="en-US" sz="1400" b="0" i="0" u="none" strike="noStrike" cap="none" normalizeH="0" baseline="0" dirty="0" smtClean="0">
                <a:ln>
                  <a:noFill/>
                </a:ln>
                <a:solidFill>
                  <a:srgbClr val="000000"/>
                </a:solidFill>
                <a:effectLst/>
                <a:ea typeface="Roboto Mono"/>
                <a:cs typeface="Roboto Mono"/>
              </a:rPr>
              <a:t>main.py</a:t>
            </a:r>
            <a:r>
              <a:rPr kumimoji="0" lang="en-US" altLang="en-US" sz="1400" b="0" i="0" u="none" strike="noStrike" cap="none" normalizeH="0" baseline="0" dirty="0" smtClean="0">
                <a:ln>
                  <a:noFill/>
                </a:ln>
                <a:solidFill>
                  <a:srgbClr val="000000"/>
                </a:solidFill>
                <a:effectLst/>
                <a:ea typeface="Arial" panose="020B0604020202020204" pitchFamily="34" charset="0"/>
              </a:rPr>
              <a:t>).</a:t>
            </a:r>
            <a:br>
              <a:rPr kumimoji="0" lang="en-US" altLang="en-US" sz="1400" b="0" i="0" u="none" strike="noStrike" cap="none" normalizeH="0" baseline="0" dirty="0" smtClean="0">
                <a:ln>
                  <a:noFill/>
                </a:ln>
                <a:solidFill>
                  <a:srgbClr val="000000"/>
                </a:solidFill>
                <a:effectLst/>
                <a:ea typeface="Arial" panose="020B0604020202020204" pitchFamily="34" charset="0"/>
              </a:rPr>
            </a:br>
            <a:endParaRPr kumimoji="0" lang="en-US" altLang="en-US" sz="1400" b="0" i="0" u="none" strike="noStrike" cap="none" normalizeH="0" baseline="0" dirty="0" smtClean="0">
              <a:ln>
                <a:noFill/>
              </a:ln>
              <a:solidFill>
                <a:schemeClr val="tx1"/>
              </a:solidFill>
              <a:effectLst/>
            </a:endParaRPr>
          </a:p>
          <a:p>
            <a:pPr lvl="2">
              <a:buFontTx/>
              <a:buAutoNum type="arabicPeriod"/>
            </a:pPr>
            <a:r>
              <a:rPr kumimoji="0" lang="en-US" altLang="en-US" sz="1400" b="0" i="0" u="none" strike="noStrike" cap="none" normalizeH="0" baseline="0" dirty="0" smtClean="0">
                <a:ln>
                  <a:noFill/>
                </a:ln>
                <a:solidFill>
                  <a:srgbClr val="000000"/>
                </a:solidFill>
                <a:effectLst/>
                <a:ea typeface="Arial" panose="020B0604020202020204" pitchFamily="34" charset="0"/>
              </a:rPr>
              <a:t>Optional: change server name, discoverability.</a:t>
            </a:r>
          </a:p>
          <a:p>
            <a:pPr lvl="2">
              <a:buFontTx/>
              <a:buAutoNum type="arabicPeriod"/>
            </a:pPr>
            <a:endParaRPr kumimoji="0" lang="en-US" altLang="en-US" sz="1400" b="0" i="0" u="none" strike="noStrike" cap="none" normalizeH="0" baseline="0" dirty="0" smtClean="0">
              <a:ln>
                <a:noFill/>
              </a:ln>
              <a:solidFill>
                <a:schemeClr val="tx1"/>
              </a:solidFill>
              <a:effectLst/>
            </a:endParaRPr>
          </a:p>
          <a:p>
            <a:pPr lvl="2">
              <a:buFontTx/>
              <a:buAutoNum type="arabicPeriod"/>
            </a:pPr>
            <a:r>
              <a:rPr kumimoji="0" lang="en-US" altLang="en-US" sz="1400" b="0" i="0" u="none" strike="noStrike" cap="none" normalizeH="0" baseline="0" dirty="0" smtClean="0">
                <a:ln>
                  <a:noFill/>
                </a:ln>
                <a:solidFill>
                  <a:srgbClr val="000000"/>
                </a:solidFill>
                <a:effectLst/>
                <a:ea typeface="Arial" panose="020B0604020202020204" pitchFamily="34" charset="0"/>
              </a:rPr>
              <a:t>Take </a:t>
            </a:r>
            <a:r>
              <a:rPr kumimoji="0" lang="en-US" altLang="en-US" sz="1400" b="0" i="0" u="none" strike="noStrike" cap="none" normalizeH="0" baseline="0" dirty="0" err="1" smtClean="0">
                <a:ln>
                  <a:noFill/>
                </a:ln>
                <a:solidFill>
                  <a:srgbClr val="000000"/>
                </a:solidFill>
                <a:effectLst/>
                <a:ea typeface="Arial" panose="020B0604020202020204" pitchFamily="34" charset="0"/>
              </a:rPr>
              <a:t>api_keys</a:t>
            </a:r>
            <a:r>
              <a:rPr kumimoji="0" lang="en-US" altLang="en-US" sz="1400" b="0" i="0" u="none" strike="noStrike" cap="none" normalizeH="0" baseline="0" dirty="0" smtClean="0">
                <a:ln>
                  <a:noFill/>
                </a:ln>
                <a:solidFill>
                  <a:srgbClr val="000000"/>
                </a:solidFill>
                <a:effectLst/>
                <a:ea typeface="Arial" panose="020B0604020202020204" pitchFamily="34" charset="0"/>
              </a:rPr>
              <a:t> from profile icon and pass it as bearer token</a:t>
            </a:r>
            <a:br>
              <a:rPr kumimoji="0" lang="en-US" altLang="en-US" sz="1400" b="0" i="0" u="none" strike="noStrike" cap="none" normalizeH="0" baseline="0" dirty="0" smtClean="0">
                <a:ln>
                  <a:noFill/>
                </a:ln>
                <a:solidFill>
                  <a:srgbClr val="000000"/>
                </a:solidFill>
                <a:effectLst/>
                <a:ea typeface="Arial" panose="020B0604020202020204" pitchFamily="34" charset="0"/>
              </a:rPr>
            </a:br>
            <a:r>
              <a:rPr kumimoji="0" lang="en-US" altLang="en-US" sz="1400" b="0" i="0" u="none" strike="noStrike" cap="none" normalizeH="0" baseline="0" dirty="0" smtClean="0">
                <a:ln>
                  <a:noFill/>
                </a:ln>
                <a:solidFill>
                  <a:srgbClr val="000000"/>
                </a:solidFill>
                <a:effectLst/>
                <a:ea typeface="Arial" panose="020B0604020202020204" pitchFamily="34" charset="0"/>
              </a:rPr>
              <a:t/>
            </a:r>
            <a:br>
              <a:rPr kumimoji="0" lang="en-US" altLang="en-US" sz="1400" b="0" i="0" u="none" strike="noStrike" cap="none" normalizeH="0" baseline="0" dirty="0" smtClean="0">
                <a:ln>
                  <a:noFill/>
                </a:ln>
                <a:solidFill>
                  <a:srgbClr val="000000"/>
                </a:solidFill>
                <a:effectLst/>
                <a:ea typeface="Arial" panose="020B0604020202020204" pitchFamily="34" charset="0"/>
              </a:rPr>
            </a:br>
            <a:endParaRPr kumimoji="0" lang="en-US" altLang="en-US" sz="1400" b="0" i="0" u="none" strike="noStrike" cap="none" normalizeH="0" baseline="0" dirty="0" smtClean="0">
              <a:ln>
                <a:noFill/>
              </a:ln>
              <a:solidFill>
                <a:schemeClr val="tx1"/>
              </a:solidFill>
              <a:effectLst/>
            </a:endParaRPr>
          </a:p>
        </p:txBody>
      </p:sp>
      <p:sp>
        <p:nvSpPr>
          <p:cNvPr id="17" name="Rectangle 10"/>
          <p:cNvSpPr>
            <a:spLocks noChangeArrowheads="1"/>
          </p:cNvSpPr>
          <p:nvPr/>
        </p:nvSpPr>
        <p:spPr bwMode="auto">
          <a:xfrm>
            <a:off x="6666182" y="1589782"/>
            <a:ext cx="5079708" cy="2385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177744" rIns="91440" bIns="50784"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en-US" sz="1400" dirty="0" smtClean="0"/>
              <a:t>3. </a:t>
            </a:r>
            <a:r>
              <a:rPr lang="en-US" altLang="en-US" sz="1400" dirty="0" smtClean="0">
                <a:solidFill>
                  <a:srgbClr val="000000"/>
                </a:solidFill>
                <a:ea typeface="Arial Unicode MS"/>
                <a:cs typeface="Arial Unicode MS"/>
              </a:rPr>
              <a:t>Once </a:t>
            </a:r>
            <a:r>
              <a:rPr lang="en-US" altLang="en-US" sz="1400" dirty="0">
                <a:solidFill>
                  <a:srgbClr val="000000"/>
                </a:solidFill>
                <a:ea typeface="Arial Unicode MS"/>
                <a:cs typeface="Arial Unicode MS"/>
              </a:rPr>
              <a:t>deployed → server URL generated → shareable.</a:t>
            </a:r>
            <a:endParaRPr lang="en-US" altLang="en-US" sz="1400" dirty="0"/>
          </a:p>
          <a:p>
            <a:pPr lvl="0"/>
            <a:endParaRPr lang="en-US" altLang="en-US" sz="1400" dirty="0"/>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i="0" u="none" strike="noStrike" cap="none" normalizeH="0" baseline="0" dirty="0" smtClean="0">
              <a:ln>
                <a:noFill/>
              </a:ln>
              <a:solidFill>
                <a:srgbClr val="000000"/>
              </a:solidFill>
              <a:effectLst/>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rgbClr val="000000"/>
                </a:solidFill>
                <a:effectLst/>
                <a:cs typeface="Arial" panose="020B0604020202020204" pitchFamily="34" charset="0"/>
              </a:rPr>
              <a:t>4. </a:t>
            </a:r>
            <a:r>
              <a:rPr kumimoji="0" lang="en-US" altLang="en-US" sz="1400" i="0" u="none" strike="noStrike" cap="none" normalizeH="0" baseline="0" dirty="0" smtClean="0">
                <a:ln>
                  <a:noFill/>
                </a:ln>
                <a:solidFill>
                  <a:srgbClr val="000000"/>
                </a:solidFill>
                <a:effectLst/>
                <a:cs typeface="Arial" panose="020B0604020202020204" pitchFamily="34" charset="0"/>
              </a:rPr>
              <a:t>Using Remote MCP Server with Claude Desktop</a:t>
            </a:r>
            <a:endParaRPr kumimoji="0" lang="en-US" altLang="en-US" sz="1400" i="0" u="none" strike="noStrike" cap="none" normalizeH="0" baseline="0" dirty="0" smtClean="0">
              <a:ln>
                <a:noFill/>
              </a:ln>
              <a:solidFill>
                <a:srgbClr val="434343"/>
              </a:solidFill>
              <a:effectLst/>
              <a:cs typeface="Arial" panose="020B0604020202020204" pitchFamily="34" charset="0"/>
            </a:endParaRPr>
          </a:p>
          <a:p>
            <a:pPr marL="628650" lvl="1" indent="-171450">
              <a:buFont typeface="Arial" panose="020B0604020202020204" pitchFamily="34" charset="0"/>
              <a:buChar char="•"/>
            </a:pPr>
            <a:r>
              <a:rPr kumimoji="0" lang="en-US" altLang="en-US" sz="1400" b="0" i="0" u="none" strike="noStrike" cap="none" normalizeH="0" baseline="0" dirty="0" smtClean="0">
                <a:ln>
                  <a:noFill/>
                </a:ln>
                <a:solidFill>
                  <a:srgbClr val="000000"/>
                </a:solidFill>
                <a:effectLst/>
                <a:ea typeface="Arial" panose="020B0604020202020204" pitchFamily="34" charset="0"/>
              </a:rPr>
              <a:t>Go to </a:t>
            </a:r>
            <a:r>
              <a:rPr kumimoji="0" lang="en-US" altLang="en-US" sz="1400" b="1" i="0" u="none" strike="noStrike" cap="none" normalizeH="0" baseline="0" dirty="0" smtClean="0">
                <a:ln>
                  <a:noFill/>
                </a:ln>
                <a:solidFill>
                  <a:srgbClr val="000000"/>
                </a:solidFill>
                <a:effectLst/>
                <a:ea typeface="Arial Unicode MS"/>
                <a:cs typeface="Arial Unicode MS"/>
              </a:rPr>
              <a:t>Settings → Connectors → Add Custom Connector</a:t>
            </a:r>
            <a:r>
              <a:rPr kumimoji="0" lang="en-US" altLang="en-US" sz="1400" b="0" i="0" u="none" strike="noStrike" cap="none" normalizeH="0" baseline="0" dirty="0" smtClean="0">
                <a:ln>
                  <a:noFill/>
                </a:ln>
                <a:solidFill>
                  <a:srgbClr val="000000"/>
                </a:solidFill>
                <a:effectLst/>
                <a:ea typeface="Arial" panose="020B0604020202020204" pitchFamily="34" charset="0"/>
              </a:rPr>
              <a:t>.</a:t>
            </a:r>
            <a:br>
              <a:rPr kumimoji="0" lang="en-US" altLang="en-US" sz="1400" b="0" i="0" u="none" strike="noStrike" cap="none" normalizeH="0" baseline="0" dirty="0" smtClean="0">
                <a:ln>
                  <a:noFill/>
                </a:ln>
                <a:solidFill>
                  <a:srgbClr val="000000"/>
                </a:solidFill>
                <a:effectLst/>
                <a:ea typeface="Arial" panose="020B0604020202020204" pitchFamily="34" charset="0"/>
              </a:rPr>
            </a:br>
            <a:endParaRPr kumimoji="0" lang="en-US" altLang="en-US" sz="1400" b="0" i="0" u="none" strike="noStrike" cap="none" normalizeH="0" baseline="0" dirty="0" smtClean="0">
              <a:ln>
                <a:noFill/>
              </a:ln>
              <a:solidFill>
                <a:schemeClr val="tx1"/>
              </a:solidFill>
              <a:effectLst/>
            </a:endParaRPr>
          </a:p>
          <a:p>
            <a:pPr marL="628650" lvl="1" indent="-171450">
              <a:buFont typeface="Arial" panose="020B0604020202020204" pitchFamily="34" charset="0"/>
              <a:buChar char="•"/>
            </a:pPr>
            <a:r>
              <a:rPr kumimoji="0" lang="en-US" altLang="en-US" sz="1400" b="0" i="0" u="none" strike="noStrike" cap="none" normalizeH="0" baseline="0" dirty="0" smtClean="0">
                <a:ln>
                  <a:noFill/>
                </a:ln>
                <a:solidFill>
                  <a:srgbClr val="000000"/>
                </a:solidFill>
                <a:effectLst/>
                <a:ea typeface="Arial" panose="020B0604020202020204" pitchFamily="34" charset="0"/>
              </a:rPr>
              <a:t>Provide server name + URL.</a:t>
            </a:r>
            <a:br>
              <a:rPr kumimoji="0" lang="en-US" altLang="en-US" sz="1400" b="0" i="0" u="none" strike="noStrike" cap="none" normalizeH="0" baseline="0" dirty="0" smtClean="0">
                <a:ln>
                  <a:noFill/>
                </a:ln>
                <a:solidFill>
                  <a:srgbClr val="000000"/>
                </a:solidFill>
                <a:effectLst/>
                <a:ea typeface="Arial" panose="020B0604020202020204" pitchFamily="34" charset="0"/>
              </a:rPr>
            </a:br>
            <a:endParaRPr kumimoji="0" lang="en-US" altLang="en-US" sz="1400" b="0" i="0" u="none" strike="noStrike" cap="none" normalizeH="0" baseline="0" dirty="0" smtClean="0">
              <a:ln>
                <a:noFill/>
              </a:ln>
              <a:solidFill>
                <a:schemeClr val="tx1"/>
              </a:solidFill>
              <a:effectLst/>
            </a:endParaRPr>
          </a:p>
          <a:p>
            <a:pPr marL="628650" lvl="1" indent="-171450">
              <a:buFont typeface="Arial" panose="020B0604020202020204" pitchFamily="34" charset="0"/>
              <a:buChar char="•"/>
            </a:pPr>
            <a:r>
              <a:rPr kumimoji="0" lang="en-US" altLang="en-US" sz="1400" b="0" i="0" u="none" strike="noStrike" cap="none" normalizeH="0" baseline="0" dirty="0" smtClean="0">
                <a:ln>
                  <a:noFill/>
                </a:ln>
                <a:solidFill>
                  <a:srgbClr val="000000"/>
                </a:solidFill>
                <a:effectLst/>
                <a:ea typeface="Arial" panose="020B0604020202020204" pitchFamily="34" charset="0"/>
              </a:rPr>
              <a:t>Works only with </a:t>
            </a:r>
            <a:r>
              <a:rPr kumimoji="0" lang="en-US" altLang="en-US" sz="1400" b="1" i="0" u="none" strike="noStrike" cap="none" normalizeH="0" baseline="0" dirty="0" smtClean="0">
                <a:ln>
                  <a:noFill/>
                </a:ln>
                <a:solidFill>
                  <a:srgbClr val="000000"/>
                </a:solidFill>
                <a:effectLst/>
                <a:ea typeface="Arial" panose="020B0604020202020204" pitchFamily="34" charset="0"/>
              </a:rPr>
              <a:t>Pro plan</a:t>
            </a:r>
            <a:r>
              <a:rPr kumimoji="0" lang="en-US" altLang="en-US" sz="1400" b="0" i="0" u="none" strike="noStrike" cap="none" normalizeH="0" baseline="0" dirty="0" smtClean="0">
                <a:ln>
                  <a:noFill/>
                </a:ln>
                <a:solidFill>
                  <a:srgbClr val="000000"/>
                </a:solidFill>
                <a:effectLst/>
                <a:ea typeface="Arial" panose="020B0604020202020204" pitchFamily="34" charset="0"/>
              </a:rPr>
              <a:t> currently.</a:t>
            </a:r>
            <a:endParaRPr kumimoji="0" lang="en-US" altLang="en-US" sz="1400"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val="159674048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395654" y="158194"/>
            <a:ext cx="11078308" cy="595418"/>
          </a:xfrm>
        </p:spPr>
        <p:txBody>
          <a:bodyPr>
            <a:noAutofit/>
          </a:bodyPr>
          <a:lstStyle/>
          <a:p>
            <a:pPr algn="ctr" fontAlgn="base"/>
            <a:r>
              <a:rPr lang="en-US" sz="3200" b="1" dirty="0" smtClean="0">
                <a:latin typeface="Arial" panose="020B0604020202020204" pitchFamily="34" charset="0"/>
                <a:cs typeface="Arial" panose="020B0604020202020204" pitchFamily="34" charset="0"/>
              </a:rPr>
              <a:t>Custom MCP client</a:t>
            </a:r>
            <a:endParaRPr lang="en-IN" sz="3200" b="1" dirty="0">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7132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base"/>
            <a:endParaRPr lang="en-IN" sz="14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1"/>
          <p:cNvSpPr>
            <a:spLocks noChangeArrowheads="1"/>
          </p:cNvSpPr>
          <p:nvPr/>
        </p:nvSpPr>
        <p:spPr bwMode="auto">
          <a:xfrm>
            <a:off x="499843" y="1110231"/>
            <a:ext cx="5865649"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Set Up Environment</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Install required packages:</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err="1" smtClean="0">
                <a:ln>
                  <a:noFill/>
                </a:ln>
                <a:solidFill>
                  <a:schemeClr val="tx1"/>
                </a:solidFill>
                <a:effectLst/>
                <a:latin typeface="Arial" panose="020B0604020202020204" pitchFamily="34" charset="0"/>
                <a:cs typeface="Arial" panose="020B0604020202020204" pitchFamily="34" charset="0"/>
              </a:rPr>
              <a:t>langchain</a:t>
            </a:r>
            <a:endPar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1" i="0" u="none" strike="noStrike" cap="none" normalizeH="0" baseline="0" dirty="0" err="1" smtClean="0">
                <a:ln>
                  <a:noFill/>
                </a:ln>
                <a:solidFill>
                  <a:srgbClr val="FF0000"/>
                </a:solidFill>
                <a:effectLst/>
                <a:latin typeface="Arial" panose="020B0604020202020204" pitchFamily="34" charset="0"/>
                <a:cs typeface="Arial" panose="020B0604020202020204" pitchFamily="34" charset="0"/>
              </a:rPr>
              <a:t>langchain</a:t>
            </a:r>
            <a:r>
              <a:rPr kumimoji="0" lang="en-US" altLang="en-US" sz="1400" b="1" i="0" u="none" strike="noStrike" cap="none" normalizeH="0" baseline="0" dirty="0" smtClean="0">
                <a:ln>
                  <a:noFill/>
                </a:ln>
                <a:solidFill>
                  <a:srgbClr val="FF0000"/>
                </a:solidFill>
                <a:effectLst/>
                <a:latin typeface="Arial" panose="020B0604020202020204" pitchFamily="34" charset="0"/>
                <a:cs typeface="Arial" panose="020B0604020202020204" pitchFamily="34" charset="0"/>
              </a:rPr>
              <a:t>-</a:t>
            </a:r>
            <a:r>
              <a:rPr kumimoji="0" lang="en-US" altLang="en-US" sz="1400" b="1" i="0" u="none" strike="noStrike" cap="none" normalizeH="0" baseline="0" dirty="0" err="1" smtClean="0">
                <a:ln>
                  <a:noFill/>
                </a:ln>
                <a:solidFill>
                  <a:srgbClr val="FF0000"/>
                </a:solidFill>
                <a:effectLst/>
                <a:latin typeface="Arial" panose="020B0604020202020204" pitchFamily="34" charset="0"/>
                <a:cs typeface="Arial" panose="020B0604020202020204" pitchFamily="34" charset="0"/>
              </a:rPr>
              <a:t>mcp</a:t>
            </a:r>
            <a:r>
              <a:rPr kumimoji="0" lang="en-US" altLang="en-US" sz="1400" b="1" i="0" u="none" strike="noStrike" cap="none" normalizeH="0" baseline="0" dirty="0" smtClean="0">
                <a:ln>
                  <a:noFill/>
                </a:ln>
                <a:solidFill>
                  <a:srgbClr val="FF0000"/>
                </a:solidFill>
                <a:effectLst/>
                <a:latin typeface="Arial" panose="020B0604020202020204" pitchFamily="34" charset="0"/>
                <a:cs typeface="Arial" panose="020B0604020202020204" pitchFamily="34" charset="0"/>
              </a:rPr>
              <a:t>-adapters or can use </a:t>
            </a:r>
            <a:r>
              <a:rPr kumimoji="0" lang="en-US" altLang="en-US" sz="1400" b="1" i="0" u="none" strike="noStrike" cap="none" normalizeH="0" baseline="0" dirty="0" err="1" smtClean="0">
                <a:ln>
                  <a:noFill/>
                </a:ln>
                <a:solidFill>
                  <a:srgbClr val="FF0000"/>
                </a:solidFill>
                <a:effectLst/>
                <a:latin typeface="Arial" panose="020B0604020202020204" pitchFamily="34" charset="0"/>
                <a:cs typeface="Arial" panose="020B0604020202020204" pitchFamily="34" charset="0"/>
              </a:rPr>
              <a:t>fastmcp</a:t>
            </a:r>
            <a:r>
              <a:rPr kumimoji="0" lang="en-US" altLang="en-US" sz="1400" b="1" i="0" u="none" strike="noStrike" cap="none" normalizeH="0" baseline="0" dirty="0" smtClean="0">
                <a:ln>
                  <a:noFill/>
                </a:ln>
                <a:solidFill>
                  <a:srgbClr val="FF0000"/>
                </a:solidFill>
                <a:effectLst/>
                <a:latin typeface="Arial" panose="020B0604020202020204" pitchFamily="34" charset="0"/>
                <a:cs typeface="Arial" panose="020B0604020202020204" pitchFamily="34" charset="0"/>
              </a:rPr>
              <a:t> client</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err="1" smtClean="0">
                <a:ln>
                  <a:noFill/>
                </a:ln>
                <a:solidFill>
                  <a:schemeClr val="tx1"/>
                </a:solidFill>
                <a:effectLst/>
                <a:latin typeface="Arial" panose="020B0604020202020204" pitchFamily="34" charset="0"/>
                <a:cs typeface="Arial" panose="020B0604020202020204" pitchFamily="34" charset="0"/>
              </a:rPr>
              <a:t>langchain</a:t>
            </a:r>
            <a:r>
              <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-google-</a:t>
            </a:r>
            <a:r>
              <a:rPr kumimoji="0" lang="en-US" altLang="en-US" sz="1400" b="0" i="0" u="none" strike="noStrike" cap="none" normalizeH="0" baseline="0" dirty="0" err="1" smtClean="0">
                <a:ln>
                  <a:noFill/>
                </a:ln>
                <a:solidFill>
                  <a:schemeClr val="tx1"/>
                </a:solidFill>
                <a:effectLst/>
                <a:latin typeface="Arial" panose="020B0604020202020204" pitchFamily="34" charset="0"/>
                <a:cs typeface="Arial" panose="020B0604020202020204" pitchFamily="34" charset="0"/>
              </a:rPr>
              <a:t>genai</a:t>
            </a:r>
            <a:r>
              <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(or </a:t>
            </a:r>
            <a:r>
              <a:rPr kumimoji="0" lang="en-US" altLang="en-US" sz="1400" b="0" i="0" u="none" strike="noStrike" cap="none" normalizeH="0" baseline="0" dirty="0" err="1" smtClean="0">
                <a:ln>
                  <a:noFill/>
                </a:ln>
                <a:solidFill>
                  <a:schemeClr val="tx1"/>
                </a:solidFill>
                <a:effectLst/>
                <a:latin typeface="Arial" panose="020B0604020202020204" pitchFamily="34" charset="0"/>
                <a:cs typeface="Arial" panose="020B0604020202020204" pitchFamily="34" charset="0"/>
              </a:rPr>
              <a:t>OpenAI</a:t>
            </a:r>
            <a:r>
              <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a:t>
            </a:r>
          </a:p>
          <a:p>
            <a:pPr marL="742950" marR="0" lvl="1"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err="1" smtClean="0">
                <a:ln>
                  <a:noFill/>
                </a:ln>
                <a:solidFill>
                  <a:schemeClr val="tx1"/>
                </a:solidFill>
                <a:effectLst/>
                <a:latin typeface="Arial" panose="020B0604020202020204" pitchFamily="34" charset="0"/>
                <a:cs typeface="Arial" panose="020B0604020202020204" pitchFamily="34" charset="0"/>
              </a:rPr>
              <a:t>streamlit</a:t>
            </a:r>
            <a:r>
              <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(optional UI)</a:t>
            </a:r>
          </a:p>
          <a:p>
            <a:endParaRPr lang="en-IN" sz="1400" b="1" dirty="0" smtClean="0">
              <a:latin typeface="Arial" panose="020B0604020202020204" pitchFamily="34" charset="0"/>
              <a:cs typeface="Arial" panose="020B0604020202020204" pitchFamily="34" charset="0"/>
            </a:endParaRPr>
          </a:p>
          <a:p>
            <a:r>
              <a:rPr lang="en-IN" sz="1400" b="1" dirty="0" smtClean="0">
                <a:latin typeface="Arial" panose="020B0604020202020204" pitchFamily="34" charset="0"/>
                <a:cs typeface="Arial" panose="020B0604020202020204" pitchFamily="34" charset="0"/>
              </a:rPr>
              <a:t>Configure Remote MCP </a:t>
            </a:r>
            <a:r>
              <a:rPr lang="en-IN" sz="1400" b="1" dirty="0">
                <a:latin typeface="Arial" panose="020B0604020202020204" pitchFamily="34" charset="0"/>
                <a:cs typeface="Arial" panose="020B0604020202020204" pitchFamily="34" charset="0"/>
              </a:rPr>
              <a:t>Server</a:t>
            </a:r>
          </a:p>
          <a:p>
            <a:pPr marL="285750" indent="-285750">
              <a:buFont typeface="Arial" panose="020B0604020202020204" pitchFamily="34" charset="0"/>
              <a:buChar char="•"/>
            </a:pPr>
            <a:r>
              <a:rPr lang="en-IN" sz="1400" dirty="0">
                <a:latin typeface="Arial" panose="020B0604020202020204" pitchFamily="34" charset="0"/>
                <a:cs typeface="Arial" panose="020B0604020202020204" pitchFamily="34" charset="0"/>
              </a:rPr>
              <a:t>Define MCP server metadata:</a:t>
            </a:r>
          </a:p>
          <a:p>
            <a:pPr marL="742950" lvl="1" indent="-285750">
              <a:buFont typeface="Arial" panose="020B0604020202020204" pitchFamily="34" charset="0"/>
              <a:buChar char="•"/>
            </a:pPr>
            <a:r>
              <a:rPr lang="en-IN" sz="1400" dirty="0">
                <a:latin typeface="Arial" panose="020B0604020202020204" pitchFamily="34" charset="0"/>
                <a:cs typeface="Arial" panose="020B0604020202020204" pitchFamily="34" charset="0"/>
              </a:rPr>
              <a:t>Server name</a:t>
            </a:r>
          </a:p>
          <a:p>
            <a:pPr marL="742950" lvl="1" indent="-285750">
              <a:buFont typeface="Arial" panose="020B0604020202020204" pitchFamily="34" charset="0"/>
              <a:buChar char="•"/>
            </a:pPr>
            <a:r>
              <a:rPr lang="en-IN" sz="1400" dirty="0">
                <a:latin typeface="Arial" panose="020B0604020202020204" pitchFamily="34" charset="0"/>
                <a:cs typeface="Arial" panose="020B0604020202020204" pitchFamily="34" charset="0"/>
              </a:rPr>
              <a:t>Transport type</a:t>
            </a:r>
          </a:p>
          <a:p>
            <a:pPr marL="742950" lvl="1" indent="-285750">
              <a:buFont typeface="Arial" panose="020B0604020202020204" pitchFamily="34" charset="0"/>
              <a:buChar char="•"/>
            </a:pPr>
            <a:r>
              <a:rPr lang="en-IN" sz="1400" dirty="0">
                <a:latin typeface="Arial" panose="020B0604020202020204" pitchFamily="34" charset="0"/>
                <a:cs typeface="Arial" panose="020B0604020202020204" pitchFamily="34" charset="0"/>
              </a:rPr>
              <a:t>MCP endpoint URL</a:t>
            </a:r>
          </a:p>
          <a:p>
            <a:pPr marL="742950" lvl="1" indent="-285750">
              <a:buFont typeface="Arial" panose="020B0604020202020204" pitchFamily="34" charset="0"/>
              <a:buChar char="•"/>
            </a:pPr>
            <a:r>
              <a:rPr lang="en-IN" sz="1400" dirty="0" err="1">
                <a:latin typeface="Arial" panose="020B0604020202020204" pitchFamily="34" charset="0"/>
                <a:cs typeface="Arial" panose="020B0604020202020204" pitchFamily="34" charset="0"/>
              </a:rPr>
              <a:t>Auth</a:t>
            </a:r>
            <a:r>
              <a:rPr lang="en-IN" sz="1400" dirty="0">
                <a:latin typeface="Arial" panose="020B0604020202020204" pitchFamily="34" charset="0"/>
                <a:cs typeface="Arial" panose="020B0604020202020204" pitchFamily="34" charset="0"/>
              </a:rPr>
              <a:t> headers (Bearer token if required</a:t>
            </a:r>
            <a:r>
              <a:rPr lang="en-IN" sz="1400" dirty="0" smtClean="0">
                <a:latin typeface="Arial" panose="020B0604020202020204" pitchFamily="34" charset="0"/>
                <a:cs typeface="Arial" panose="020B0604020202020204" pitchFamily="34" charset="0"/>
              </a:rPr>
              <a:t>)</a:t>
            </a:r>
          </a:p>
          <a:p>
            <a:pPr marL="742950" lvl="1" indent="-285750">
              <a:buFont typeface="Arial" panose="020B0604020202020204" pitchFamily="34" charset="0"/>
              <a:buChar char="•"/>
            </a:pPr>
            <a:endParaRPr lang="en-IN" sz="1400" dirty="0">
              <a:latin typeface="Arial" panose="020B0604020202020204" pitchFamily="34" charset="0"/>
              <a:cs typeface="Arial" panose="020B0604020202020204" pitchFamily="34" charset="0"/>
            </a:endParaRPr>
          </a:p>
          <a:p>
            <a:pPr lvl="1"/>
            <a:r>
              <a:rPr lang="en-IN" sz="1400" dirty="0">
                <a:latin typeface="Arial" panose="020B0604020202020204" pitchFamily="34" charset="0"/>
                <a:cs typeface="Arial" panose="020B0604020202020204" pitchFamily="34" charset="0"/>
              </a:rPr>
              <a:t>SERVERS = {</a:t>
            </a:r>
          </a:p>
          <a:p>
            <a:pPr lvl="1"/>
            <a:r>
              <a:rPr lang="en-IN" sz="1400" dirty="0">
                <a:latin typeface="Arial" panose="020B0604020202020204" pitchFamily="34" charset="0"/>
                <a:cs typeface="Arial" panose="020B0604020202020204" pitchFamily="34" charset="0"/>
              </a:rPr>
              <a:t>  "</a:t>
            </a:r>
            <a:r>
              <a:rPr lang="en-IN" sz="1400" dirty="0" err="1" smtClean="0">
                <a:latin typeface="Arial" panose="020B0604020202020204" pitchFamily="34" charset="0"/>
                <a:cs typeface="Arial" panose="020B0604020202020204" pitchFamily="34" charset="0"/>
              </a:rPr>
              <a:t>expense_remote</a:t>
            </a:r>
            <a:r>
              <a:rPr lang="en-IN" sz="1400" dirty="0" smtClean="0">
                <a:latin typeface="Arial" panose="020B0604020202020204" pitchFamily="34" charset="0"/>
                <a:cs typeface="Arial" panose="020B0604020202020204" pitchFamily="34" charset="0"/>
              </a:rPr>
              <a:t>": </a:t>
            </a:r>
            <a:r>
              <a:rPr lang="en-IN" sz="1400" dirty="0">
                <a:latin typeface="Arial" panose="020B0604020202020204" pitchFamily="34" charset="0"/>
                <a:cs typeface="Arial" panose="020B0604020202020204" pitchFamily="34" charset="0"/>
              </a:rPr>
              <a:t>{</a:t>
            </a:r>
          </a:p>
          <a:p>
            <a:pPr lvl="1"/>
            <a:r>
              <a:rPr lang="en-IN" sz="1400" dirty="0">
                <a:latin typeface="Arial" panose="020B0604020202020204" pitchFamily="34" charset="0"/>
                <a:cs typeface="Arial" panose="020B0604020202020204" pitchFamily="34" charset="0"/>
              </a:rPr>
              <a:t>    "transport": "</a:t>
            </a:r>
            <a:r>
              <a:rPr lang="en-IN" sz="1400" dirty="0" err="1">
                <a:latin typeface="Arial" panose="020B0604020202020204" pitchFamily="34" charset="0"/>
                <a:cs typeface="Arial" panose="020B0604020202020204" pitchFamily="34" charset="0"/>
              </a:rPr>
              <a:t>streamable_http</a:t>
            </a:r>
            <a:r>
              <a:rPr lang="en-IN" sz="1400" dirty="0">
                <a:latin typeface="Arial" panose="020B0604020202020204" pitchFamily="34" charset="0"/>
                <a:cs typeface="Arial" panose="020B0604020202020204" pitchFamily="34" charset="0"/>
              </a:rPr>
              <a:t>",</a:t>
            </a:r>
          </a:p>
          <a:p>
            <a:pPr lvl="1"/>
            <a:r>
              <a:rPr lang="en-IN" sz="1400" dirty="0">
                <a:latin typeface="Arial" panose="020B0604020202020204" pitchFamily="34" charset="0"/>
                <a:cs typeface="Arial" panose="020B0604020202020204" pitchFamily="34" charset="0"/>
              </a:rPr>
              <a:t>    "</a:t>
            </a:r>
            <a:r>
              <a:rPr lang="en-IN" sz="1400" dirty="0" err="1">
                <a:latin typeface="Arial" panose="020B0604020202020204" pitchFamily="34" charset="0"/>
                <a:cs typeface="Arial" panose="020B0604020202020204" pitchFamily="34" charset="0"/>
              </a:rPr>
              <a:t>url</a:t>
            </a:r>
            <a:r>
              <a:rPr lang="en-IN" sz="1400" dirty="0">
                <a:latin typeface="Arial" panose="020B0604020202020204" pitchFamily="34" charset="0"/>
                <a:cs typeface="Arial" panose="020B0604020202020204" pitchFamily="34" charset="0"/>
              </a:rPr>
              <a:t>": "&lt;</a:t>
            </a:r>
            <a:r>
              <a:rPr lang="en-IN" sz="1400" dirty="0" err="1">
                <a:latin typeface="Arial" panose="020B0604020202020204" pitchFamily="34" charset="0"/>
                <a:cs typeface="Arial" panose="020B0604020202020204" pitchFamily="34" charset="0"/>
              </a:rPr>
              <a:t>mcp_url</a:t>
            </a:r>
            <a:r>
              <a:rPr lang="en-IN" sz="1400" dirty="0" smtClean="0">
                <a:latin typeface="Arial" panose="020B0604020202020204" pitchFamily="34" charset="0"/>
                <a:cs typeface="Arial" panose="020B0604020202020204" pitchFamily="34" charset="0"/>
              </a:rPr>
              <a:t>&gt;",  #use deployed </a:t>
            </a:r>
            <a:r>
              <a:rPr lang="en-IN" sz="1400" dirty="0" err="1" smtClean="0">
                <a:latin typeface="Arial" panose="020B0604020202020204" pitchFamily="34" charset="0"/>
                <a:cs typeface="Arial" panose="020B0604020202020204" pitchFamily="34" charset="0"/>
              </a:rPr>
              <a:t>mcp</a:t>
            </a:r>
            <a:r>
              <a:rPr lang="en-IN" sz="1400" dirty="0" smtClean="0">
                <a:latin typeface="Arial" panose="020B0604020202020204" pitchFamily="34" charset="0"/>
                <a:cs typeface="Arial" panose="020B0604020202020204" pitchFamily="34" charset="0"/>
              </a:rPr>
              <a:t> server in </a:t>
            </a:r>
            <a:r>
              <a:rPr lang="en-IN" sz="1400" dirty="0" err="1" smtClean="0">
                <a:latin typeface="Arial" panose="020B0604020202020204" pitchFamily="34" charset="0"/>
                <a:cs typeface="Arial" panose="020B0604020202020204" pitchFamily="34" charset="0"/>
              </a:rPr>
              <a:t>fastmcp</a:t>
            </a:r>
            <a:r>
              <a:rPr lang="en-IN" sz="1400" dirty="0" smtClean="0">
                <a:latin typeface="Arial" panose="020B0604020202020204" pitchFamily="34" charset="0"/>
                <a:cs typeface="Arial" panose="020B0604020202020204" pitchFamily="34" charset="0"/>
              </a:rPr>
              <a:t> cloud</a:t>
            </a:r>
            <a:endParaRPr lang="en-IN" sz="1400" dirty="0">
              <a:latin typeface="Arial" panose="020B0604020202020204" pitchFamily="34" charset="0"/>
              <a:cs typeface="Arial" panose="020B0604020202020204" pitchFamily="34" charset="0"/>
            </a:endParaRPr>
          </a:p>
          <a:p>
            <a:pPr lvl="1"/>
            <a:r>
              <a:rPr lang="en-IN" sz="1400" dirty="0">
                <a:latin typeface="Arial" panose="020B0604020202020204" pitchFamily="34" charset="0"/>
                <a:cs typeface="Arial" panose="020B0604020202020204" pitchFamily="34" charset="0"/>
              </a:rPr>
              <a:t>    "headers": {"Authorization": "Bearer &lt;token&gt;"}</a:t>
            </a:r>
          </a:p>
          <a:p>
            <a:pPr lvl="1"/>
            <a:r>
              <a:rPr lang="en-IN" sz="1400" dirty="0">
                <a:latin typeface="Arial" panose="020B0604020202020204" pitchFamily="34" charset="0"/>
                <a:cs typeface="Arial" panose="020B0604020202020204" pitchFamily="34" charset="0"/>
              </a:rPr>
              <a:t>  }</a:t>
            </a:r>
          </a:p>
          <a:p>
            <a:pPr lvl="1"/>
            <a:r>
              <a:rPr lang="en-IN" sz="1400" dirty="0">
                <a:latin typeface="Arial" panose="020B0604020202020204" pitchFamily="34" charset="0"/>
                <a:cs typeface="Arial" panose="020B0604020202020204" pitchFamily="34" charset="0"/>
              </a:rPr>
              <a:t>}</a:t>
            </a:r>
          </a:p>
          <a:p>
            <a:pPr marL="742950" lvl="1" indent="-285750">
              <a:buFont typeface="Arial" panose="020B0604020202020204" pitchFamily="34" charset="0"/>
              <a:buChar char="•"/>
            </a:pPr>
            <a:endParaRPr lang="en-IN" sz="1400" dirty="0">
              <a:latin typeface="Arial" panose="020B0604020202020204" pitchFamily="34" charset="0"/>
              <a:cs typeface="Arial" panose="020B0604020202020204" pitchFamily="34" charset="0"/>
            </a:endParaRPr>
          </a:p>
        </p:txBody>
      </p:sp>
      <p:sp>
        <p:nvSpPr>
          <p:cNvPr id="8" name="Rectangle 2"/>
          <p:cNvSpPr>
            <a:spLocks noChangeArrowheads="1"/>
          </p:cNvSpPr>
          <p:nvPr/>
        </p:nvSpPr>
        <p:spPr bwMode="auto">
          <a:xfrm>
            <a:off x="1931013" y="5801288"/>
            <a:ext cx="4841629"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Transport types: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smtClean="0">
                <a:ln>
                  <a:noFill/>
                </a:ln>
                <a:solidFill>
                  <a:schemeClr val="tx1"/>
                </a:solidFill>
                <a:effectLst/>
                <a:latin typeface="Arial" panose="020B0604020202020204" pitchFamily="34" charset="0"/>
                <a:cs typeface="Arial" panose="020B0604020202020204" pitchFamily="34" charset="0"/>
              </a:rPr>
              <a:t>stdio</a:t>
            </a:r>
            <a:endPar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smtClean="0">
                <a:ln>
                  <a:noFill/>
                </a:ln>
                <a:solidFill>
                  <a:schemeClr val="tx1"/>
                </a:solidFill>
                <a:effectLst/>
                <a:latin typeface="Arial" panose="020B0604020202020204" pitchFamily="34" charset="0"/>
                <a:cs typeface="Arial" panose="020B0604020202020204" pitchFamily="34" charset="0"/>
              </a:rPr>
              <a:t>sse</a:t>
            </a:r>
            <a:endPar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smtClean="0">
                <a:ln>
                  <a:noFill/>
                </a:ln>
                <a:solidFill>
                  <a:schemeClr val="tx1"/>
                </a:solidFill>
                <a:effectLst/>
                <a:latin typeface="Arial" panose="020B0604020202020204" pitchFamily="34" charset="0"/>
                <a:cs typeface="Arial" panose="020B0604020202020204" pitchFamily="34" charset="0"/>
              </a:rPr>
              <a:t>streamable_http</a:t>
            </a:r>
            <a:r>
              <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(most common for remote servers)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sp>
        <p:nvSpPr>
          <p:cNvPr id="9" name="Rectangle 8"/>
          <p:cNvSpPr/>
          <p:nvPr/>
        </p:nvSpPr>
        <p:spPr>
          <a:xfrm>
            <a:off x="6365492" y="1540180"/>
            <a:ext cx="5640042" cy="307777"/>
          </a:xfrm>
          <a:prstGeom prst="rect">
            <a:avLst/>
          </a:prstGeom>
        </p:spPr>
        <p:txBody>
          <a:bodyPr wrap="square">
            <a:spAutoFit/>
          </a:bodyPr>
          <a:lstStyle/>
          <a:p>
            <a:r>
              <a:rPr lang="en-IN" sz="1400" dirty="0">
                <a:solidFill>
                  <a:srgbClr val="00B0F0"/>
                </a:solidFill>
                <a:latin typeface="Arial" panose="020B0604020202020204" pitchFamily="34" charset="0"/>
                <a:cs typeface="Arial" panose="020B0604020202020204" pitchFamily="34" charset="0"/>
              </a:rPr>
              <a:t>User → LLM → MCP Tool → Tool Result → LLM → Final Answer</a:t>
            </a:r>
          </a:p>
        </p:txBody>
      </p:sp>
      <p:sp>
        <p:nvSpPr>
          <p:cNvPr id="6" name="Rectangle 1"/>
          <p:cNvSpPr>
            <a:spLocks noChangeArrowheads="1"/>
          </p:cNvSpPr>
          <p:nvPr/>
        </p:nvSpPr>
        <p:spPr bwMode="auto">
          <a:xfrm>
            <a:off x="6494584" y="2110323"/>
            <a:ext cx="5276914"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err="1" smtClean="0">
                <a:ln>
                  <a:noFill/>
                </a:ln>
                <a:solidFill>
                  <a:schemeClr val="tx1"/>
                </a:solidFill>
                <a:effectLst/>
                <a:latin typeface="Arial" panose="020B0604020202020204" pitchFamily="34" charset="0"/>
                <a:cs typeface="Arial" panose="020B0604020202020204" pitchFamily="34" charset="0"/>
              </a:rPr>
              <a:t>MultiServerMCPClient</a:t>
            </a:r>
            <a:r>
              <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connects to the </a:t>
            </a:r>
            <a:r>
              <a:rPr kumimoji="0" lang="en-US" altLang="en-US" sz="1400" b="1"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remote server URL</a:t>
            </a:r>
            <a:r>
              <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err="1" smtClean="0">
                <a:ln>
                  <a:noFill/>
                </a:ln>
                <a:solidFill>
                  <a:schemeClr val="tx1"/>
                </a:solidFill>
                <a:effectLst/>
                <a:latin typeface="Arial" panose="020B0604020202020204" pitchFamily="34" charset="0"/>
                <a:cs typeface="Arial" panose="020B0604020202020204" pitchFamily="34" charset="0"/>
              </a:rPr>
              <a:t>get_tools</a:t>
            </a:r>
            <a:r>
              <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fetches the available tools from the remote server.</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400" b="0" i="0" u="none" strike="noStrike" cap="none" normalizeH="0" baseline="0" dirty="0" err="1" smtClean="0">
                <a:ln>
                  <a:noFill/>
                </a:ln>
                <a:solidFill>
                  <a:srgbClr val="FF0000"/>
                </a:solidFill>
                <a:effectLst/>
                <a:latin typeface="Arial" panose="020B0604020202020204" pitchFamily="34" charset="0"/>
                <a:cs typeface="Arial" panose="020B0604020202020204" pitchFamily="34" charset="0"/>
              </a:rPr>
              <a:t>ainvoke</a:t>
            </a:r>
            <a:r>
              <a:rPr kumimoji="0" lang="en-US" alt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sends a tool call over HTTP and waits for the response.</a:t>
            </a:r>
          </a:p>
        </p:txBody>
      </p:sp>
      <p:sp>
        <p:nvSpPr>
          <p:cNvPr id="10" name="Rectangle 9"/>
          <p:cNvSpPr/>
          <p:nvPr/>
        </p:nvSpPr>
        <p:spPr>
          <a:xfrm>
            <a:off x="6863379" y="3526277"/>
            <a:ext cx="5034579" cy="2893100"/>
          </a:xfrm>
          <a:prstGeom prst="rect">
            <a:avLst/>
          </a:prstGeom>
        </p:spPr>
        <p:txBody>
          <a:bodyPr wrap="square">
            <a:spAutoFit/>
          </a:bodyPr>
          <a:lstStyle/>
          <a:p>
            <a:r>
              <a:rPr lang="en-IN" sz="1400" dirty="0">
                <a:latin typeface="Arial" panose="020B0604020202020204" pitchFamily="34" charset="0"/>
                <a:cs typeface="Arial" panose="020B0604020202020204" pitchFamily="34" charset="0"/>
              </a:rPr>
              <a:t>SERVERS = {</a:t>
            </a:r>
          </a:p>
          <a:p>
            <a:r>
              <a:rPr lang="en-IN" sz="1400" dirty="0">
                <a:latin typeface="Arial" panose="020B0604020202020204" pitchFamily="34" charset="0"/>
                <a:cs typeface="Arial" panose="020B0604020202020204" pitchFamily="34" charset="0"/>
              </a:rPr>
              <a:t>    "</a:t>
            </a:r>
            <a:r>
              <a:rPr lang="en-IN" sz="1400" dirty="0" err="1">
                <a:latin typeface="Arial" panose="020B0604020202020204" pitchFamily="34" charset="0"/>
                <a:cs typeface="Arial" panose="020B0604020202020204" pitchFamily="34" charset="0"/>
              </a:rPr>
              <a:t>expense_local</a:t>
            </a:r>
            <a:r>
              <a:rPr lang="en-IN" sz="1400" dirty="0">
                <a:latin typeface="Arial" panose="020B0604020202020204" pitchFamily="34" charset="0"/>
                <a:cs typeface="Arial" panose="020B0604020202020204" pitchFamily="34" charset="0"/>
              </a:rPr>
              <a:t>": {</a:t>
            </a:r>
          </a:p>
          <a:p>
            <a:r>
              <a:rPr lang="en-IN" sz="1400" dirty="0">
                <a:latin typeface="Arial" panose="020B0604020202020204" pitchFamily="34" charset="0"/>
                <a:cs typeface="Arial" panose="020B0604020202020204" pitchFamily="34" charset="0"/>
              </a:rPr>
              <a:t>        "transport": "</a:t>
            </a:r>
            <a:r>
              <a:rPr lang="en-IN" sz="1400" dirty="0" err="1">
                <a:latin typeface="Arial" panose="020B0604020202020204" pitchFamily="34" charset="0"/>
                <a:cs typeface="Arial" panose="020B0604020202020204" pitchFamily="34" charset="0"/>
              </a:rPr>
              <a:t>streamable_http</a:t>
            </a:r>
            <a:r>
              <a:rPr lang="en-IN" sz="1400" dirty="0">
                <a:latin typeface="Arial" panose="020B0604020202020204" pitchFamily="34" charset="0"/>
                <a:cs typeface="Arial" panose="020B0604020202020204" pitchFamily="34" charset="0"/>
              </a:rPr>
              <a:t>",</a:t>
            </a:r>
          </a:p>
          <a:p>
            <a:r>
              <a:rPr lang="en-IN" sz="1400" dirty="0">
                <a:latin typeface="Arial" panose="020B0604020202020204" pitchFamily="34" charset="0"/>
                <a:cs typeface="Arial" panose="020B0604020202020204" pitchFamily="34" charset="0"/>
              </a:rPr>
              <a:t>        "</a:t>
            </a:r>
            <a:r>
              <a:rPr lang="en-IN" sz="1400" dirty="0" err="1">
                <a:latin typeface="Arial" panose="020B0604020202020204" pitchFamily="34" charset="0"/>
                <a:cs typeface="Arial" panose="020B0604020202020204" pitchFamily="34" charset="0"/>
              </a:rPr>
              <a:t>url</a:t>
            </a:r>
            <a:r>
              <a:rPr lang="en-IN" sz="1400" dirty="0">
                <a:latin typeface="Arial" panose="020B0604020202020204" pitchFamily="34" charset="0"/>
                <a:cs typeface="Arial" panose="020B0604020202020204" pitchFamily="34" charset="0"/>
              </a:rPr>
              <a:t>": "http://localhost:8000/</a:t>
            </a:r>
            <a:r>
              <a:rPr lang="en-IN" sz="1400" dirty="0" err="1">
                <a:latin typeface="Arial" panose="020B0604020202020204" pitchFamily="34" charset="0"/>
                <a:cs typeface="Arial" panose="020B0604020202020204" pitchFamily="34" charset="0"/>
              </a:rPr>
              <a:t>mcp</a:t>
            </a:r>
            <a:r>
              <a:rPr lang="en-IN" sz="1400" dirty="0">
                <a:latin typeface="Arial" panose="020B0604020202020204" pitchFamily="34" charset="0"/>
                <a:cs typeface="Arial" panose="020B0604020202020204" pitchFamily="34" charset="0"/>
              </a:rPr>
              <a:t>",</a:t>
            </a:r>
          </a:p>
          <a:p>
            <a:r>
              <a:rPr lang="en-IN" sz="1400" dirty="0">
                <a:latin typeface="Arial" panose="020B0604020202020204" pitchFamily="34" charset="0"/>
                <a:cs typeface="Arial" panose="020B0604020202020204" pitchFamily="34" charset="0"/>
              </a:rPr>
              <a:t>        "headers": {}</a:t>
            </a:r>
          </a:p>
          <a:p>
            <a:r>
              <a:rPr lang="en-IN" sz="1400" dirty="0">
                <a:latin typeface="Arial" panose="020B0604020202020204" pitchFamily="34" charset="0"/>
                <a:cs typeface="Arial" panose="020B0604020202020204" pitchFamily="34" charset="0"/>
              </a:rPr>
              <a:t>    }</a:t>
            </a:r>
          </a:p>
          <a:p>
            <a:r>
              <a:rPr lang="en-IN" sz="1400" dirty="0" smtClean="0">
                <a:latin typeface="Arial" panose="020B0604020202020204" pitchFamily="34" charset="0"/>
                <a:cs typeface="Arial" panose="020B0604020202020204" pitchFamily="34" charset="0"/>
              </a:rPr>
              <a:t>}</a:t>
            </a:r>
          </a:p>
          <a:p>
            <a:endParaRPr lang="en-IN" sz="1400" dirty="0">
              <a:latin typeface="Arial" panose="020B0604020202020204" pitchFamily="34" charset="0"/>
              <a:cs typeface="Arial" panose="020B0604020202020204" pitchFamily="34" charset="0"/>
            </a:endParaRPr>
          </a:p>
          <a:p>
            <a:r>
              <a:rPr lang="en-IN" sz="1400" dirty="0" smtClean="0">
                <a:latin typeface="Arial" panose="020B0604020202020204" pitchFamily="34" charset="0"/>
                <a:cs typeface="Arial" panose="020B0604020202020204" pitchFamily="34" charset="0"/>
              </a:rPr>
              <a:t>If you want to use </a:t>
            </a:r>
            <a:r>
              <a:rPr lang="en-IN" sz="1400" dirty="0" err="1" smtClean="0">
                <a:latin typeface="Arial" panose="020B0604020202020204" pitchFamily="34" charset="0"/>
                <a:cs typeface="Arial" panose="020B0604020202020204" pitchFamily="34" charset="0"/>
              </a:rPr>
              <a:t>MultiServerMCPClient</a:t>
            </a:r>
            <a:r>
              <a:rPr lang="en-IN" sz="1400" dirty="0" smtClean="0">
                <a:latin typeface="Arial" panose="020B0604020202020204" pitchFamily="34" charset="0"/>
                <a:cs typeface="Arial" panose="020B0604020202020204" pitchFamily="34" charset="0"/>
              </a:rPr>
              <a:t> for local server then use transport as </a:t>
            </a:r>
            <a:r>
              <a:rPr lang="en-IN" sz="1400" dirty="0" err="1" smtClean="0">
                <a:latin typeface="Arial" panose="020B0604020202020204" pitchFamily="34" charset="0"/>
                <a:cs typeface="Arial" panose="020B0604020202020204" pitchFamily="34" charset="0"/>
              </a:rPr>
              <a:t>streamable_http</a:t>
            </a:r>
            <a:r>
              <a:rPr lang="en-IN" sz="1400" dirty="0" smtClean="0">
                <a:latin typeface="Arial" panose="020B0604020202020204" pitchFamily="34" charset="0"/>
                <a:cs typeface="Arial" panose="020B0604020202020204" pitchFamily="34" charset="0"/>
              </a:rPr>
              <a:t>.</a:t>
            </a:r>
          </a:p>
          <a:p>
            <a:endParaRPr lang="en-IN" sz="1400" dirty="0">
              <a:latin typeface="Arial" panose="020B0604020202020204" pitchFamily="34" charset="0"/>
              <a:cs typeface="Arial" panose="020B0604020202020204" pitchFamily="34" charset="0"/>
            </a:endParaRPr>
          </a:p>
          <a:p>
            <a:r>
              <a:rPr lang="en-IN" sz="1400" dirty="0" smtClean="0">
                <a:latin typeface="Arial" panose="020B0604020202020204" pitchFamily="34" charset="0"/>
                <a:cs typeface="Arial" panose="020B0604020202020204" pitchFamily="34" charset="0"/>
              </a:rPr>
              <a:t>If you want to consume transport = </a:t>
            </a:r>
            <a:r>
              <a:rPr lang="en-IN" sz="1400" dirty="0" err="1" smtClean="0">
                <a:latin typeface="Arial" panose="020B0604020202020204" pitchFamily="34" charset="0"/>
                <a:cs typeface="Arial" panose="020B0604020202020204" pitchFamily="34" charset="0"/>
              </a:rPr>
              <a:t>stdio</a:t>
            </a:r>
            <a:r>
              <a:rPr lang="en-IN" sz="1400" dirty="0" smtClean="0">
                <a:latin typeface="Arial" panose="020B0604020202020204" pitchFamily="34" charset="0"/>
                <a:cs typeface="Arial" panose="020B0604020202020204" pitchFamily="34" charset="0"/>
              </a:rPr>
              <a:t> then you should use </a:t>
            </a:r>
            <a:r>
              <a:rPr lang="en-IN" sz="1400" dirty="0" err="1" smtClean="0">
                <a:latin typeface="Arial" panose="020B0604020202020204" pitchFamily="34" charset="0"/>
                <a:cs typeface="Arial" panose="020B0604020202020204" pitchFamily="34" charset="0"/>
              </a:rPr>
              <a:t>MCPStudioClient</a:t>
            </a:r>
            <a:r>
              <a:rPr lang="en-IN" sz="1400" dirty="0" smtClean="0">
                <a:latin typeface="Arial" panose="020B0604020202020204" pitchFamily="34" charset="0"/>
                <a:cs typeface="Arial" panose="020B0604020202020204" pitchFamily="34" charset="0"/>
              </a:rPr>
              <a:t>.</a:t>
            </a:r>
            <a:endParaRPr lang="en-IN"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4804991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F8672-BCCD-358E-1B1C-899E93B0C6D9}"/>
              </a:ext>
            </a:extLst>
          </p:cNvPr>
          <p:cNvSpPr>
            <a:spLocks noGrp="1"/>
          </p:cNvSpPr>
          <p:nvPr>
            <p:ph type="title"/>
          </p:nvPr>
        </p:nvSpPr>
        <p:spPr>
          <a:xfrm>
            <a:off x="395654" y="158194"/>
            <a:ext cx="11078308" cy="595418"/>
          </a:xfrm>
        </p:spPr>
        <p:txBody>
          <a:bodyPr>
            <a:noAutofit/>
          </a:bodyPr>
          <a:lstStyle/>
          <a:p>
            <a:pPr algn="ctr" fontAlgn="base"/>
            <a:r>
              <a:rPr lang="en-US" altLang="en-US" sz="3200" b="1" dirty="0" err="1" smtClean="0">
                <a:latin typeface="Arial" panose="020B0604020202020204" pitchFamily="34" charset="0"/>
                <a:cs typeface="Arial" panose="020B0604020202020204" pitchFamily="34" charset="0"/>
              </a:rPr>
              <a:t>MultiServerMCPClient</a:t>
            </a:r>
            <a:r>
              <a:rPr lang="en-US" altLang="en-US" sz="3200" b="1" dirty="0" smtClean="0">
                <a:latin typeface="Arial" panose="020B0604020202020204" pitchFamily="34" charset="0"/>
                <a:cs typeface="Arial" panose="020B0604020202020204" pitchFamily="34" charset="0"/>
              </a:rPr>
              <a:t> Vs </a:t>
            </a:r>
            <a:r>
              <a:rPr lang="en-US" altLang="en-US" sz="3200" b="1" dirty="0" err="1">
                <a:latin typeface="Arial" panose="020B0604020202020204" pitchFamily="34" charset="0"/>
                <a:cs typeface="Arial" panose="020B0604020202020204" pitchFamily="34" charset="0"/>
              </a:rPr>
              <a:t>MCPStdioClient</a:t>
            </a:r>
            <a:endParaRPr lang="en-IN" sz="3200" b="1" dirty="0">
              <a:latin typeface="Arial" panose="020B0604020202020204" pitchFamily="34" charset="0"/>
              <a:cs typeface="Arial" panose="020B0604020202020204" pitchFamily="34" charset="0"/>
            </a:endParaRPr>
          </a:p>
        </p:txBody>
      </p:sp>
      <p:sp>
        <p:nvSpPr>
          <p:cNvPr id="5" name="Subtitle 2">
            <a:extLst>
              <a:ext uri="{FF2B5EF4-FFF2-40B4-BE49-F238E27FC236}">
                <a16:creationId xmlns:a16="http://schemas.microsoft.com/office/drawing/2014/main" id="{C611B996-6893-C9B0-E3A0-CA5FBBA2E16F}"/>
              </a:ext>
            </a:extLst>
          </p:cNvPr>
          <p:cNvSpPr txBox="1">
            <a:spLocks/>
          </p:cNvSpPr>
          <p:nvPr/>
        </p:nvSpPr>
        <p:spPr>
          <a:xfrm>
            <a:off x="699135" y="753612"/>
            <a:ext cx="10911840" cy="7132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fontAlgn="base"/>
            <a:endParaRPr lang="en-IN" sz="1400" b="1" dirty="0">
              <a:latin typeface="Arial" panose="020B0604020202020204" pitchFamily="34" charset="0"/>
              <a:cs typeface="Arial" panose="020B0604020202020204" pitchFamily="34" charset="0"/>
            </a:endParaRPr>
          </a:p>
        </p:txBody>
      </p:sp>
      <p:sp>
        <p:nvSpPr>
          <p:cNvPr id="4"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7"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1"/>
          <p:cNvSpPr>
            <a:spLocks noChangeArrowheads="1"/>
          </p:cNvSpPr>
          <p:nvPr/>
        </p:nvSpPr>
        <p:spPr bwMode="auto">
          <a:xfrm>
            <a:off x="395654" y="1136070"/>
            <a:ext cx="5269535"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When to use </a:t>
            </a:r>
            <a:r>
              <a:rPr kumimoji="0" lang="en-US" altLang="en-US" sz="1400" b="1" u="none" strike="noStrike" cap="none" normalizeH="0" baseline="0" dirty="0" err="1" smtClean="0">
                <a:ln>
                  <a:noFill/>
                </a:ln>
                <a:solidFill>
                  <a:schemeClr val="tx1"/>
                </a:solidFill>
                <a:effectLst/>
                <a:latin typeface="Arial" panose="020B0604020202020204" pitchFamily="34" charset="0"/>
                <a:cs typeface="Arial" panose="020B0604020202020204" pitchFamily="34" charset="0"/>
              </a:rPr>
              <a:t>MultiServerMCPClient</a:t>
            </a:r>
            <a:endParaRPr kumimoji="0" lang="en-US" altLang="en-US" sz="1400" b="1"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400" b="1"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285750" indent="-285750" eaLnBrk="0" fontAlgn="base" hangingPunct="0">
              <a:spcBef>
                <a:spcPct val="0"/>
              </a:spcBef>
              <a:spcAft>
                <a:spcPct val="0"/>
              </a:spcAft>
              <a:buFont typeface="Arial" panose="020B0604020202020204" pitchFamily="34" charset="0"/>
              <a:buChar char="•"/>
            </a:pPr>
            <a:r>
              <a:rPr kumimoji="0" lang="en-US" altLang="en-US" sz="1400" b="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Use it </a:t>
            </a:r>
            <a:r>
              <a:rPr kumimoji="0" lang="en-US" altLang="en-US" sz="1400" b="1"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when connecting to MCP servers over a network</a:t>
            </a:r>
            <a:r>
              <a:rPr kumimoji="0" lang="en-US" altLang="en-US" sz="1400" b="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(HTTP, </a:t>
            </a:r>
            <a:r>
              <a:rPr kumimoji="0" lang="en-US" altLang="en-US" sz="1400" b="0" u="none" strike="noStrike" cap="none" normalizeH="0" baseline="0" dirty="0" err="1" smtClean="0">
                <a:ln>
                  <a:noFill/>
                </a:ln>
                <a:solidFill>
                  <a:schemeClr val="tx1"/>
                </a:solidFill>
                <a:effectLst/>
                <a:latin typeface="Arial" panose="020B0604020202020204" pitchFamily="34" charset="0"/>
                <a:cs typeface="Arial" panose="020B0604020202020204" pitchFamily="34" charset="0"/>
              </a:rPr>
              <a:t>WebSocket</a:t>
            </a:r>
            <a:r>
              <a:rPr kumimoji="0" lang="en-US" altLang="en-US" sz="1400" b="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TCP).</a:t>
            </a:r>
          </a:p>
          <a:p>
            <a:pPr marL="285750" indent="-285750" eaLnBrk="0" fontAlgn="base" hangingPunct="0">
              <a:spcBef>
                <a:spcPct val="0"/>
              </a:spcBef>
              <a:spcAft>
                <a:spcPct val="0"/>
              </a:spcAft>
              <a:buFont typeface="Arial" panose="020B0604020202020204" pitchFamily="34" charset="0"/>
              <a:buChar char="•"/>
            </a:pPr>
            <a:r>
              <a:rPr kumimoji="0" lang="en-US" altLang="en-US" sz="1400" b="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Example:</a:t>
            </a:r>
          </a:p>
          <a:p>
            <a:pPr lvl="0" eaLnBrk="0" fontAlgn="base" hangingPunct="0">
              <a:spcBef>
                <a:spcPct val="0"/>
              </a:spcBef>
              <a:spcAft>
                <a:spcPct val="0"/>
              </a:spcAft>
            </a:pPr>
            <a:r>
              <a:rPr lang="en-US" altLang="en-US" sz="1400" dirty="0" smtClean="0">
                <a:latin typeface="Arial" panose="020B0604020202020204" pitchFamily="34" charset="0"/>
                <a:cs typeface="Arial" panose="020B0604020202020204" pitchFamily="34" charset="0"/>
              </a:rPr>
              <a:t>	SERVERS </a:t>
            </a:r>
            <a:r>
              <a:rPr lang="en-US" altLang="en-US" sz="1400" dirty="0">
                <a:latin typeface="Arial" panose="020B0604020202020204" pitchFamily="34" charset="0"/>
                <a:cs typeface="Arial" panose="020B0604020202020204" pitchFamily="34" charset="0"/>
              </a:rPr>
              <a:t>= {</a:t>
            </a:r>
          </a:p>
          <a:p>
            <a:pPr lvl="4" eaLnBrk="0" fontAlgn="base" hangingPunct="0">
              <a:spcBef>
                <a:spcPct val="0"/>
              </a:spcBef>
              <a:spcAft>
                <a:spcPct val="0"/>
              </a:spcAft>
            </a:pPr>
            <a:r>
              <a:rPr lang="en-US" altLang="en-US" sz="1400" dirty="0">
                <a:latin typeface="Arial" panose="020B0604020202020204" pitchFamily="34" charset="0"/>
                <a:cs typeface="Arial" panose="020B0604020202020204" pitchFamily="34" charset="0"/>
              </a:rPr>
              <a:t>    "remote": {</a:t>
            </a:r>
          </a:p>
          <a:p>
            <a:pPr lvl="4" eaLnBrk="0" fontAlgn="base" hangingPunct="0">
              <a:spcBef>
                <a:spcPct val="0"/>
              </a:spcBef>
              <a:spcAft>
                <a:spcPct val="0"/>
              </a:spcAft>
            </a:pPr>
            <a:r>
              <a:rPr lang="en-US" altLang="en-US" sz="1400" dirty="0">
                <a:latin typeface="Arial" panose="020B0604020202020204" pitchFamily="34" charset="0"/>
                <a:cs typeface="Arial" panose="020B0604020202020204" pitchFamily="34" charset="0"/>
              </a:rPr>
              <a:t>        "transport": "</a:t>
            </a:r>
            <a:r>
              <a:rPr lang="en-US" altLang="en-US" sz="1400" dirty="0" err="1">
                <a:latin typeface="Arial" panose="020B0604020202020204" pitchFamily="34" charset="0"/>
                <a:cs typeface="Arial" panose="020B0604020202020204" pitchFamily="34" charset="0"/>
              </a:rPr>
              <a:t>streamable_http</a:t>
            </a:r>
            <a:r>
              <a:rPr lang="en-US" altLang="en-US" sz="1400" dirty="0">
                <a:latin typeface="Arial" panose="020B0604020202020204" pitchFamily="34" charset="0"/>
                <a:cs typeface="Arial" panose="020B0604020202020204" pitchFamily="34" charset="0"/>
              </a:rPr>
              <a:t>",</a:t>
            </a:r>
          </a:p>
          <a:p>
            <a:pPr lvl="4" eaLnBrk="0" fontAlgn="base" hangingPunct="0">
              <a:spcBef>
                <a:spcPct val="0"/>
              </a:spcBef>
              <a:spcAft>
                <a:spcPct val="0"/>
              </a:spcAft>
            </a:pPr>
            <a:r>
              <a:rPr lang="en-US" altLang="en-US" sz="1400" dirty="0">
                <a:latin typeface="Arial" panose="020B0604020202020204" pitchFamily="34" charset="0"/>
                <a:cs typeface="Arial" panose="020B0604020202020204" pitchFamily="34" charset="0"/>
              </a:rPr>
              <a:t>        "</a:t>
            </a:r>
            <a:r>
              <a:rPr lang="en-US" altLang="en-US" sz="1400" dirty="0" err="1">
                <a:latin typeface="Arial" panose="020B0604020202020204" pitchFamily="34" charset="0"/>
                <a:cs typeface="Arial" panose="020B0604020202020204" pitchFamily="34" charset="0"/>
              </a:rPr>
              <a:t>url</a:t>
            </a:r>
            <a:r>
              <a:rPr lang="en-US" altLang="en-US" sz="1400" dirty="0">
                <a:latin typeface="Arial" panose="020B0604020202020204" pitchFamily="34" charset="0"/>
                <a:cs typeface="Arial" panose="020B0604020202020204" pitchFamily="34" charset="0"/>
              </a:rPr>
              <a:t>": "http://localhost:8000/</a:t>
            </a:r>
            <a:r>
              <a:rPr lang="en-US" altLang="en-US" sz="1400" dirty="0" err="1">
                <a:latin typeface="Arial" panose="020B0604020202020204" pitchFamily="34" charset="0"/>
                <a:cs typeface="Arial" panose="020B0604020202020204" pitchFamily="34" charset="0"/>
              </a:rPr>
              <a:t>mcp</a:t>
            </a:r>
            <a:r>
              <a:rPr lang="en-US" altLang="en-US" sz="1400" dirty="0">
                <a:latin typeface="Arial" panose="020B0604020202020204" pitchFamily="34" charset="0"/>
                <a:cs typeface="Arial" panose="020B0604020202020204" pitchFamily="34" charset="0"/>
              </a:rPr>
              <a:t>",</a:t>
            </a:r>
          </a:p>
          <a:p>
            <a:pPr lvl="4" eaLnBrk="0" fontAlgn="base" hangingPunct="0">
              <a:spcBef>
                <a:spcPct val="0"/>
              </a:spcBef>
              <a:spcAft>
                <a:spcPct val="0"/>
              </a:spcAft>
            </a:pPr>
            <a:r>
              <a:rPr lang="en-US" altLang="en-US" sz="1400" dirty="0">
                <a:latin typeface="Arial" panose="020B0604020202020204" pitchFamily="34" charset="0"/>
                <a:cs typeface="Arial" panose="020B0604020202020204" pitchFamily="34" charset="0"/>
              </a:rPr>
              <a:t>        "headers": {}</a:t>
            </a:r>
          </a:p>
          <a:p>
            <a:pPr lvl="4" eaLnBrk="0" fontAlgn="base" hangingPunct="0">
              <a:spcBef>
                <a:spcPct val="0"/>
              </a:spcBef>
              <a:spcAft>
                <a:spcPct val="0"/>
              </a:spcAft>
            </a:pPr>
            <a:r>
              <a:rPr lang="en-US" altLang="en-US" sz="1400" dirty="0">
                <a:latin typeface="Arial" panose="020B0604020202020204" pitchFamily="34" charset="0"/>
                <a:cs typeface="Arial" panose="020B0604020202020204" pitchFamily="34" charset="0"/>
              </a:rPr>
              <a:t>    }</a:t>
            </a:r>
          </a:p>
          <a:p>
            <a:pPr lvl="4" eaLnBrk="0" fontAlgn="base" hangingPunct="0">
              <a:spcBef>
                <a:spcPct val="0"/>
              </a:spcBef>
              <a:spcAft>
                <a:spcPct val="0"/>
              </a:spcAft>
            </a:pPr>
            <a:r>
              <a:rPr lang="en-US" altLang="en-US" sz="1400" dirty="0" smtClean="0">
                <a:latin typeface="Arial" panose="020B0604020202020204" pitchFamily="34" charset="0"/>
                <a:cs typeface="Arial" panose="020B0604020202020204" pitchFamily="34" charset="0"/>
              </a:rPr>
              <a:t>}</a:t>
            </a:r>
          </a:p>
          <a:p>
            <a:pPr lvl="2" eaLnBrk="0" fontAlgn="base" hangingPunct="0">
              <a:spcBef>
                <a:spcPct val="0"/>
              </a:spcBef>
              <a:spcAft>
                <a:spcPct val="0"/>
              </a:spcAft>
            </a:pPr>
            <a:endParaRPr lang="en-US" altLang="en-US" sz="1400" dirty="0">
              <a:latin typeface="Arial" panose="020B0604020202020204" pitchFamily="34" charset="0"/>
              <a:cs typeface="Arial" panose="020B0604020202020204" pitchFamily="34" charset="0"/>
            </a:endParaRPr>
          </a:p>
          <a:p>
            <a:pPr lvl="2" eaLnBrk="0" fontAlgn="base" hangingPunct="0">
              <a:spcBef>
                <a:spcPct val="0"/>
              </a:spcBef>
              <a:spcAft>
                <a:spcPct val="0"/>
              </a:spcAft>
            </a:pPr>
            <a:r>
              <a:rPr lang="en-US" altLang="en-US" sz="1400" dirty="0" smtClean="0">
                <a:latin typeface="Arial" panose="020B0604020202020204" pitchFamily="34" charset="0"/>
                <a:cs typeface="Arial" panose="020B0604020202020204" pitchFamily="34" charset="0"/>
              </a:rPr>
              <a:t>client </a:t>
            </a:r>
            <a:r>
              <a:rPr lang="en-US" altLang="en-US" sz="1400" dirty="0">
                <a:latin typeface="Arial" panose="020B0604020202020204" pitchFamily="34" charset="0"/>
                <a:cs typeface="Arial" panose="020B0604020202020204" pitchFamily="34" charset="0"/>
              </a:rPr>
              <a:t>= </a:t>
            </a:r>
            <a:r>
              <a:rPr lang="en-US" altLang="en-US" sz="1400" dirty="0" err="1" smtClean="0">
                <a:latin typeface="Arial" panose="020B0604020202020204" pitchFamily="34" charset="0"/>
                <a:cs typeface="Arial" panose="020B0604020202020204" pitchFamily="34" charset="0"/>
              </a:rPr>
              <a:t>MultiServerMCPClient</a:t>
            </a:r>
            <a:r>
              <a:rPr lang="en-US" altLang="en-US" sz="1400" dirty="0" smtClean="0">
                <a:latin typeface="Arial" panose="020B0604020202020204" pitchFamily="34" charset="0"/>
                <a:cs typeface="Arial" panose="020B0604020202020204" pitchFamily="34" charset="0"/>
              </a:rPr>
              <a:t>(SERVERS)</a:t>
            </a:r>
          </a:p>
          <a:p>
            <a:pPr eaLnBrk="0" fontAlgn="base" hangingPunct="0">
              <a:spcBef>
                <a:spcPct val="0"/>
              </a:spcBef>
              <a:spcAft>
                <a:spcPct val="0"/>
              </a:spcAft>
            </a:pPr>
            <a:endParaRPr lang="en-US" altLang="en-US" sz="1400" dirty="0" smtClean="0">
              <a:latin typeface="Arial" panose="020B0604020202020204" pitchFamily="34" charset="0"/>
              <a:cs typeface="Arial" panose="020B0604020202020204" pitchFamily="34" charset="0"/>
            </a:endParaRPr>
          </a:p>
          <a:p>
            <a:pPr eaLnBrk="0" fontAlgn="base" hangingPunct="0">
              <a:spcBef>
                <a:spcPct val="0"/>
              </a:spcBef>
              <a:spcAft>
                <a:spcPct val="0"/>
              </a:spcAft>
            </a:pPr>
            <a:r>
              <a:rPr lang="en-US" altLang="en-US" sz="1400" dirty="0" smtClean="0">
                <a:latin typeface="Arial" panose="020B0604020202020204" pitchFamily="34" charset="0"/>
                <a:cs typeface="Arial" panose="020B0604020202020204" pitchFamily="34" charset="0"/>
              </a:rPr>
              <a:t>Make sure you local or remote server mention transport= </a:t>
            </a:r>
            <a:r>
              <a:rPr lang="en-US" altLang="en-US" sz="1400" b="1" dirty="0">
                <a:latin typeface="Arial" panose="020B0604020202020204" pitchFamily="34" charset="0"/>
                <a:cs typeface="Arial" panose="020B0604020202020204" pitchFamily="34" charset="0"/>
              </a:rPr>
              <a:t>transport="</a:t>
            </a:r>
            <a:r>
              <a:rPr lang="en-US" altLang="en-US" sz="1400" b="1" dirty="0" err="1">
                <a:latin typeface="Arial" panose="020B0604020202020204" pitchFamily="34" charset="0"/>
                <a:cs typeface="Arial" panose="020B0604020202020204" pitchFamily="34" charset="0"/>
              </a:rPr>
              <a:t>streamable_http</a:t>
            </a:r>
            <a:r>
              <a:rPr lang="en-US" altLang="en-US" sz="1400" b="1" dirty="0">
                <a:latin typeface="Arial" panose="020B0604020202020204" pitchFamily="34" charset="0"/>
                <a:cs typeface="Arial" panose="020B0604020202020204" pitchFamily="34" charset="0"/>
              </a:rPr>
              <a:t>"</a:t>
            </a:r>
            <a:r>
              <a:rPr lang="en-US" altLang="en-US" sz="1400" dirty="0">
                <a:latin typeface="Arial" panose="020B0604020202020204" pitchFamily="34" charset="0"/>
                <a:cs typeface="Arial" panose="020B0604020202020204" pitchFamily="34" charset="0"/>
              </a:rPr>
              <a:t>. </a:t>
            </a:r>
          </a:p>
          <a:p>
            <a:pPr eaLnBrk="0" fontAlgn="base" hangingPunct="0">
              <a:spcBef>
                <a:spcPct val="0"/>
              </a:spcBef>
              <a:spcAft>
                <a:spcPct val="0"/>
              </a:spcAft>
            </a:pPr>
            <a:endParaRPr lang="en-US" altLang="en-US" sz="1400" dirty="0" smtClean="0">
              <a:latin typeface="Arial" panose="020B0604020202020204" pitchFamily="34" charset="0"/>
              <a:cs typeface="Arial" panose="020B0604020202020204" pitchFamily="34" charset="0"/>
            </a:endParaRPr>
          </a:p>
          <a:p>
            <a:pPr eaLnBrk="0" fontAlgn="base" hangingPunct="0">
              <a:spcBef>
                <a:spcPct val="0"/>
              </a:spcBef>
              <a:spcAft>
                <a:spcPct val="0"/>
              </a:spcAft>
            </a:pPr>
            <a:endParaRPr lang="en-US" altLang="en-US" sz="1400" dirty="0">
              <a:latin typeface="Arial" panose="020B0604020202020204" pitchFamily="34" charset="0"/>
              <a:cs typeface="Arial" panose="020B0604020202020204" pitchFamily="34" charset="0"/>
            </a:endParaRPr>
          </a:p>
          <a:p>
            <a:pPr eaLnBrk="0" fontAlgn="base" hangingPunct="0">
              <a:spcBef>
                <a:spcPct val="0"/>
              </a:spcBef>
              <a:spcAft>
                <a:spcPct val="0"/>
              </a:spcAft>
            </a:pPr>
            <a:endParaRPr lang="en-US" altLang="en-US" sz="1400" dirty="0">
              <a:latin typeface="Arial" panose="020B0604020202020204" pitchFamily="34" charset="0"/>
              <a:cs typeface="Arial" panose="020B0604020202020204" pitchFamily="34" charset="0"/>
            </a:endParaRPr>
          </a:p>
        </p:txBody>
      </p:sp>
      <p:sp>
        <p:nvSpPr>
          <p:cNvPr id="10" name="Rectangle 2"/>
          <p:cNvSpPr>
            <a:spLocks noChangeArrowheads="1"/>
          </p:cNvSpPr>
          <p:nvPr/>
        </p:nvSpPr>
        <p:spPr bwMode="auto">
          <a:xfrm>
            <a:off x="1011219" y="3412173"/>
            <a:ext cx="722913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1"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16" name="Rectangle 15"/>
          <p:cNvSpPr/>
          <p:nvPr/>
        </p:nvSpPr>
        <p:spPr>
          <a:xfrm>
            <a:off x="6402781" y="1099015"/>
            <a:ext cx="5511675" cy="5047536"/>
          </a:xfrm>
          <a:prstGeom prst="rect">
            <a:avLst/>
          </a:prstGeom>
        </p:spPr>
        <p:txBody>
          <a:bodyPr wrap="square">
            <a:spAutoFit/>
          </a:bodyPr>
          <a:lstStyle/>
          <a:p>
            <a:pPr lvl="0" eaLnBrk="0" fontAlgn="base" hangingPunct="0">
              <a:spcBef>
                <a:spcPct val="0"/>
              </a:spcBef>
              <a:spcAft>
                <a:spcPct val="0"/>
              </a:spcAft>
            </a:pPr>
            <a:r>
              <a:rPr lang="en-US" altLang="en-US" sz="1400" b="1" dirty="0">
                <a:latin typeface="Arial" panose="020B0604020202020204" pitchFamily="34" charset="0"/>
                <a:cs typeface="Arial" panose="020B0604020202020204" pitchFamily="34" charset="0"/>
              </a:rPr>
              <a:t>When to use </a:t>
            </a:r>
            <a:r>
              <a:rPr lang="en-US" altLang="en-US" sz="1400" b="1" dirty="0" err="1" smtClean="0">
                <a:latin typeface="Arial" panose="020B0604020202020204" pitchFamily="34" charset="0"/>
                <a:cs typeface="Arial" panose="020B0604020202020204" pitchFamily="34" charset="0"/>
              </a:rPr>
              <a:t>MCPStdioClient</a:t>
            </a:r>
            <a:endParaRPr lang="en-US" altLang="en-US" sz="1400" b="1" dirty="0" smtClean="0">
              <a:latin typeface="Arial" panose="020B0604020202020204" pitchFamily="34" charset="0"/>
              <a:cs typeface="Arial" panose="020B0604020202020204" pitchFamily="34" charset="0"/>
            </a:endParaRPr>
          </a:p>
          <a:p>
            <a:pPr lvl="0" eaLnBrk="0" fontAlgn="base" hangingPunct="0">
              <a:spcBef>
                <a:spcPct val="0"/>
              </a:spcBef>
              <a:spcAft>
                <a:spcPct val="0"/>
              </a:spcAft>
            </a:pPr>
            <a:endParaRPr lang="en-US" altLang="en-US" sz="1400" b="1" dirty="0">
              <a:latin typeface="Arial" panose="020B0604020202020204" pitchFamily="34" charset="0"/>
              <a:cs typeface="Arial" panose="020B0604020202020204" pitchFamily="34" charset="0"/>
            </a:endParaRPr>
          </a:p>
          <a:p>
            <a:pPr lvl="0" eaLnBrk="0" fontAlgn="base" hangingPunct="0">
              <a:spcBef>
                <a:spcPct val="0"/>
              </a:spcBef>
              <a:spcAft>
                <a:spcPct val="0"/>
              </a:spcAft>
              <a:buFontTx/>
              <a:buChar char="•"/>
            </a:pPr>
            <a:r>
              <a:rPr lang="en-US" altLang="en-US" sz="1400" dirty="0">
                <a:latin typeface="Arial" panose="020B0604020202020204" pitchFamily="34" charset="0"/>
                <a:cs typeface="Arial" panose="020B0604020202020204" pitchFamily="34" charset="0"/>
              </a:rPr>
              <a:t>Use it </a:t>
            </a:r>
            <a:r>
              <a:rPr lang="en-US" altLang="en-US" sz="1400" b="1" dirty="0">
                <a:latin typeface="Arial" panose="020B0604020202020204" pitchFamily="34" charset="0"/>
                <a:cs typeface="Arial" panose="020B0604020202020204" pitchFamily="34" charset="0"/>
              </a:rPr>
              <a:t>when connecting to a local MCP server via </a:t>
            </a:r>
            <a:r>
              <a:rPr lang="en-US" altLang="en-US" sz="1400" b="1" dirty="0" err="1">
                <a:latin typeface="Arial" panose="020B0604020202020204" pitchFamily="34" charset="0"/>
                <a:cs typeface="Arial" panose="020B0604020202020204" pitchFamily="34" charset="0"/>
              </a:rPr>
              <a:t>stdio</a:t>
            </a:r>
            <a:r>
              <a:rPr lang="en-US" altLang="en-US" sz="1400" dirty="0">
                <a:latin typeface="Arial" panose="020B0604020202020204" pitchFamily="34" charset="0"/>
                <a:cs typeface="Arial" panose="020B0604020202020204" pitchFamily="34" charset="0"/>
              </a:rPr>
              <a:t> (</a:t>
            </a:r>
            <a:r>
              <a:rPr lang="en-US" altLang="en-US" sz="1400" dirty="0" err="1">
                <a:latin typeface="Arial" panose="020B0604020202020204" pitchFamily="34" charset="0"/>
                <a:cs typeface="Arial" panose="020B0604020202020204" pitchFamily="34" charset="0"/>
              </a:rPr>
              <a:t>stdin</a:t>
            </a:r>
            <a:r>
              <a:rPr lang="en-US" altLang="en-US" sz="1400" dirty="0">
                <a:latin typeface="Arial" panose="020B0604020202020204" pitchFamily="34" charset="0"/>
                <a:cs typeface="Arial" panose="020B0604020202020204" pitchFamily="34" charset="0"/>
              </a:rPr>
              <a:t>/</a:t>
            </a:r>
            <a:r>
              <a:rPr lang="en-US" altLang="en-US" sz="1400" dirty="0" err="1">
                <a:latin typeface="Arial" panose="020B0604020202020204" pitchFamily="34" charset="0"/>
                <a:cs typeface="Arial" panose="020B0604020202020204" pitchFamily="34" charset="0"/>
              </a:rPr>
              <a:t>stdout</a:t>
            </a:r>
            <a:r>
              <a:rPr lang="en-US" altLang="en-US" sz="1400" dirty="0">
                <a:latin typeface="Arial" panose="020B0604020202020204" pitchFamily="34" charset="0"/>
                <a:cs typeface="Arial" panose="020B0604020202020204" pitchFamily="34" charset="0"/>
              </a:rPr>
              <a:t>).</a:t>
            </a:r>
          </a:p>
          <a:p>
            <a:pPr lvl="0" eaLnBrk="0" fontAlgn="base" hangingPunct="0">
              <a:spcBef>
                <a:spcPct val="0"/>
              </a:spcBef>
              <a:spcAft>
                <a:spcPct val="0"/>
              </a:spcAft>
              <a:buFontTx/>
              <a:buChar char="•"/>
            </a:pPr>
            <a:r>
              <a:rPr lang="en-US" altLang="en-US" sz="1400" dirty="0">
                <a:latin typeface="Arial" panose="020B0604020202020204" pitchFamily="34" charset="0"/>
                <a:cs typeface="Arial" panose="020B0604020202020204" pitchFamily="34" charset="0"/>
              </a:rPr>
              <a:t>Example:</a:t>
            </a:r>
          </a:p>
          <a:p>
            <a:pPr lvl="0" eaLnBrk="0" fontAlgn="base" hangingPunct="0">
              <a:spcBef>
                <a:spcPct val="0"/>
              </a:spcBef>
              <a:spcAft>
                <a:spcPct val="0"/>
              </a:spcAft>
            </a:pPr>
            <a:endParaRPr lang="en-US" altLang="en-US" sz="1400" dirty="0">
              <a:latin typeface="Arial" panose="020B0604020202020204" pitchFamily="34" charset="0"/>
              <a:cs typeface="Arial" panose="020B0604020202020204" pitchFamily="34" charset="0"/>
            </a:endParaRPr>
          </a:p>
          <a:p>
            <a:pPr lvl="1" eaLnBrk="0" fontAlgn="base" hangingPunct="0">
              <a:spcBef>
                <a:spcPct val="0"/>
              </a:spcBef>
              <a:spcAft>
                <a:spcPct val="0"/>
              </a:spcAft>
            </a:pPr>
            <a:r>
              <a:rPr lang="en-US" altLang="en-US" sz="1400" dirty="0">
                <a:latin typeface="Arial" panose="020B0604020202020204" pitchFamily="34" charset="0"/>
                <a:cs typeface="Arial" panose="020B0604020202020204" pitchFamily="34" charset="0"/>
              </a:rPr>
              <a:t>import </a:t>
            </a:r>
            <a:r>
              <a:rPr lang="en-US" altLang="en-US" sz="1400" dirty="0" err="1">
                <a:latin typeface="Arial" panose="020B0604020202020204" pitchFamily="34" charset="0"/>
                <a:cs typeface="Arial" panose="020B0604020202020204" pitchFamily="34" charset="0"/>
              </a:rPr>
              <a:t>subprocess</a:t>
            </a:r>
            <a:endParaRPr lang="en-US" altLang="en-US" sz="1400" dirty="0">
              <a:latin typeface="Arial" panose="020B0604020202020204" pitchFamily="34" charset="0"/>
              <a:cs typeface="Arial" panose="020B0604020202020204" pitchFamily="34" charset="0"/>
            </a:endParaRPr>
          </a:p>
          <a:p>
            <a:pPr lvl="1" eaLnBrk="0" fontAlgn="base" hangingPunct="0">
              <a:spcBef>
                <a:spcPct val="0"/>
              </a:spcBef>
              <a:spcAft>
                <a:spcPct val="0"/>
              </a:spcAft>
            </a:pPr>
            <a:r>
              <a:rPr lang="en-US" altLang="en-US" sz="1400" dirty="0">
                <a:latin typeface="Arial" panose="020B0604020202020204" pitchFamily="34" charset="0"/>
                <a:cs typeface="Arial" panose="020B0604020202020204" pitchFamily="34" charset="0"/>
              </a:rPr>
              <a:t>from </a:t>
            </a:r>
            <a:r>
              <a:rPr lang="en-US" altLang="en-US" sz="1400" dirty="0" err="1">
                <a:latin typeface="Arial" panose="020B0604020202020204" pitchFamily="34" charset="0"/>
                <a:cs typeface="Arial" panose="020B0604020202020204" pitchFamily="34" charset="0"/>
              </a:rPr>
              <a:t>langchain_mcp_adapters.client</a:t>
            </a:r>
            <a:r>
              <a:rPr lang="en-US" altLang="en-US" sz="1400" dirty="0">
                <a:latin typeface="Arial" panose="020B0604020202020204" pitchFamily="34" charset="0"/>
                <a:cs typeface="Arial" panose="020B0604020202020204" pitchFamily="34" charset="0"/>
              </a:rPr>
              <a:t> import </a:t>
            </a:r>
            <a:r>
              <a:rPr lang="en-US" altLang="en-US" sz="1400" dirty="0" err="1">
                <a:latin typeface="Arial" panose="020B0604020202020204" pitchFamily="34" charset="0"/>
                <a:cs typeface="Arial" panose="020B0604020202020204" pitchFamily="34" charset="0"/>
              </a:rPr>
              <a:t>MCPStdioClient</a:t>
            </a:r>
            <a:endParaRPr lang="en-US" altLang="en-US" sz="1400" dirty="0">
              <a:latin typeface="Arial" panose="020B0604020202020204" pitchFamily="34" charset="0"/>
              <a:cs typeface="Arial" panose="020B0604020202020204" pitchFamily="34" charset="0"/>
            </a:endParaRPr>
          </a:p>
          <a:p>
            <a:pPr lvl="1" eaLnBrk="0" fontAlgn="base" hangingPunct="0">
              <a:spcBef>
                <a:spcPct val="0"/>
              </a:spcBef>
              <a:spcAft>
                <a:spcPct val="0"/>
              </a:spcAft>
            </a:pPr>
            <a:endParaRPr lang="en-US" altLang="en-US" sz="1400" dirty="0">
              <a:latin typeface="Arial" panose="020B0604020202020204" pitchFamily="34" charset="0"/>
              <a:cs typeface="Arial" panose="020B0604020202020204" pitchFamily="34" charset="0"/>
            </a:endParaRPr>
          </a:p>
          <a:p>
            <a:pPr lvl="1" eaLnBrk="0" fontAlgn="base" hangingPunct="0">
              <a:spcBef>
                <a:spcPct val="0"/>
              </a:spcBef>
              <a:spcAft>
                <a:spcPct val="0"/>
              </a:spcAft>
            </a:pPr>
            <a:r>
              <a:rPr lang="en-US" altLang="en-US" sz="1400" dirty="0">
                <a:latin typeface="Arial" panose="020B0604020202020204" pitchFamily="34" charset="0"/>
                <a:cs typeface="Arial" panose="020B0604020202020204" pitchFamily="34" charset="0"/>
              </a:rPr>
              <a:t># Start your local MCP server as a </a:t>
            </a:r>
            <a:r>
              <a:rPr lang="en-US" altLang="en-US" sz="1400" dirty="0" err="1">
                <a:latin typeface="Arial" panose="020B0604020202020204" pitchFamily="34" charset="0"/>
                <a:cs typeface="Arial" panose="020B0604020202020204" pitchFamily="34" charset="0"/>
              </a:rPr>
              <a:t>subprocess</a:t>
            </a:r>
            <a:endParaRPr lang="en-US" altLang="en-US" sz="1400" dirty="0">
              <a:latin typeface="Arial" panose="020B0604020202020204" pitchFamily="34" charset="0"/>
              <a:cs typeface="Arial" panose="020B0604020202020204" pitchFamily="34" charset="0"/>
            </a:endParaRPr>
          </a:p>
          <a:p>
            <a:pPr lvl="1" eaLnBrk="0" fontAlgn="base" hangingPunct="0">
              <a:spcBef>
                <a:spcPct val="0"/>
              </a:spcBef>
              <a:spcAft>
                <a:spcPct val="0"/>
              </a:spcAft>
            </a:pPr>
            <a:r>
              <a:rPr lang="en-US" altLang="en-US" sz="1400" dirty="0" err="1">
                <a:latin typeface="Arial" panose="020B0604020202020204" pitchFamily="34" charset="0"/>
                <a:cs typeface="Arial" panose="020B0604020202020204" pitchFamily="34" charset="0"/>
              </a:rPr>
              <a:t>proc</a:t>
            </a:r>
            <a:r>
              <a:rPr lang="en-US" altLang="en-US" sz="1400" dirty="0">
                <a:latin typeface="Arial" panose="020B0604020202020204" pitchFamily="34" charset="0"/>
                <a:cs typeface="Arial" panose="020B0604020202020204" pitchFamily="34" charset="0"/>
              </a:rPr>
              <a:t> = </a:t>
            </a:r>
            <a:r>
              <a:rPr lang="en-US" altLang="en-US" sz="1400" dirty="0" err="1">
                <a:latin typeface="Arial" panose="020B0604020202020204" pitchFamily="34" charset="0"/>
                <a:cs typeface="Arial" panose="020B0604020202020204" pitchFamily="34" charset="0"/>
              </a:rPr>
              <a:t>subprocess.Popen</a:t>
            </a:r>
            <a:r>
              <a:rPr lang="en-US" altLang="en-US" sz="1400" dirty="0">
                <a:latin typeface="Arial" panose="020B0604020202020204" pitchFamily="34" charset="0"/>
                <a:cs typeface="Arial" panose="020B0604020202020204" pitchFamily="34" charset="0"/>
              </a:rPr>
              <a:t>(</a:t>
            </a:r>
          </a:p>
          <a:p>
            <a:pPr lvl="1" eaLnBrk="0" fontAlgn="base" hangingPunct="0">
              <a:spcBef>
                <a:spcPct val="0"/>
              </a:spcBef>
              <a:spcAft>
                <a:spcPct val="0"/>
              </a:spcAft>
            </a:pPr>
            <a:r>
              <a:rPr lang="en-US" altLang="en-US" sz="1400" dirty="0">
                <a:latin typeface="Arial" panose="020B0604020202020204" pitchFamily="34" charset="0"/>
                <a:cs typeface="Arial" panose="020B0604020202020204" pitchFamily="34" charset="0"/>
              </a:rPr>
              <a:t>    ["python", "main.py"],  # MCP server with transport="</a:t>
            </a:r>
            <a:r>
              <a:rPr lang="en-US" altLang="en-US" sz="1400" dirty="0" err="1">
                <a:latin typeface="Arial" panose="020B0604020202020204" pitchFamily="34" charset="0"/>
                <a:cs typeface="Arial" panose="020B0604020202020204" pitchFamily="34" charset="0"/>
              </a:rPr>
              <a:t>stdio</a:t>
            </a:r>
            <a:r>
              <a:rPr lang="en-US" altLang="en-US" sz="1400" dirty="0">
                <a:latin typeface="Arial" panose="020B0604020202020204" pitchFamily="34" charset="0"/>
                <a:cs typeface="Arial" panose="020B0604020202020204" pitchFamily="34" charset="0"/>
              </a:rPr>
              <a:t>"</a:t>
            </a:r>
          </a:p>
          <a:p>
            <a:pPr lvl="1" eaLnBrk="0" fontAlgn="base" hangingPunct="0">
              <a:spcBef>
                <a:spcPct val="0"/>
              </a:spcBef>
              <a:spcAft>
                <a:spcPct val="0"/>
              </a:spcAft>
            </a:pPr>
            <a:r>
              <a:rPr lang="en-US" altLang="en-US" sz="1400" dirty="0">
                <a:latin typeface="Arial" panose="020B0604020202020204" pitchFamily="34" charset="0"/>
                <a:cs typeface="Arial" panose="020B0604020202020204" pitchFamily="34" charset="0"/>
              </a:rPr>
              <a:t>    </a:t>
            </a:r>
            <a:r>
              <a:rPr lang="en-US" altLang="en-US" sz="1400" dirty="0" err="1">
                <a:latin typeface="Arial" panose="020B0604020202020204" pitchFamily="34" charset="0"/>
                <a:cs typeface="Arial" panose="020B0604020202020204" pitchFamily="34" charset="0"/>
              </a:rPr>
              <a:t>stdin</a:t>
            </a:r>
            <a:r>
              <a:rPr lang="en-US" altLang="en-US" sz="1400" dirty="0">
                <a:latin typeface="Arial" panose="020B0604020202020204" pitchFamily="34" charset="0"/>
                <a:cs typeface="Arial" panose="020B0604020202020204" pitchFamily="34" charset="0"/>
              </a:rPr>
              <a:t>=</a:t>
            </a:r>
            <a:r>
              <a:rPr lang="en-US" altLang="en-US" sz="1400" dirty="0" err="1">
                <a:latin typeface="Arial" panose="020B0604020202020204" pitchFamily="34" charset="0"/>
                <a:cs typeface="Arial" panose="020B0604020202020204" pitchFamily="34" charset="0"/>
              </a:rPr>
              <a:t>subprocess.PIPE</a:t>
            </a:r>
            <a:r>
              <a:rPr lang="en-US" altLang="en-US" sz="1400" dirty="0">
                <a:latin typeface="Arial" panose="020B0604020202020204" pitchFamily="34" charset="0"/>
                <a:cs typeface="Arial" panose="020B0604020202020204" pitchFamily="34" charset="0"/>
              </a:rPr>
              <a:t>,</a:t>
            </a:r>
          </a:p>
          <a:p>
            <a:pPr lvl="1" eaLnBrk="0" fontAlgn="base" hangingPunct="0">
              <a:spcBef>
                <a:spcPct val="0"/>
              </a:spcBef>
              <a:spcAft>
                <a:spcPct val="0"/>
              </a:spcAft>
            </a:pPr>
            <a:r>
              <a:rPr lang="en-US" altLang="en-US" sz="1400" dirty="0">
                <a:latin typeface="Arial" panose="020B0604020202020204" pitchFamily="34" charset="0"/>
                <a:cs typeface="Arial" panose="020B0604020202020204" pitchFamily="34" charset="0"/>
              </a:rPr>
              <a:t>    </a:t>
            </a:r>
            <a:r>
              <a:rPr lang="en-US" altLang="en-US" sz="1400" dirty="0" err="1">
                <a:latin typeface="Arial" panose="020B0604020202020204" pitchFamily="34" charset="0"/>
                <a:cs typeface="Arial" panose="020B0604020202020204" pitchFamily="34" charset="0"/>
              </a:rPr>
              <a:t>stdout</a:t>
            </a:r>
            <a:r>
              <a:rPr lang="en-US" altLang="en-US" sz="1400" dirty="0">
                <a:latin typeface="Arial" panose="020B0604020202020204" pitchFamily="34" charset="0"/>
                <a:cs typeface="Arial" panose="020B0604020202020204" pitchFamily="34" charset="0"/>
              </a:rPr>
              <a:t>=</a:t>
            </a:r>
            <a:r>
              <a:rPr lang="en-US" altLang="en-US" sz="1400" dirty="0" err="1">
                <a:latin typeface="Arial" panose="020B0604020202020204" pitchFamily="34" charset="0"/>
                <a:cs typeface="Arial" panose="020B0604020202020204" pitchFamily="34" charset="0"/>
              </a:rPr>
              <a:t>subprocess.PIPE</a:t>
            </a:r>
            <a:r>
              <a:rPr lang="en-US" altLang="en-US" sz="1400" dirty="0">
                <a:latin typeface="Arial" panose="020B0604020202020204" pitchFamily="34" charset="0"/>
                <a:cs typeface="Arial" panose="020B0604020202020204" pitchFamily="34" charset="0"/>
              </a:rPr>
              <a:t>,</a:t>
            </a:r>
          </a:p>
          <a:p>
            <a:pPr lvl="1" eaLnBrk="0" fontAlgn="base" hangingPunct="0">
              <a:spcBef>
                <a:spcPct val="0"/>
              </a:spcBef>
              <a:spcAft>
                <a:spcPct val="0"/>
              </a:spcAft>
            </a:pPr>
            <a:r>
              <a:rPr lang="en-US" altLang="en-US" sz="1400" dirty="0">
                <a:latin typeface="Arial" panose="020B0604020202020204" pitchFamily="34" charset="0"/>
                <a:cs typeface="Arial" panose="020B0604020202020204" pitchFamily="34" charset="0"/>
              </a:rPr>
              <a:t>    text=True</a:t>
            </a:r>
          </a:p>
          <a:p>
            <a:pPr lvl="1" eaLnBrk="0" fontAlgn="base" hangingPunct="0">
              <a:spcBef>
                <a:spcPct val="0"/>
              </a:spcBef>
              <a:spcAft>
                <a:spcPct val="0"/>
              </a:spcAft>
            </a:pPr>
            <a:r>
              <a:rPr lang="en-US" altLang="en-US" sz="1400" dirty="0">
                <a:latin typeface="Arial" panose="020B0604020202020204" pitchFamily="34" charset="0"/>
                <a:cs typeface="Arial" panose="020B0604020202020204" pitchFamily="34" charset="0"/>
              </a:rPr>
              <a:t>)</a:t>
            </a:r>
          </a:p>
          <a:p>
            <a:pPr lvl="1" eaLnBrk="0" fontAlgn="base" hangingPunct="0">
              <a:spcBef>
                <a:spcPct val="0"/>
              </a:spcBef>
              <a:spcAft>
                <a:spcPct val="0"/>
              </a:spcAft>
            </a:pPr>
            <a:endParaRPr lang="en-US" altLang="en-US" sz="1400" dirty="0">
              <a:latin typeface="Arial" panose="020B0604020202020204" pitchFamily="34" charset="0"/>
              <a:cs typeface="Arial" panose="020B0604020202020204" pitchFamily="34" charset="0"/>
            </a:endParaRPr>
          </a:p>
          <a:p>
            <a:pPr lvl="1" eaLnBrk="0" fontAlgn="base" hangingPunct="0">
              <a:spcBef>
                <a:spcPct val="0"/>
              </a:spcBef>
              <a:spcAft>
                <a:spcPct val="0"/>
              </a:spcAft>
            </a:pPr>
            <a:r>
              <a:rPr lang="en-US" altLang="en-US" sz="1400" dirty="0">
                <a:latin typeface="Arial" panose="020B0604020202020204" pitchFamily="34" charset="0"/>
                <a:cs typeface="Arial" panose="020B0604020202020204" pitchFamily="34" charset="0"/>
              </a:rPr>
              <a:t># Connect to it via </a:t>
            </a:r>
            <a:r>
              <a:rPr lang="en-US" altLang="en-US" sz="1400" dirty="0" err="1">
                <a:latin typeface="Arial" panose="020B0604020202020204" pitchFamily="34" charset="0"/>
                <a:cs typeface="Arial" panose="020B0604020202020204" pitchFamily="34" charset="0"/>
              </a:rPr>
              <a:t>stdio</a:t>
            </a:r>
            <a:endParaRPr lang="en-US" altLang="en-US" sz="1400" dirty="0">
              <a:latin typeface="Arial" panose="020B0604020202020204" pitchFamily="34" charset="0"/>
              <a:cs typeface="Arial" panose="020B0604020202020204" pitchFamily="34" charset="0"/>
            </a:endParaRPr>
          </a:p>
          <a:p>
            <a:pPr lvl="1" eaLnBrk="0" fontAlgn="base" hangingPunct="0">
              <a:spcBef>
                <a:spcPct val="0"/>
              </a:spcBef>
              <a:spcAft>
                <a:spcPct val="0"/>
              </a:spcAft>
            </a:pPr>
            <a:r>
              <a:rPr lang="en-US" altLang="en-US" sz="1400" dirty="0">
                <a:latin typeface="Arial" panose="020B0604020202020204" pitchFamily="34" charset="0"/>
                <a:cs typeface="Arial" panose="020B0604020202020204" pitchFamily="34" charset="0"/>
              </a:rPr>
              <a:t>client = </a:t>
            </a:r>
            <a:r>
              <a:rPr lang="en-US" altLang="en-US" sz="1400" dirty="0" err="1">
                <a:latin typeface="Arial" panose="020B0604020202020204" pitchFamily="34" charset="0"/>
                <a:cs typeface="Arial" panose="020B0604020202020204" pitchFamily="34" charset="0"/>
              </a:rPr>
              <a:t>MCPStdioClient</a:t>
            </a:r>
            <a:r>
              <a:rPr lang="en-US" altLang="en-US" sz="1400" dirty="0">
                <a:latin typeface="Arial" panose="020B0604020202020204" pitchFamily="34" charset="0"/>
                <a:cs typeface="Arial" panose="020B0604020202020204" pitchFamily="34" charset="0"/>
              </a:rPr>
              <a:t>(</a:t>
            </a:r>
            <a:r>
              <a:rPr lang="en-US" altLang="en-US" sz="1400" dirty="0" err="1">
                <a:latin typeface="Arial" panose="020B0604020202020204" pitchFamily="34" charset="0"/>
                <a:cs typeface="Arial" panose="020B0604020202020204" pitchFamily="34" charset="0"/>
              </a:rPr>
              <a:t>proc.stdin</a:t>
            </a:r>
            <a:r>
              <a:rPr lang="en-US" altLang="en-US" sz="1400" dirty="0">
                <a:latin typeface="Arial" panose="020B0604020202020204" pitchFamily="34" charset="0"/>
                <a:cs typeface="Arial" panose="020B0604020202020204" pitchFamily="34" charset="0"/>
              </a:rPr>
              <a:t>, </a:t>
            </a:r>
            <a:r>
              <a:rPr lang="en-US" altLang="en-US" sz="1400" dirty="0" err="1">
                <a:latin typeface="Arial" panose="020B0604020202020204" pitchFamily="34" charset="0"/>
                <a:cs typeface="Arial" panose="020B0604020202020204" pitchFamily="34" charset="0"/>
              </a:rPr>
              <a:t>proc.stdout</a:t>
            </a:r>
            <a:r>
              <a:rPr lang="en-US" altLang="en-US" sz="1400" dirty="0">
                <a:latin typeface="Arial" panose="020B0604020202020204" pitchFamily="34" charset="0"/>
                <a:cs typeface="Arial" panose="020B0604020202020204" pitchFamily="34" charset="0"/>
              </a:rPr>
              <a:t>)</a:t>
            </a:r>
          </a:p>
          <a:p>
            <a:pPr lvl="4" eaLnBrk="0" fontAlgn="base" hangingPunct="0">
              <a:spcBef>
                <a:spcPct val="0"/>
              </a:spcBef>
              <a:spcAft>
                <a:spcPct val="0"/>
              </a:spcAft>
            </a:pPr>
            <a:endParaRPr lang="en-US" altLang="en-US" sz="1400" dirty="0">
              <a:latin typeface="Arial" panose="020B0604020202020204" pitchFamily="34" charset="0"/>
              <a:cs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lang="en-US" altLang="en-US" sz="1400" dirty="0">
                <a:latin typeface="Arial" panose="020B0604020202020204" pitchFamily="34" charset="0"/>
                <a:cs typeface="Arial" panose="020B0604020202020204" pitchFamily="34" charset="0"/>
              </a:rPr>
              <a:t>Now your Python client can communicate with the server exactly like Claude Desktop does.</a:t>
            </a:r>
          </a:p>
          <a:p>
            <a:pPr marL="285750" lvl="0" indent="-285750" eaLnBrk="0" fontAlgn="base" hangingPunct="0">
              <a:spcBef>
                <a:spcPct val="0"/>
              </a:spcBef>
              <a:spcAft>
                <a:spcPct val="0"/>
              </a:spcAft>
              <a:buFont typeface="Arial" panose="020B0604020202020204" pitchFamily="34" charset="0"/>
              <a:buChar char="•"/>
            </a:pPr>
            <a:r>
              <a:rPr lang="en-US" altLang="en-US" sz="1400" dirty="0">
                <a:latin typeface="Arial" panose="020B0604020202020204" pitchFamily="34" charset="0"/>
                <a:cs typeface="Arial" panose="020B0604020202020204" pitchFamily="34" charset="0"/>
              </a:rPr>
              <a:t>No HTTP or network transport needed.</a:t>
            </a:r>
          </a:p>
        </p:txBody>
      </p:sp>
    </p:spTree>
    <p:extLst>
      <p:ext uri="{BB962C8B-B14F-4D97-AF65-F5344CB8AC3E}">
        <p14:creationId xmlns:p14="http://schemas.microsoft.com/office/powerpoint/2010/main" val="359185240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ADCAF8-8823-4E89-8612-21029831A4B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8CA07B2-0819-4B62-9425-7A52BBDD7070}"/>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grpSp>
        <p:nvGrpSpPr>
          <p:cNvPr id="13" name="Group 12">
            <a:extLst>
              <a:ext uri="{FF2B5EF4-FFF2-40B4-BE49-F238E27FC236}">
                <a16:creationId xmlns:a16="http://schemas.microsoft.com/office/drawing/2014/main" id="{DA02BEE4-A5D4-40AF-882D-49D34B086FFF}"/>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p:grpSpPr>
        <p:sp>
          <p:nvSpPr>
            <p:cNvPr id="14" name="Freeform: Shape 13">
              <a:extLst>
                <a:ext uri="{FF2B5EF4-FFF2-40B4-BE49-F238E27FC236}">
                  <a16:creationId xmlns:a16="http://schemas.microsoft.com/office/drawing/2014/main" id="{0F5843EB-154F-4459-8954-BB1DF64BBD13}"/>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75905135-55D9-431B-8D5A-4C5C92B1FED7}"/>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6" name="Freeform: Shape 5">
              <a:extLst>
                <a:ext uri="{FF2B5EF4-FFF2-40B4-BE49-F238E27FC236}">
                  <a16:creationId xmlns:a16="http://schemas.microsoft.com/office/drawing/2014/main" id="{9B732812-A0BB-4324-B390-DFEF26C109E5}"/>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01FEC055-6F76-4E20-BC93-76C2F58EAF38}"/>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Freeform: Shape 7">
              <a:extLst>
                <a:ext uri="{FF2B5EF4-FFF2-40B4-BE49-F238E27FC236}">
                  <a16:creationId xmlns:a16="http://schemas.microsoft.com/office/drawing/2014/main" id="{D74CD21D-122E-4F3D-82AF-F4A37C278AF1}"/>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9">
              <a:extLst>
                <a:ext uri="{FF2B5EF4-FFF2-40B4-BE49-F238E27FC236}">
                  <a16:creationId xmlns:a16="http://schemas.microsoft.com/office/drawing/2014/main" id="{5A7FF51F-3820-41BE-8690-7E758ECFA7CF}"/>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gradFill>
              <a:gsLst>
                <a:gs pos="813">
                  <a:schemeClr val="bg1">
                    <a:alpha val="41000"/>
                  </a:schemeClr>
                </a:gs>
                <a:gs pos="20000">
                  <a:schemeClr val="accent5">
                    <a:lumMod val="85000"/>
                    <a:alpha val="56000"/>
                  </a:schemeClr>
                </a:gs>
                <a:gs pos="44000">
                  <a:schemeClr val="accent6">
                    <a:lumMod val="40000"/>
                    <a:lumOff val="60000"/>
                    <a:alpha val="57000"/>
                  </a:schemeClr>
                </a:gs>
                <a:gs pos="100000">
                  <a:schemeClr val="bg1">
                    <a:alpha val="59000"/>
                  </a:schemeClr>
                </a:gs>
                <a:gs pos="74000">
                  <a:schemeClr val="accent1">
                    <a:lumMod val="91000"/>
                    <a:lumOff val="9000"/>
                    <a:alpha val="34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Freeform: Shape 19">
              <a:extLst>
                <a:ext uri="{FF2B5EF4-FFF2-40B4-BE49-F238E27FC236}">
                  <a16:creationId xmlns:a16="http://schemas.microsoft.com/office/drawing/2014/main" id="{85EAD889-EA4D-485F-BA9C-F6473A432996}"/>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4" name="Title 3">
            <a:extLst>
              <a:ext uri="{FF2B5EF4-FFF2-40B4-BE49-F238E27FC236}">
                <a16:creationId xmlns:a16="http://schemas.microsoft.com/office/drawing/2014/main" id="{A438EA56-8646-05A2-36D5-9122791CBC31}"/>
              </a:ext>
            </a:extLst>
          </p:cNvPr>
          <p:cNvSpPr>
            <a:spLocks noGrp="1"/>
          </p:cNvSpPr>
          <p:nvPr>
            <p:ph type="ctrTitle"/>
          </p:nvPr>
        </p:nvSpPr>
        <p:spPr>
          <a:xfrm>
            <a:off x="3045368" y="2043663"/>
            <a:ext cx="6105194" cy="2031055"/>
          </a:xfrm>
        </p:spPr>
        <p:txBody>
          <a:bodyPr>
            <a:normAutofit/>
          </a:bodyPr>
          <a:lstStyle/>
          <a:p>
            <a:r>
              <a:rPr lang="en-US" sz="6600" b="1" dirty="0">
                <a:solidFill>
                  <a:schemeClr val="tx2"/>
                </a:solidFill>
              </a:rPr>
              <a:t>Thank you</a:t>
            </a:r>
            <a:endParaRPr lang="en-IN" sz="6600" b="1" dirty="0">
              <a:solidFill>
                <a:schemeClr val="tx2"/>
              </a:solidFill>
            </a:endParaRPr>
          </a:p>
        </p:txBody>
      </p:sp>
      <p:pic>
        <p:nvPicPr>
          <p:cNvPr id="16" name="Picture 15" descr="A blue and green logo&#10;&#10;Description automatically generated">
            <a:extLst>
              <a:ext uri="{FF2B5EF4-FFF2-40B4-BE49-F238E27FC236}">
                <a16:creationId xmlns:a16="http://schemas.microsoft.com/office/drawing/2014/main" id="{18C91886-4610-0E6C-8B52-92F6E3631F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67415" y="75515"/>
            <a:ext cx="610970" cy="610970"/>
          </a:xfrm>
          <a:prstGeom prst="rect">
            <a:avLst/>
          </a:prstGeom>
        </p:spPr>
      </p:pic>
    </p:spTree>
    <p:extLst>
      <p:ext uri="{BB962C8B-B14F-4D97-AF65-F5344CB8AC3E}">
        <p14:creationId xmlns:p14="http://schemas.microsoft.com/office/powerpoint/2010/main" val="260471423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2179</Words>
  <Application>Microsoft Office PowerPoint</Application>
  <PresentationFormat>Widescreen</PresentationFormat>
  <Paragraphs>524</Paragraphs>
  <Slides>24</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Aptos</vt:lpstr>
      <vt:lpstr>Aptos Display</vt:lpstr>
      <vt:lpstr>Arial</vt:lpstr>
      <vt:lpstr>Arial Unicode MS</vt:lpstr>
      <vt:lpstr>Consolas</vt:lpstr>
      <vt:lpstr>Roboto Mono</vt:lpstr>
      <vt:lpstr>Wingdings</vt:lpstr>
      <vt:lpstr>Office Theme</vt:lpstr>
      <vt:lpstr>MCP - Model Context Protocol</vt:lpstr>
      <vt:lpstr>MCP – Model Context Protocol</vt:lpstr>
      <vt:lpstr>Before MCP</vt:lpstr>
      <vt:lpstr>After MCP</vt:lpstr>
      <vt:lpstr>MCP Architecture</vt:lpstr>
      <vt:lpstr>MCP Components</vt:lpstr>
      <vt:lpstr>MCP Flow</vt:lpstr>
      <vt:lpstr>MCP Host</vt:lpstr>
      <vt:lpstr>MCP Client (Connector)</vt:lpstr>
      <vt:lpstr>MCP Server (Context Provider)</vt:lpstr>
      <vt:lpstr>MCP Server- Features</vt:lpstr>
      <vt:lpstr>MCP Server- Features</vt:lpstr>
      <vt:lpstr>MCP Layers</vt:lpstr>
      <vt:lpstr>Data Layer</vt:lpstr>
      <vt:lpstr>Transport Layer</vt:lpstr>
      <vt:lpstr>Connect to local MCP servers</vt:lpstr>
      <vt:lpstr>Connect to Remote MCP servers</vt:lpstr>
      <vt:lpstr>FastMCP Vs MCP SDK</vt:lpstr>
      <vt:lpstr>Custom Local MCP servers</vt:lpstr>
      <vt:lpstr>Custom Remote MCP servers</vt:lpstr>
      <vt:lpstr>Custom Remote MCP servers</vt:lpstr>
      <vt:lpstr>Custom MCP client</vt:lpstr>
      <vt:lpstr>MultiServerMCPClient Vs MCPStdioClient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Programming</dc:title>
  <dc:creator/>
  <cp:lastModifiedBy/>
  <cp:revision>1184</cp:revision>
  <dcterms:created xsi:type="dcterms:W3CDTF">2024-09-04T04:29:20Z</dcterms:created>
  <dcterms:modified xsi:type="dcterms:W3CDTF">2026-03-12T02:05:20Z</dcterms:modified>
</cp:coreProperties>
</file>