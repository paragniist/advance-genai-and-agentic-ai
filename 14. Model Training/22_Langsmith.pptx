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1"/>
  </p:sldMasterIdLst>
  <p:notesMasterIdLst>
    <p:notesMasterId r:id="rId9"/>
  </p:notesMasterIdLst>
  <p:sldIdLst>
    <p:sldId id="274" r:id="rId2"/>
    <p:sldId id="540" r:id="rId3"/>
    <p:sldId id="542" r:id="rId4"/>
    <p:sldId id="541" r:id="rId5"/>
    <p:sldId id="543" r:id="rId6"/>
    <p:sldId id="544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83955" autoAdjust="0"/>
  </p:normalViewPr>
  <p:slideViewPr>
    <p:cSldViewPr snapToGrid="0">
      <p:cViewPr varScale="1">
        <p:scale>
          <a:sx n="73" d="100"/>
          <a:sy n="73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167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910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328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32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5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LangSmith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4" y="158194"/>
            <a:ext cx="11078308" cy="595418"/>
          </a:xfrm>
        </p:spPr>
        <p:txBody>
          <a:bodyPr>
            <a:noAutofit/>
          </a:bodyPr>
          <a:lstStyle/>
          <a:p>
            <a:pPr algn="ctr" fontAlgn="base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Telemetry &amp; Observability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99135" y="1110231"/>
            <a:ext cx="9233141" cy="535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/>
              <a:t>The Problem with LLM </a:t>
            </a:r>
            <a:r>
              <a:rPr lang="en-US" sz="1600" b="1" dirty="0" smtClean="0"/>
              <a:t>Applications : </a:t>
            </a:r>
            <a:endParaRPr lang="en-US" sz="1600" b="1" dirty="0"/>
          </a:p>
          <a:p>
            <a:r>
              <a:rPr lang="en-US" sz="1600" dirty="0"/>
              <a:t>Traditional applications are </a:t>
            </a:r>
            <a:r>
              <a:rPr lang="en-US" sz="1600" dirty="0" smtClean="0"/>
              <a:t>deterministic. LLM </a:t>
            </a:r>
            <a:r>
              <a:rPr lang="en-US" sz="1600" dirty="0"/>
              <a:t>applications are </a:t>
            </a:r>
            <a:r>
              <a:rPr lang="en-US" sz="1600" b="1" dirty="0"/>
              <a:t>non-deterministic and complex</a:t>
            </a:r>
            <a:r>
              <a:rPr lang="en-US" sz="1600" dirty="0"/>
              <a:t>.</a:t>
            </a:r>
          </a:p>
          <a:p>
            <a:r>
              <a:rPr lang="en-US" sz="1600" dirty="0"/>
              <a:t>Challenges: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steps in pipelines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Prompt engineering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Tool / agent orchestration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Hard </a:t>
            </a:r>
            <a:r>
              <a:rPr lang="en-US" sz="1600" dirty="0"/>
              <a:t>to debug failures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Difficult to measure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/>
            <a:r>
              <a:rPr lang="en-US" sz="1600" dirty="0"/>
              <a:t>Without observability it is </a:t>
            </a:r>
            <a:r>
              <a:rPr lang="en-US" sz="1600" b="1" dirty="0"/>
              <a:t>hard to identify where failures occur</a:t>
            </a:r>
            <a:r>
              <a:rPr lang="en-US" sz="1600" dirty="0" smtClean="0"/>
              <a:t>..</a:t>
            </a:r>
          </a:p>
          <a:p>
            <a:pPr lvl="0"/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1600" b="1" dirty="0"/>
              <a:t>Three Pillars of </a:t>
            </a:r>
            <a:r>
              <a:rPr lang="en-US" sz="1600" b="1" dirty="0" smtClean="0"/>
              <a:t>Telemetry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Logs   </a:t>
            </a:r>
            <a:r>
              <a:rPr lang="en-US" sz="1600" b="1" dirty="0"/>
              <a:t>→ What happened?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Metrics → How much / how often?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Traces  → Where did it happen</a:t>
            </a:r>
            <a:r>
              <a:rPr lang="en-US" sz="1600" b="1" dirty="0" smtClean="0"/>
              <a:t>? (</a:t>
            </a:r>
            <a:r>
              <a:rPr lang="en-US" sz="1600" b="1" dirty="0"/>
              <a:t>Traceability / Distributed Tracing)</a:t>
            </a:r>
            <a:r>
              <a:rPr lang="en-US" sz="1600" dirty="0"/>
              <a:t> </a:t>
            </a:r>
            <a:endParaRPr lang="en-US" sz="1600" dirty="0" smtClean="0"/>
          </a:p>
          <a:p>
            <a:r>
              <a:rPr lang="en-US" sz="1600" dirty="0" smtClean="0"/>
              <a:t>These </a:t>
            </a:r>
            <a:r>
              <a:rPr lang="en-US" sz="1600" dirty="0"/>
              <a:t>together help engineers understand system behavior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Telemetry = the data you collect</a:t>
            </a:r>
            <a:r>
              <a:rPr lang="en-US" altLang="en-US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Observability = the capability to understand a system using that data</a:t>
            </a:r>
            <a:r>
              <a:rPr lang="en-US" altLang="en-US" sz="1600" dirty="0"/>
              <a:t> </a:t>
            </a:r>
          </a:p>
          <a:p>
            <a:pPr lvl="0"/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72248" y="2325526"/>
            <a:ext cx="44038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Telemetry Collection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(Metrics + Logs + Traces)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Observability Platform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/ Debugging / Root Cause Analysis</a:t>
            </a:r>
          </a:p>
        </p:txBody>
      </p:sp>
    </p:spTree>
    <p:extLst>
      <p:ext uri="{BB962C8B-B14F-4D97-AF65-F5344CB8AC3E}">
        <p14:creationId xmlns:p14="http://schemas.microsoft.com/office/powerpoint/2010/main" val="159674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4" y="158194"/>
            <a:ext cx="11078308" cy="595418"/>
          </a:xfrm>
        </p:spPr>
        <p:txBody>
          <a:bodyPr>
            <a:noAutofit/>
          </a:bodyPr>
          <a:lstStyle/>
          <a:p>
            <a:pPr algn="ctr" fontAlgn="base"/>
            <a:r>
              <a:rPr lang="en-US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LangSmith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99135" y="1110231"/>
            <a:ext cx="10231624" cy="461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sz="1600" dirty="0" err="1"/>
              <a:t>LangSmith</a:t>
            </a:r>
            <a:r>
              <a:rPr lang="en-IN" sz="1600" dirty="0"/>
              <a:t> is an </a:t>
            </a:r>
            <a:r>
              <a:rPr lang="en-IN" sz="1600" b="1" dirty="0" smtClean="0"/>
              <a:t>cloud based observability </a:t>
            </a:r>
            <a:r>
              <a:rPr lang="en-IN" sz="1600" b="1" dirty="0"/>
              <a:t>platform designed for LLM applications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It helps developers </a:t>
            </a:r>
            <a:r>
              <a:rPr lang="en-IN" sz="1600" b="1" dirty="0"/>
              <a:t>monitor, debug, and evaluate complex AI workflows</a:t>
            </a:r>
            <a:r>
              <a:rPr lang="en-IN" sz="1600" dirty="0"/>
              <a:t> such as RAG pipelines, agents, and multi-step reasoning systems.</a:t>
            </a:r>
          </a:p>
          <a:p>
            <a:endParaRPr lang="en-IN" sz="1600" dirty="0" smtClean="0"/>
          </a:p>
          <a:p>
            <a:r>
              <a:rPr lang="en-IN" sz="1600" dirty="0" err="1" smtClean="0"/>
              <a:t>LangSmith</a:t>
            </a:r>
            <a:r>
              <a:rPr lang="en-IN" sz="1600" dirty="0" smtClean="0"/>
              <a:t> </a:t>
            </a:r>
            <a:r>
              <a:rPr lang="en-IN" sz="1600" dirty="0"/>
              <a:t>provides visibility into </a:t>
            </a:r>
            <a:r>
              <a:rPr lang="en-IN" sz="1600" b="1" dirty="0"/>
              <a:t>how LLM applications behave internally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US" sz="1600" dirty="0" err="1"/>
              <a:t>LangSmith</a:t>
            </a:r>
            <a:r>
              <a:rPr lang="en-US" sz="1600" dirty="0"/>
              <a:t> is useful when building: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RAG pipelines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LLM agents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multi-step reasoning workflows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production AI applications 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It integrates closely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LangChain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LangGraph</a:t>
            </a:r>
            <a:endParaRPr lang="en-US" sz="1600" dirty="0" smtClean="0"/>
          </a:p>
          <a:p>
            <a:endParaRPr lang="en-US" sz="1600" dirty="0"/>
          </a:p>
          <a:p>
            <a:r>
              <a:rPr lang="en-IN" sz="1600" dirty="0" err="1" smtClean="0"/>
              <a:t>LangSmith</a:t>
            </a:r>
            <a:r>
              <a:rPr lang="en-IN" sz="1600" dirty="0" smtClean="0"/>
              <a:t> implements Traces, Logs and metrics</a:t>
            </a:r>
            <a:endParaRPr lang="en-US" sz="1600" dirty="0"/>
          </a:p>
          <a:p>
            <a:endParaRPr lang="en-IN" sz="1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21235"/>
              </p:ext>
            </p:extLst>
          </p:nvPr>
        </p:nvGraphicFramePr>
        <p:xfrm>
          <a:off x="6716280" y="3415962"/>
          <a:ext cx="4757682" cy="210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3320">
                  <a:extLst>
                    <a:ext uri="{9D8B030D-6E8A-4147-A177-3AD203B41FA5}">
                      <a16:colId xmlns:a16="http://schemas.microsoft.com/office/drawing/2014/main" val="562408771"/>
                    </a:ext>
                  </a:extLst>
                </a:gridCol>
                <a:gridCol w="3244362">
                  <a:extLst>
                    <a:ext uri="{9D8B030D-6E8A-4147-A177-3AD203B41FA5}">
                      <a16:colId xmlns:a16="http://schemas.microsoft.com/office/drawing/2014/main" val="1371677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LangSmith Tracks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08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End-to-end execution flow of LLM pipelines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63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Prompts, responses, tool calls,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19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Latency, token usage, cost, error rates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79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17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4" y="158194"/>
            <a:ext cx="11078308" cy="595418"/>
          </a:xfrm>
        </p:spPr>
        <p:txBody>
          <a:bodyPr>
            <a:noAutofit/>
          </a:bodyPr>
          <a:lstStyle/>
          <a:p>
            <a:pPr algn="ctr" fontAlgn="base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Automatic Tracing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99135" y="872902"/>
            <a:ext cx="10231624" cy="288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err="1"/>
              <a:t>LangSmith</a:t>
            </a:r>
            <a:r>
              <a:rPr lang="en-US" sz="1600" dirty="0"/>
              <a:t> automatically traces components built </a:t>
            </a:r>
            <a:r>
              <a:rPr lang="en-US" sz="1600" dirty="0" smtClean="0"/>
              <a:t>using </a:t>
            </a:r>
            <a:r>
              <a:rPr lang="en-US" sz="1600" dirty="0" err="1" smtClean="0"/>
              <a:t>LangChain</a:t>
            </a:r>
            <a:r>
              <a:rPr lang="en-US" sz="1600" dirty="0" smtClean="0"/>
              <a:t> and </a:t>
            </a:r>
            <a:r>
              <a:rPr lang="en-US" sz="1600" dirty="0" err="1" smtClean="0"/>
              <a:t>LangGraph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pip install </a:t>
            </a:r>
            <a:r>
              <a:rPr lang="en-US" sz="1600" dirty="0" err="1"/>
              <a:t>langsmith</a:t>
            </a:r>
            <a:r>
              <a:rPr lang="en-US" sz="1600" dirty="0"/>
              <a:t> </a:t>
            </a:r>
            <a:r>
              <a:rPr lang="en-US" sz="1600" dirty="0" err="1"/>
              <a:t>langchain</a:t>
            </a:r>
            <a:r>
              <a:rPr lang="en-US" sz="1600" dirty="0"/>
              <a:t> </a:t>
            </a:r>
            <a:r>
              <a:rPr lang="en-US" sz="1600" dirty="0" err="1"/>
              <a:t>openai</a:t>
            </a:r>
            <a:endParaRPr lang="en-US" sz="1600" dirty="0" smtClean="0"/>
          </a:p>
          <a:p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IN" sz="1600" b="1" dirty="0"/>
              <a:t>Enable tracing</a:t>
            </a:r>
            <a:r>
              <a:rPr lang="en-IN" sz="1600" b="1" dirty="0" smtClean="0"/>
              <a:t>:</a:t>
            </a:r>
          </a:p>
          <a:p>
            <a:endParaRPr lang="en-US" altLang="en-US" sz="1600" dirty="0" smtClean="0"/>
          </a:p>
          <a:p>
            <a:r>
              <a:rPr lang="en-US" altLang="en-US" sz="1600" dirty="0" smtClean="0"/>
              <a:t>import </a:t>
            </a:r>
            <a:r>
              <a:rPr lang="en-US" altLang="en-US" sz="1600" dirty="0" err="1"/>
              <a:t>os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dirty="0" err="1"/>
              <a:t>os.environ</a:t>
            </a:r>
            <a:r>
              <a:rPr lang="en-US" altLang="en-US" sz="1600" dirty="0"/>
              <a:t>["LANGCHAIN_TRACING_V2"] = "true"</a:t>
            </a:r>
          </a:p>
          <a:p>
            <a:r>
              <a:rPr lang="en-US" altLang="en-US" sz="1600" dirty="0" err="1"/>
              <a:t>os.environ</a:t>
            </a:r>
            <a:r>
              <a:rPr lang="en-US" altLang="en-US" sz="1600" dirty="0"/>
              <a:t>["LANGCHAIN_API_KEY"] = "</a:t>
            </a:r>
            <a:r>
              <a:rPr lang="en-US" altLang="en-US" sz="1600" dirty="0" err="1"/>
              <a:t>your_langsmith_api_key</a:t>
            </a:r>
            <a:r>
              <a:rPr lang="en-US" altLang="en-US" sz="1600" dirty="0"/>
              <a:t>"</a:t>
            </a:r>
          </a:p>
          <a:p>
            <a:r>
              <a:rPr lang="en-US" altLang="en-US" sz="1600" dirty="0" err="1"/>
              <a:t>os.environ</a:t>
            </a:r>
            <a:r>
              <a:rPr lang="en-US" altLang="en-US" sz="1600" dirty="0"/>
              <a:t>["LANGCHAIN_PROJECT"] = "demo-observability"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78262" y="1787225"/>
            <a:ext cx="4624552" cy="4185761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langgraph.graph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StateGraph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END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(model="gpt-4o-mini")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generate(state):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question = state["question"]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response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(question)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{"answer":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builder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StateGraph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builder.add_node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("generate", generate)</a:t>
            </a: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builder.set_entry_point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("generate")</a:t>
            </a: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builder.add_edge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("generate", END)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graph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builder.compile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graph.invoke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({"question": "Explain transformers"})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29707" y="4803435"/>
            <a:ext cx="381252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this runs,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LangSmith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records: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└──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└── generate node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└── LLM Run</a:t>
            </a:r>
          </a:p>
        </p:txBody>
      </p:sp>
    </p:spTree>
    <p:extLst>
      <p:ext uri="{BB962C8B-B14F-4D97-AF65-F5344CB8AC3E}">
        <p14:creationId xmlns:p14="http://schemas.microsoft.com/office/powerpoint/2010/main" val="271720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4" y="158194"/>
            <a:ext cx="11078308" cy="595418"/>
          </a:xfrm>
        </p:spPr>
        <p:txBody>
          <a:bodyPr>
            <a:noAutofit/>
          </a:bodyPr>
          <a:lstStyle/>
          <a:p>
            <a:pPr algn="ctr" fontAlgn="base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Manual Tracing with Decorators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99135" y="1161666"/>
            <a:ext cx="10231624" cy="61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1400" dirty="0" err="1">
                <a:cs typeface="Arial" panose="020B0604020202020204" pitchFamily="34" charset="0"/>
              </a:rPr>
              <a:t>LangSmith</a:t>
            </a:r>
            <a:r>
              <a:rPr lang="en-US" altLang="en-US" sz="1400" dirty="0">
                <a:cs typeface="Arial" panose="020B0604020202020204" pitchFamily="34" charset="0"/>
              </a:rPr>
              <a:t> automatically traces </a:t>
            </a:r>
            <a:r>
              <a:rPr lang="en-US" altLang="en-US" sz="1400" dirty="0" err="1">
                <a:cs typeface="Arial" panose="020B0604020202020204" pitchFamily="34" charset="0"/>
              </a:rPr>
              <a:t>LangChain</a:t>
            </a:r>
            <a:r>
              <a:rPr lang="en-US" altLang="en-US" sz="1400" dirty="0">
                <a:cs typeface="Arial" panose="020B0604020202020204" pitchFamily="34" charset="0"/>
              </a:rPr>
              <a:t> components, but it cannot see your custom Python functions unless you explicitly mark them with </a:t>
            </a:r>
            <a:r>
              <a:rPr lang="en-US" altLang="en-US" sz="1400" b="1" dirty="0">
                <a:cs typeface="Arial" panose="020B0604020202020204" pitchFamily="34" charset="0"/>
              </a:rPr>
              <a:t>@traceable 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4418" y="1809859"/>
            <a:ext cx="410954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langsmith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traceable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(model="gpt-4o-mini")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@traceable</a:t>
            </a: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retrieve(query):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["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docs", "RAG paper"]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@traceable</a:t>
            </a: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generate(query, docs):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prompt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f"Answer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{query} using {docs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}"</a:t>
            </a: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llm.invoke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(prompt).content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@traceable</a:t>
            </a: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rag_pipeline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(query):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docs = retrieve(query)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answer = generate(query, docs)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answer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rag_pipeline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("What is RAG?"))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338" y="2180087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└──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rag_pipeline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├── retrieve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│    output: ["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docs"]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└── generate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   └── LLM Run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851338" y="4254494"/>
            <a:ext cx="442485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Metrics captured automatically: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token usage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success/failure</a:t>
            </a:r>
          </a:p>
        </p:txBody>
      </p:sp>
    </p:spTree>
    <p:extLst>
      <p:ext uri="{BB962C8B-B14F-4D97-AF65-F5344CB8AC3E}">
        <p14:creationId xmlns:p14="http://schemas.microsoft.com/office/powerpoint/2010/main" val="304884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4" y="158194"/>
            <a:ext cx="11078308" cy="595418"/>
          </a:xfrm>
        </p:spPr>
        <p:txBody>
          <a:bodyPr>
            <a:noAutofit/>
          </a:bodyPr>
          <a:lstStyle/>
          <a:p>
            <a:pPr algn="ctr" fontAlgn="base"/>
            <a:r>
              <a:rPr lang="en-IN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Platforms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637105"/>
              </p:ext>
            </p:extLst>
          </p:nvPr>
        </p:nvGraphicFramePr>
        <p:xfrm>
          <a:off x="861470" y="1159650"/>
          <a:ext cx="10612492" cy="4968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3123">
                  <a:extLst>
                    <a:ext uri="{9D8B030D-6E8A-4147-A177-3AD203B41FA5}">
                      <a16:colId xmlns:a16="http://schemas.microsoft.com/office/drawing/2014/main" val="38381952"/>
                    </a:ext>
                  </a:extLst>
                </a:gridCol>
                <a:gridCol w="2653123">
                  <a:extLst>
                    <a:ext uri="{9D8B030D-6E8A-4147-A177-3AD203B41FA5}">
                      <a16:colId xmlns:a16="http://schemas.microsoft.com/office/drawing/2014/main" val="3719753500"/>
                    </a:ext>
                  </a:extLst>
                </a:gridCol>
                <a:gridCol w="2653123">
                  <a:extLst>
                    <a:ext uri="{9D8B030D-6E8A-4147-A177-3AD203B41FA5}">
                      <a16:colId xmlns:a16="http://schemas.microsoft.com/office/drawing/2014/main" val="854903508"/>
                    </a:ext>
                  </a:extLst>
                </a:gridCol>
                <a:gridCol w="2653123">
                  <a:extLst>
                    <a:ext uri="{9D8B030D-6E8A-4147-A177-3AD203B41FA5}">
                      <a16:colId xmlns:a16="http://schemas.microsoft.com/office/drawing/2014/main" val="35189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Signals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27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Datadog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Metrics, Logs,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394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Relic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Metrics, Logs,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27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Dynatrace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Metrics, Logs,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0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 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Logs, Metrics,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517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LangSmith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Traces, Prompts, Token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89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OpenTelemetry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Metrics, Logs,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058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Prometheus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73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Grafana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Metrics, Logs,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7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95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 (primary), Metrics,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60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Logstash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35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Kibana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Logs,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435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13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Widescreen</PresentationFormat>
  <Paragraphs>183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LangSmith</vt:lpstr>
      <vt:lpstr>Telemetry &amp; Observability</vt:lpstr>
      <vt:lpstr>LangSmith</vt:lpstr>
      <vt:lpstr>Automatic Tracing</vt:lpstr>
      <vt:lpstr>Manual Tracing with Decorators</vt:lpstr>
      <vt:lpstr>Platforms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2026-04-12T20:16:26Z</dcterms:modified>
</cp:coreProperties>
</file>