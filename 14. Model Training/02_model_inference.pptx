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1"/>
  </p:sldMasterIdLst>
  <p:notesMasterIdLst>
    <p:notesMasterId r:id="rId21"/>
  </p:notesMasterIdLst>
  <p:sldIdLst>
    <p:sldId id="274" r:id="rId2"/>
    <p:sldId id="505" r:id="rId3"/>
    <p:sldId id="510" r:id="rId4"/>
    <p:sldId id="506" r:id="rId5"/>
    <p:sldId id="507" r:id="rId6"/>
    <p:sldId id="511" r:id="rId7"/>
    <p:sldId id="512" r:id="rId8"/>
    <p:sldId id="508" r:id="rId9"/>
    <p:sldId id="509" r:id="rId10"/>
    <p:sldId id="513" r:id="rId11"/>
    <p:sldId id="514" r:id="rId12"/>
    <p:sldId id="515" r:id="rId13"/>
    <p:sldId id="516" r:id="rId14"/>
    <p:sldId id="517" r:id="rId15"/>
    <p:sldId id="518" r:id="rId16"/>
    <p:sldId id="519" r:id="rId17"/>
    <p:sldId id="520" r:id="rId18"/>
    <p:sldId id="52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87313" autoAdjust="0"/>
  </p:normalViewPr>
  <p:slideViewPr>
    <p:cSldViewPr snapToGrid="0">
      <p:cViewPr varScale="1">
        <p:scale>
          <a:sx n="75" d="100"/>
          <a:sy n="75" d="100"/>
        </p:scale>
        <p:origin x="7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Batching improves efficiency when multiple requests arrive concurrently, allowing the GPU to process them together in a single forward pass.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38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Batching improves efficiency when multiple requests arrive concurrently, allowing the GPU to process them together in a single forward pass.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63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https://docs.vllm.ai/projects/recipes/en/latest/Microsoft/Phi-4.html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261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https://docs.vllm.ai/projects/recipes/en/latest/Microsoft/Phi-4.html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13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https://docs.vllm.ai/projects/recipes/en/latest/Microsoft/Phi-4.html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516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llm.ai/en/latest/" TargetMode="External"/><Relationship Id="rId7" Type="http://schemas.openxmlformats.org/officeDocument/2006/relationships/hyperlink" Target="https://docs.vllm.ai/en/latest/serving/openai_compatible_serve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vllm.ai/en/latest/deployment/docker/" TargetMode="External"/><Relationship Id="rId5" Type="http://schemas.openxmlformats.org/officeDocument/2006/relationships/hyperlink" Target="https://docs.vllm.ai/en/latest/configuration/serve_args/" TargetMode="External"/><Relationship Id="rId4" Type="http://schemas.openxmlformats.org/officeDocument/2006/relationships/hyperlink" Target="https://docs.vllm.ai/projects/recipes/en/latest/index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8453" y="1178635"/>
            <a:ext cx="6548425" cy="3283103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Inference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 Acceleration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2141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5338" y="1025864"/>
            <a:ext cx="988522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Accelerating LLM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 with</a:t>
            </a:r>
          </a:p>
          <a:p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AutoNum type="arabicPeriod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KV cache and Paged KV cache</a:t>
            </a:r>
          </a:p>
          <a:p>
            <a:pPr marL="800100" lvl="1" indent="-342900">
              <a:buAutoNum type="arabicPeriod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Batching </a:t>
            </a:r>
          </a:p>
          <a:p>
            <a:pPr marL="800100" lvl="1" indent="-342900">
              <a:buAutoNum type="arabicPeriod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Speculative Decoding</a:t>
            </a:r>
          </a:p>
          <a:p>
            <a:pPr marL="800100" lvl="1" indent="-342900">
              <a:buAutoNum type="arabicPeriod"/>
            </a:pP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Quantization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398726"/>
              </p:ext>
            </p:extLst>
          </p:nvPr>
        </p:nvGraphicFramePr>
        <p:xfrm>
          <a:off x="1757680" y="3057189"/>
          <a:ext cx="840232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3120">
                  <a:extLst>
                    <a:ext uri="{9D8B030D-6E8A-4147-A177-3AD203B41FA5}">
                      <a16:colId xmlns:a16="http://schemas.microsoft.com/office/drawing/2014/main" val="2363978108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99520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01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 recomputing attention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1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Continuous Batching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Improve GPU utilization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063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Speculative Decoding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large-model forward passes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343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 memory and 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computation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42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Paged KV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 KV cache memory management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606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KV-Cache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1544320"/>
            <a:ext cx="9540240" cy="415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7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KV-Cache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5339" y="1025864"/>
            <a:ext cx="58288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Accelerating LLM 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 with KV cache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2062268"/>
            <a:ext cx="8798559" cy="37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KV-Cache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5338" y="1025864"/>
            <a:ext cx="104745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KV cache Memory usage</a:t>
            </a:r>
          </a:p>
          <a:p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KV cache 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memory =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× precision ×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n_layers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​×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d_model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​ ×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seq_len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​× batch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 (K and V matrices)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precision = 2 bytes (FP16)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layers = 16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d_model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2048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(embedding size of a token)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sequence length = 1024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(input sentence length)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batch = 128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KV cache for 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3B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2*2*16*2048*1024*128 = 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17,179,869,184 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bytes /(1024^3) = 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16GB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5338" y="4925536"/>
            <a:ext cx="105659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LLM inference is usually memory-bound rather than compute-bound. Multiple GPUs are used primarily to distribute model weights and KV cache and to increase memory bandwidth, not just for compute.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75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Paged KV cache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0320" y="1110231"/>
            <a:ext cx="10160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Paged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KV Cache (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Paged Attention) : 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Paged KV cache stores the KV cache in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fixed-size memory blocks (pages)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instead of allocating a large continuous memory region.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Reduces GPU memory fragmentation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Allows dynamic request batching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Enables efficient continuous batching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1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Batching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0320" y="1110231"/>
            <a:ext cx="10160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Batching improves efficiency when multiple requests arrive concurrently, allowing the GPU to process them together in a single forward pass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Without batching: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Request 1 → GPU run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Request 2 → GPU run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Request 3 → GPU run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Each request runs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separately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With batching: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Batch = [Request1, Request2, Request3]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GPU processes all together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improves: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GPU utilization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Throughput (requests per second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837" y="2287474"/>
            <a:ext cx="4424763" cy="370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8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batching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025864"/>
            <a:ext cx="109118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Input and output lengths can 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greatly vary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leading to very different generation times. </a:t>
            </a:r>
          </a:p>
          <a:p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Continuous batching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allows new requests to be dynamically added to the batch as soon as previous requests finish, without waiting for the entire batch to complete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So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batch is continuously updated during inference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78758"/>
              </p:ext>
            </p:extLst>
          </p:nvPr>
        </p:nvGraphicFramePr>
        <p:xfrm>
          <a:off x="2580865" y="2810512"/>
          <a:ext cx="7203446" cy="3495036"/>
        </p:xfrm>
        <a:graphic>
          <a:graphicData uri="http://schemas.openxmlformats.org/drawingml/2006/table">
            <a:tbl>
              <a:tblPr/>
              <a:tblGrid>
                <a:gridCol w="340992">
                  <a:extLst>
                    <a:ext uri="{9D8B030D-6E8A-4147-A177-3AD203B41FA5}">
                      <a16:colId xmlns:a16="http://schemas.microsoft.com/office/drawing/2014/main" val="2587815179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287568410"/>
                    </a:ext>
                  </a:extLst>
                </a:gridCol>
                <a:gridCol w="383616">
                  <a:extLst>
                    <a:ext uri="{9D8B030D-6E8A-4147-A177-3AD203B41FA5}">
                      <a16:colId xmlns:a16="http://schemas.microsoft.com/office/drawing/2014/main" val="2657340440"/>
                    </a:ext>
                  </a:extLst>
                </a:gridCol>
                <a:gridCol w="383616">
                  <a:extLst>
                    <a:ext uri="{9D8B030D-6E8A-4147-A177-3AD203B41FA5}">
                      <a16:colId xmlns:a16="http://schemas.microsoft.com/office/drawing/2014/main" val="2312428000"/>
                    </a:ext>
                  </a:extLst>
                </a:gridCol>
                <a:gridCol w="383616">
                  <a:extLst>
                    <a:ext uri="{9D8B030D-6E8A-4147-A177-3AD203B41FA5}">
                      <a16:colId xmlns:a16="http://schemas.microsoft.com/office/drawing/2014/main" val="3830960515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1425825540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627545873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1203272300"/>
                    </a:ext>
                  </a:extLst>
                </a:gridCol>
                <a:gridCol w="1022974">
                  <a:extLst>
                    <a:ext uri="{9D8B030D-6E8A-4147-A177-3AD203B41FA5}">
                      <a16:colId xmlns:a16="http://schemas.microsoft.com/office/drawing/2014/main" val="1359590867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2453133233"/>
                    </a:ext>
                  </a:extLst>
                </a:gridCol>
                <a:gridCol w="340992">
                  <a:extLst>
                    <a:ext uri="{9D8B030D-6E8A-4147-A177-3AD203B41FA5}">
                      <a16:colId xmlns:a16="http://schemas.microsoft.com/office/drawing/2014/main" val="605328316"/>
                    </a:ext>
                  </a:extLst>
                </a:gridCol>
                <a:gridCol w="383616">
                  <a:extLst>
                    <a:ext uri="{9D8B030D-6E8A-4147-A177-3AD203B41FA5}">
                      <a16:colId xmlns:a16="http://schemas.microsoft.com/office/drawing/2014/main" val="3355031342"/>
                    </a:ext>
                  </a:extLst>
                </a:gridCol>
                <a:gridCol w="383616">
                  <a:extLst>
                    <a:ext uri="{9D8B030D-6E8A-4147-A177-3AD203B41FA5}">
                      <a16:colId xmlns:a16="http://schemas.microsoft.com/office/drawing/2014/main" val="684838742"/>
                    </a:ext>
                  </a:extLst>
                </a:gridCol>
                <a:gridCol w="468862">
                  <a:extLst>
                    <a:ext uri="{9D8B030D-6E8A-4147-A177-3AD203B41FA5}">
                      <a16:colId xmlns:a16="http://schemas.microsoft.com/office/drawing/2014/main" val="388029442"/>
                    </a:ext>
                  </a:extLst>
                </a:gridCol>
                <a:gridCol w="468862">
                  <a:extLst>
                    <a:ext uri="{9D8B030D-6E8A-4147-A177-3AD203B41FA5}">
                      <a16:colId xmlns:a16="http://schemas.microsoft.com/office/drawing/2014/main" val="2094888278"/>
                    </a:ext>
                  </a:extLst>
                </a:gridCol>
                <a:gridCol w="468862">
                  <a:extLst>
                    <a:ext uri="{9D8B030D-6E8A-4147-A177-3AD203B41FA5}">
                      <a16:colId xmlns:a16="http://schemas.microsoft.com/office/drawing/2014/main" val="2635528058"/>
                    </a:ext>
                  </a:extLst>
                </a:gridCol>
                <a:gridCol w="468862">
                  <a:extLst>
                    <a:ext uri="{9D8B030D-6E8A-4147-A177-3AD203B41FA5}">
                      <a16:colId xmlns:a16="http://schemas.microsoft.com/office/drawing/2014/main" val="4225023332"/>
                    </a:ext>
                  </a:extLst>
                </a:gridCol>
              </a:tblGrid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35518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00369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378545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65114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484646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67483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098114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799951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843914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58372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448969"/>
                  </a:ext>
                </a:extLst>
              </a:tr>
              <a:tr h="291253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12968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0045454" y="3579614"/>
            <a:ext cx="1841746" cy="3077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= Input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04" y="5300440"/>
            <a:ext cx="2197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Continuous Batching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788" y="3214368"/>
            <a:ext cx="21100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Traditional Batching</a:t>
            </a:r>
            <a:endParaRPr lang="en-IN" sz="1600" dirty="0"/>
          </a:p>
        </p:txBody>
      </p:sp>
      <p:sp>
        <p:nvSpPr>
          <p:cNvPr id="15" name="Rectangle 14"/>
          <p:cNvSpPr/>
          <p:nvPr/>
        </p:nvSpPr>
        <p:spPr>
          <a:xfrm>
            <a:off x="10045454" y="4069121"/>
            <a:ext cx="1846275" cy="307777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 Generated Token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4556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Speculative Decoding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025864"/>
            <a:ext cx="109118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small fast model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speculate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future tokens and let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large model verify them in one pass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How speculative decoding works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Two models are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Draft model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(small &amp; fast)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Target model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(large &amp; accurate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1 – Draft model predicts multiple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Step 2 – Large model verifies them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Speculative decoding is implemented in systems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TensorRT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-LLM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Hugging Face Transformers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66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Core Layers of Model Inference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025864"/>
            <a:ext cx="10911839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inference is the process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using a trained machine learning model to make predictions on new data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During inference the system must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scalable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memory efficient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able to serve many users 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is why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production inference requires multiple infrastructure layers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not just the training framework.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Core Layers of Model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Optimization Layer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	↓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Inference Runtime / Engine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		↓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Inference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pPr lvl="3"/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layer solves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different problem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57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Layer </a:t>
            </a: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1 — Model Optimization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025864"/>
            <a:ext cx="1091183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optimization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transforms a trained model into a faster and more efficient version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before execution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tools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transform models into optimized graphs or kernels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It reduces: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latency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GPU memory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compute cost 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Graph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Layer fusion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Kernel fusion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Quantization (FP16 / INT8 / 4bit)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Memory planning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Tensor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parallelism planning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55839" y="2062268"/>
            <a:ext cx="38201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ONNX export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TensorRT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 (.plan)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↓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TensorRT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     ↓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GPU </a:t>
            </a:r>
            <a:r>
              <a:rPr lang="en-IN" dirty="0" smtClean="0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6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Layer </a:t>
            </a: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1 — Model Optimization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938066"/>
              </p:ext>
            </p:extLst>
          </p:nvPr>
        </p:nvGraphicFramePr>
        <p:xfrm>
          <a:off x="1188721" y="1466850"/>
          <a:ext cx="9723119" cy="429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73896">
                  <a:extLst>
                    <a:ext uri="{9D8B030D-6E8A-4147-A177-3AD203B41FA5}">
                      <a16:colId xmlns:a16="http://schemas.microsoft.com/office/drawing/2014/main" val="4235262028"/>
                    </a:ext>
                  </a:extLst>
                </a:gridCol>
                <a:gridCol w="1873896">
                  <a:extLst>
                    <a:ext uri="{9D8B030D-6E8A-4147-A177-3AD203B41FA5}">
                      <a16:colId xmlns:a16="http://schemas.microsoft.com/office/drawing/2014/main" val="2663067483"/>
                    </a:ext>
                  </a:extLst>
                </a:gridCol>
                <a:gridCol w="5975327">
                  <a:extLst>
                    <a:ext uri="{9D8B030D-6E8A-4147-A177-3AD203B41FA5}">
                      <a16:colId xmlns:a16="http://schemas.microsoft.com/office/drawing/2014/main" val="24481767"/>
                    </a:ext>
                  </a:extLst>
                </a:gridCol>
              </a:tblGrid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Framework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Ecosystem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Standout Feature (2026)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750529325"/>
                  </a:ext>
                </a:extLst>
              </a:tr>
              <a:tr h="592460">
                <a:tc>
                  <a:txBody>
                    <a:bodyPr/>
                    <a:lstStyle/>
                    <a:p>
                      <a:pPr rtl="0"/>
                      <a:r>
                        <a:rPr lang="en-IN" sz="14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TensorRT</a:t>
                      </a:r>
                      <a:r>
                        <a:rPr lang="en-IN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-LLM or </a:t>
                      </a:r>
                      <a:r>
                        <a:rPr lang="en-IN" sz="14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TensorRT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PagedAttention integration &amp; native FP4 support for LLMs.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785683692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FasterTransformer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Now largely superseded by TensorRT-LLM but used for custom C++ backends.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033616591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OpenVINO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Speculative Decoding on NPUs; optimized for "Agentic AI" pipelines.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956569879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Olive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Automated "Passes" that search for the best quantization (INT4/FP8).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699643255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ONNX Runtime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"universal glue"; supports 15+ Execution Providers (EPs).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741773561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Apache TVM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 Source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Unity architecture—unified optimization across Relax and TIR layers.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678555473"/>
                  </a:ext>
                </a:extLst>
              </a:tr>
              <a:tr h="403950">
                <a:tc>
                  <a:txBody>
                    <a:bodyPr/>
                    <a:lstStyle/>
                    <a:p>
                      <a:pPr rtl="0"/>
                      <a:r>
                        <a:rPr lang="en-IN" sz="14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AITemplate</a:t>
                      </a:r>
                      <a:r>
                        <a:rPr lang="en-IN" sz="14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lang="en-IN" sz="14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Torchscipt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400" dirty="0" err="1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Pytorch</a:t>
                      </a:r>
                      <a:r>
                        <a:rPr lang="en-IN" sz="14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(Meta)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Transforms models into pure C++ code with zero framework overhead.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73441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31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Layer 2 — Inference Runtime / Engine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9134" y="1349030"/>
            <a:ext cx="107105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inference runtime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executes the optimized model on hardware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manages: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GPU kernels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allocation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KV cache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token generation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batching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runtime is essentially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execution engine for the neural network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69407"/>
              </p:ext>
            </p:extLst>
          </p:nvPr>
        </p:nvGraphicFramePr>
        <p:xfrm>
          <a:off x="1676400" y="4464050"/>
          <a:ext cx="81280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12813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39992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51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ONNX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94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TensorRT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4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OpenVINO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23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TorchScript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10971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547591" y="4014535"/>
            <a:ext cx="4608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run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general deep learning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05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Layer 2 — Inference Runtime / Engine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99134" y="1349030"/>
            <a:ext cx="107105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LLM Specialized Runtimes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828181"/>
              </p:ext>
            </p:extLst>
          </p:nvPr>
        </p:nvGraphicFramePr>
        <p:xfrm>
          <a:off x="914400" y="2062268"/>
          <a:ext cx="951992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0981">
                  <a:extLst>
                    <a:ext uri="{9D8B030D-6E8A-4147-A177-3AD203B41FA5}">
                      <a16:colId xmlns:a16="http://schemas.microsoft.com/office/drawing/2014/main" val="1383492649"/>
                    </a:ext>
                  </a:extLst>
                </a:gridCol>
                <a:gridCol w="4085632">
                  <a:extLst>
                    <a:ext uri="{9D8B030D-6E8A-4147-A177-3AD203B41FA5}">
                      <a16:colId xmlns:a16="http://schemas.microsoft.com/office/drawing/2014/main" val="3352380381"/>
                    </a:ext>
                  </a:extLst>
                </a:gridCol>
                <a:gridCol w="3173307">
                  <a:extLst>
                    <a:ext uri="{9D8B030D-6E8A-4147-A177-3AD203B41FA5}">
                      <a16:colId xmlns:a16="http://schemas.microsoft.com/office/drawing/2014/main" val="3643470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537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vLLM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University of California, Berkeley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PagedAttention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252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95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SGLang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Stanford University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7400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LMDeploy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OpenMMLab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acceleration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968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llama.cpp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ggerganov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90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ExLlama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turboderp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Quantized GPU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715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TensorRT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-LLM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GPU runtime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556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2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Layer 3 — Inference Server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025864"/>
            <a:ext cx="107105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an Inference Server?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inference server exposes the model as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API that applications can call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95680" y="1944447"/>
            <a:ext cx="100279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handles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 /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endpoints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Request batching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request scheduling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/ Routing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multi-model deployment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Without an inference server you would need to build these systems manually.</a:t>
            </a:r>
          </a:p>
        </p:txBody>
      </p:sp>
    </p:spTree>
    <p:extLst>
      <p:ext uri="{BB962C8B-B14F-4D97-AF65-F5344CB8AC3E}">
        <p14:creationId xmlns:p14="http://schemas.microsoft.com/office/powerpoint/2010/main" val="171395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Layer 3 — Inference Server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88879"/>
              </p:ext>
            </p:extLst>
          </p:nvPr>
        </p:nvGraphicFramePr>
        <p:xfrm>
          <a:off x="1808480" y="1705186"/>
          <a:ext cx="81280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6167664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85222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58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 Triton Inference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NVIDIA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08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TorchServe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92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TensorFlow Serving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5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Ray 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46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KServe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 community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11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Generation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 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24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vLLM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API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University of California, Berkeley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80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4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35" y="23724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Layer 3 — Inference Server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5893" y="2054841"/>
            <a:ext cx="310896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Model Export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ONNX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TensorRT</a:t>
            </a:r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TensorRT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Runtime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Triton Inference Server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HTTP /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gRPC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79695" y="1974751"/>
            <a:ext cx="265366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Batching + KV Cache</a:t>
            </a:r>
          </a:p>
          <a:p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PagedAttention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Client Applications</a:t>
            </a:r>
          </a:p>
          <a:p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Chatbots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/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5074" y="2071476"/>
            <a:ext cx="22555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Transformers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Accelerate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Text Generation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Inference(TGI) server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HTTP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4337" y="1466850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Hugging Face Stack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12712" y="1466850"/>
            <a:ext cx="1467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9447" y="1466850"/>
            <a:ext cx="2920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NVIDIA Production Stack</a:t>
            </a:r>
          </a:p>
        </p:txBody>
      </p:sp>
    </p:spTree>
    <p:extLst>
      <p:ext uri="{BB962C8B-B14F-4D97-AF65-F5344CB8AC3E}">
        <p14:creationId xmlns:p14="http://schemas.microsoft.com/office/powerpoint/2010/main" val="362220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35" y="23724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endParaRPr lang="en-I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9344" y="1192014"/>
            <a:ext cx="455284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https://docs.vllm.ai/en/latest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docs.vllm.ai/projects/recipes/en/latest/index.html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849344" y="1997645"/>
            <a:ext cx="10143776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 your terminal, you can </a:t>
            </a:r>
            <a:r>
              <a:rPr lang="en-US" altLang="en-US" sz="1400" dirty="0">
                <a:solidFill>
                  <a:srgbClr val="4051B5"/>
                </a:solidFill>
                <a:cs typeface="Arial" panose="020B0604020202020204" pitchFamily="34" charset="0"/>
              </a:rPr>
              <a:t>https://docs.vllm.ai/en/latest/getting_started/installation/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vLLM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</a:t>
            </a:r>
          </a:p>
          <a:p>
            <a:pPr lvl="0"/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then start the server with the 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4051B5"/>
                </a:solidFill>
                <a:effectLst/>
                <a:cs typeface="Arial" panose="020B0604020202020204" pitchFamily="34" charset="0"/>
                <a:hlinkClick r:id="rId5"/>
              </a:rPr>
              <a:t>vllm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4051B5"/>
                </a:solidFill>
                <a:effectLst/>
                <a:cs typeface="Arial" panose="020B0604020202020204" pitchFamily="34" charset="0"/>
                <a:hlinkClick r:id="rId5"/>
              </a:rPr>
              <a:t> serve</a:t>
            </a:r>
            <a:r>
              <a:rPr lang="en-US" altLang="en-US" sz="1400" dirty="0">
                <a:solidFill>
                  <a:srgbClr val="4051B5"/>
                </a:solidFill>
                <a:cs typeface="Arial" panose="020B0604020202020204" pitchFamily="34" charset="0"/>
              </a:rPr>
              <a:t> (</a:t>
            </a:r>
            <a:r>
              <a:rPr lang="en-US" altLang="en-US" sz="1400" dirty="0">
                <a:solidFill>
                  <a:srgbClr val="4051B5"/>
                </a:solidFill>
                <a:cs typeface="Arial" panose="020B0604020202020204" pitchFamily="34" charset="0"/>
                <a:hlinkClick r:id="rId5"/>
              </a:rPr>
              <a:t>https://docs.vllm.ai/en/latest/configuration/serve_args</a:t>
            </a:r>
            <a:r>
              <a:rPr lang="en-US" altLang="en-US" sz="1400" dirty="0" smtClean="0">
                <a:solidFill>
                  <a:srgbClr val="4051B5"/>
                </a:solidFill>
                <a:cs typeface="Arial" panose="020B0604020202020204" pitchFamily="34" charset="0"/>
                <a:hlinkClick r:id="rId5"/>
              </a:rPr>
              <a:t>/</a:t>
            </a:r>
            <a:r>
              <a:rPr lang="en-US" altLang="en-US" sz="1400" dirty="0" smtClean="0">
                <a:solidFill>
                  <a:srgbClr val="4051B5"/>
                </a:solidFill>
                <a:cs typeface="Arial" panose="020B0604020202020204" pitchFamily="34" charset="0"/>
              </a:rPr>
              <a:t>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 command. </a:t>
            </a:r>
          </a:p>
          <a:p>
            <a:pPr lvl="0"/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(You can also use our 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4051B5"/>
                </a:solidFill>
                <a:effectLst/>
                <a:cs typeface="Arial" panose="020B0604020202020204" pitchFamily="34" charset="0"/>
                <a:hlinkClick r:id="rId6"/>
              </a:rPr>
              <a:t>Docker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 image.)</a:t>
            </a:r>
          </a:p>
          <a:p>
            <a:endParaRPr lang="en-US" altLang="en-US" sz="1400" dirty="0" smtClean="0">
              <a:cs typeface="Arial" panose="020B0604020202020204" pitchFamily="34" charset="0"/>
            </a:endParaRPr>
          </a:p>
          <a:p>
            <a:r>
              <a:rPr lang="en-US" altLang="en-US" sz="1400" dirty="0" smtClean="0">
                <a:cs typeface="Arial" panose="020B0604020202020204" pitchFamily="34" charset="0"/>
              </a:rPr>
              <a:t>The</a:t>
            </a:r>
            <a:r>
              <a:rPr lang="en-US" altLang="en-US" sz="1400" dirty="0">
                <a:cs typeface="Arial" panose="020B0604020202020204" pitchFamily="34" charset="0"/>
              </a:rPr>
              <a:t> </a:t>
            </a:r>
            <a:r>
              <a:rPr lang="en-US" altLang="en-US" sz="1400" dirty="0" err="1">
                <a:solidFill>
                  <a:srgbClr val="36464E"/>
                </a:solidFill>
                <a:cs typeface="Arial" panose="020B0604020202020204" pitchFamily="34" charset="0"/>
              </a:rPr>
              <a:t>vllm</a:t>
            </a:r>
            <a:r>
              <a:rPr lang="en-US" altLang="en-US" sz="1400" dirty="0">
                <a:solidFill>
                  <a:srgbClr val="36464E"/>
                </a:solidFill>
                <a:cs typeface="Arial" panose="020B0604020202020204" pitchFamily="34" charset="0"/>
              </a:rPr>
              <a:t> serve</a:t>
            </a:r>
            <a:r>
              <a:rPr lang="en-US" altLang="en-US" sz="1400" dirty="0">
                <a:cs typeface="Arial" panose="020B0604020202020204" pitchFamily="34" charset="0"/>
              </a:rPr>
              <a:t> command is used to launch the </a:t>
            </a:r>
            <a:r>
              <a:rPr lang="en-US" altLang="en-US" sz="1400" dirty="0" err="1" smtClean="0">
                <a:cs typeface="Arial" panose="020B0604020202020204" pitchFamily="34" charset="0"/>
              </a:rPr>
              <a:t>OpenAI</a:t>
            </a:r>
            <a:r>
              <a:rPr lang="en-US" altLang="en-US" sz="1400" dirty="0" smtClean="0">
                <a:cs typeface="Arial" panose="020B0604020202020204" pitchFamily="34" charset="0"/>
              </a:rPr>
              <a:t>-compatible server</a:t>
            </a:r>
            <a:r>
              <a:rPr lang="en-US" altLang="en-US" sz="1400" dirty="0">
                <a:cs typeface="Arial" panose="020B0604020202020204" pitchFamily="34" charset="0"/>
              </a:rPr>
              <a:t>.  (</a:t>
            </a:r>
            <a:r>
              <a:rPr lang="en-US" altLang="en-US" sz="1400" dirty="0">
                <a:cs typeface="Arial" panose="020B0604020202020204" pitchFamily="34" charset="0"/>
                <a:hlinkClick r:id="rId7"/>
              </a:rPr>
              <a:t>https://docs.vllm.ai/en/latest/serving/openai_compatible_server</a:t>
            </a:r>
            <a:r>
              <a:rPr lang="en-US" altLang="en-US" sz="1400" dirty="0" smtClean="0">
                <a:cs typeface="Arial" panose="020B0604020202020204" pitchFamily="34" charset="0"/>
                <a:hlinkClick r:id="rId7"/>
              </a:rPr>
              <a:t>/</a:t>
            </a:r>
            <a:r>
              <a:rPr lang="en-US" altLang="en-US" sz="1400" dirty="0" smtClean="0">
                <a:cs typeface="Arial" panose="020B0604020202020204" pitchFamily="34" charset="0"/>
              </a:rPr>
              <a:t> )</a:t>
            </a:r>
            <a:endParaRPr lang="en-US" altLang="en-US" sz="1400" dirty="0">
              <a:cs typeface="Arial" panose="020B0604020202020204" pitchFamily="34" charset="0"/>
            </a:endParaRPr>
          </a:p>
          <a:p>
            <a:pPr lvl="0"/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lvl="0"/>
            <a:endParaRPr lang="en-US" altLang="en-US" sz="1400" dirty="0">
              <a:cs typeface="Arial" panose="020B0604020202020204" pitchFamily="34" charset="0"/>
            </a:endParaRPr>
          </a:p>
          <a:p>
            <a:pPr lvl="0"/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49344" y="3705804"/>
            <a:ext cx="184731" cy="30777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51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Office PowerPoint</Application>
  <PresentationFormat>Widescreen</PresentationFormat>
  <Paragraphs>451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Model Inference</vt:lpstr>
      <vt:lpstr>Inference Acceleration</vt:lpstr>
      <vt:lpstr>KV-Cache</vt:lpstr>
      <vt:lpstr>KV-Cache</vt:lpstr>
      <vt:lpstr>KV-Cache</vt:lpstr>
      <vt:lpstr>Paged KV cache</vt:lpstr>
      <vt:lpstr>Batching</vt:lpstr>
      <vt:lpstr>Continuous batching</vt:lpstr>
      <vt:lpstr>Speculative Decoding</vt:lpstr>
      <vt:lpstr>Core Layers of Model Inference</vt:lpstr>
      <vt:lpstr>Layer 1 — Model Optimization</vt:lpstr>
      <vt:lpstr>Layer 1 — Model Optimization</vt:lpstr>
      <vt:lpstr>Layer 2 — Inference Runtime / Engine</vt:lpstr>
      <vt:lpstr>Layer 2 — Inference Runtime / Engine</vt:lpstr>
      <vt:lpstr>Layer 3 — Inference Server</vt:lpstr>
      <vt:lpstr>Layer 3 — Inference Server</vt:lpstr>
      <vt:lpstr>Layer 3 — Inference Server</vt:lpstr>
      <vt:lpstr>vLLM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2026-04-09T19:11:55Z</dcterms:modified>
</cp:coreProperties>
</file>