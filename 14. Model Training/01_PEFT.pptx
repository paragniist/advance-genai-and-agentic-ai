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bookmarkIdSeed="2">
  <p:sldMasterIdLst>
    <p:sldMasterId id="2147483648" r:id="rId1"/>
  </p:sldMasterIdLst>
  <p:notesMasterIdLst>
    <p:notesMasterId r:id="rId28"/>
  </p:notesMasterIdLst>
  <p:sldIdLst>
    <p:sldId id="274" r:id="rId2"/>
    <p:sldId id="505" r:id="rId3"/>
    <p:sldId id="543" r:id="rId4"/>
    <p:sldId id="544" r:id="rId5"/>
    <p:sldId id="546" r:id="rId6"/>
    <p:sldId id="550" r:id="rId7"/>
    <p:sldId id="545" r:id="rId8"/>
    <p:sldId id="547" r:id="rId9"/>
    <p:sldId id="548" r:id="rId10"/>
    <p:sldId id="549" r:id="rId11"/>
    <p:sldId id="552" r:id="rId12"/>
    <p:sldId id="553" r:id="rId13"/>
    <p:sldId id="554" r:id="rId14"/>
    <p:sldId id="555" r:id="rId15"/>
    <p:sldId id="551" r:id="rId16"/>
    <p:sldId id="563" r:id="rId17"/>
    <p:sldId id="566" r:id="rId18"/>
    <p:sldId id="564" r:id="rId19"/>
    <p:sldId id="562" r:id="rId20"/>
    <p:sldId id="556" r:id="rId21"/>
    <p:sldId id="557" r:id="rId22"/>
    <p:sldId id="558" r:id="rId23"/>
    <p:sldId id="561" r:id="rId24"/>
    <p:sldId id="567" r:id="rId25"/>
    <p:sldId id="568" r:id="rId26"/>
    <p:sldId id="273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0HItghaSvE5eHsZb5weJ9w==" hashData="BoQOqkvidmGk1j3tAAkWyLrWfmmiZbhdOM4LiouzRHv5YU7Y0H2FUqTU2PWlcw/mpOiqD1h3VQuDsMtRXwqlLw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06" autoAdjust="0"/>
    <p:restoredTop sz="87313" autoAdjust="0"/>
  </p:normalViewPr>
  <p:slideViewPr>
    <p:cSldViewPr snapToGrid="0">
      <p:cViewPr varScale="1">
        <p:scale>
          <a:sx n="75" d="100"/>
          <a:sy n="75" d="100"/>
        </p:scale>
        <p:origin x="74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65ECAA-268E-4C0D-9FC7-17C53698496D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84D035-8484-4F58-9D29-A39A493CE1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0566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https://arxiv.org/pdf/2304.01933   -- </a:t>
            </a:r>
            <a:r>
              <a:rPr lang="en-US" dirty="0" smtClean="0"/>
              <a:t>LLM-Adapters: An Adapter Family for Parameter-Efficient Fine-Tuning of Large Language Models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4D035-8484-4F58-9D29-A39A493CE12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39239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4D035-8484-4F58-9D29-A39A493CE121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81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https://ollama.com/library/qwen3-vl:latest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4D035-8484-4F58-9D29-A39A493CE121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51103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https://ollama.com/library/qwen3-vl:latest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4D035-8484-4F58-9D29-A39A493CE121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50853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https://ollama.com/library/qwen3-vl:latest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4D035-8484-4F58-9D29-A39A493CE121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20949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https://ollama.com/library/qwen3-vl:latest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4D035-8484-4F58-9D29-A39A493CE121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865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7991F-E995-897B-29EE-7B505AB664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B67F7B-139D-FBEE-5DC8-2E47E96F6C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4AFDF-4EB4-2154-D568-E99CEAE5B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1859FE-B4A5-F459-6D01-CA55616D4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A9D83-4AD0-F06F-1BFD-7335E67B4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4629" y="75515"/>
            <a:ext cx="610970" cy="61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258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E64DD-1124-594C-D6C3-30AC77D82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956EB-D5B0-F889-4D83-707F88584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DB960-C94C-3229-A8BF-3F24767FB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BC9D0-5AF0-DB1E-FCC8-DF40FBA80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28B43-188B-BE7E-1FAD-B28D9A1D4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4629" y="75515"/>
            <a:ext cx="610970" cy="61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307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E9EB8-B517-7328-045D-4B42F4BE5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8749FE-223B-0565-51D9-E7E53B5578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3461B-39F7-04FD-57A8-48AD930AE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C0593-5333-C224-E1B2-B9C4B7D4A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4ADE0-4449-0BD6-D966-CBE208496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112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62BC8-D36F-6117-FAEA-86021EC6D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5CDAA-66A4-B827-7699-008FFE7F0D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5FF1F8-BAE7-DDAA-F6CA-97D830A92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3F4065-84FE-70CE-9B5B-A521F70EB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4FADE3-3E99-1A24-242B-3D30AA30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BD6DFB-8246-E19B-62C9-847771CAA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4629" y="75515"/>
            <a:ext cx="610970" cy="61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462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9FF33-E1F9-C9DF-28CF-2D93FA989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61D9D4-7C67-8F4B-F2C9-B50F979E9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E47A6A-A844-7785-EC67-177F6B94B3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9B2FA6-D7BB-E706-A3E8-01420028AA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08A30B-A453-4BFC-A2CB-5A150DDC4F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7DCAD0-84E3-47EE-3D70-9F876F0B8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432BE6-EB1D-4DA5-DB48-B58D962A5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2746C8-70CA-3360-6BC6-A40F5F239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0395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3445D-64B1-38C3-5E24-38598BEBE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786F1-B775-4C52-E819-3543529F9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173C8A-E876-90D6-B15F-115238CF9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0A1262-279B-4A6C-5CC3-C6A8887A5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270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D09089-4275-1048-CEE7-0A08D71C9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724FCE-FC51-100D-7EB4-2F6914D23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BBE78A-DA65-3C14-808A-55415599C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6753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B034B-8224-5F4C-8974-BA0376FEB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8BB6E-D8F6-DC0B-FCAC-E41539735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83FDD0-87F9-F157-8C07-205CD29C1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D131F2-E21E-1789-5933-56F48882B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1DBC4-505F-2A13-B335-1FE99DB35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D1DE6-DFF0-9B32-8951-71B5CAE27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0492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293B5-339E-870A-6EE5-0B819E5BA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56FB93-2AEC-67EB-4024-437105D2FB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CBA8DE-B9F6-F250-1B1E-B6DB595B1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74E7EB-F1EF-3651-2266-5B1F5AAFA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CF8B12-A386-0FB5-44B5-2D7767357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9B1C7B-6BD8-92FA-C044-366FF654F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001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36908-04DA-A591-9C9B-1F097FDDA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AE0DE2-418D-750C-597F-38D94976F6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9CDEA-53E8-2C23-CC9E-AF5A3901B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CAD83-374B-35CE-53E8-8899EA9B3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EC723-68AA-7191-39BE-8F208C92A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4964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231BD8-F8EB-C0C4-26BA-CA01B0753E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ED1228-3044-8025-2371-BBC89DB83E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A1DCB-8164-1EF0-D63F-0D51A08A3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40341-CF13-2A66-53D2-588E571DD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17D7C-CC1C-1264-2DA1-295E6D1AD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761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700B29-40C6-2BA3-A1E6-F3D6B197A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F8C6B-3E6D-5141-6436-161A08D0D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8DBB8-43B9-9730-B866-9A749FCB34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2066A6-D1A9-4114-9E94-251832C69923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D5448-9797-D45F-7189-84C1AE1CA6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ED67D6-EA6E-021B-9B76-56F9014206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0883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ADCAF8-8823-4E89-8612-21029831A4B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CA07B2-0819-4B62-9425-7A52BBDD707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A02BEE4-A5D4-40AF-882D-49D34B086FF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5843EB-154F-4459-8954-BB1DF64BBD1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5905135-55D9-431B-8D5A-4C5C92B1FED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B732812-A0BB-4324-B390-DFEF26C109E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1FEC055-6F76-4E20-BC93-76C2F58EAF3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74CD21D-122E-4F3D-82AF-F4A37C278AF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A7FF51F-3820-41BE-8690-7E758ECFA7C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5EAD889-EA4D-485F-BA9C-F6473A43299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A438EA56-8646-05A2-36D5-9122791CBC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08453" y="1178635"/>
            <a:ext cx="6548425" cy="3283103"/>
          </a:xfrm>
        </p:spPr>
        <p:txBody>
          <a:bodyPr>
            <a:normAutofit/>
          </a:bodyPr>
          <a:lstStyle/>
          <a:p>
            <a:r>
              <a:rPr lang="en-US" sz="66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PEFT(Parameter Efficient </a:t>
            </a:r>
            <a:r>
              <a:rPr lang="en-US" sz="6600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FineTuning</a:t>
            </a:r>
            <a:r>
              <a:rPr lang="en-US" sz="66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IN" sz="6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15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7415" y="75515"/>
            <a:ext cx="610970" cy="61097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0CC98F91-2037-6AAF-7C21-34FAB6DA435D}"/>
              </a:ext>
            </a:extLst>
          </p:cNvPr>
          <p:cNvGrpSpPr/>
          <p:nvPr/>
        </p:nvGrpSpPr>
        <p:grpSpPr>
          <a:xfrm>
            <a:off x="3626418" y="4759020"/>
            <a:ext cx="4445785" cy="589558"/>
            <a:chOff x="3614024" y="4908823"/>
            <a:chExt cx="4445785" cy="589558"/>
          </a:xfrm>
        </p:grpSpPr>
        <p:sp>
          <p:nvSpPr>
            <p:cNvPr id="18" name="Title 1">
              <a:extLst>
                <a:ext uri="{FF2B5EF4-FFF2-40B4-BE49-F238E27FC236}">
                  <a16:creationId xmlns:a16="http://schemas.microsoft.com/office/drawing/2014/main" id="{D64B9545-AA74-9959-DEF7-A5E273646E5C}"/>
                </a:ext>
              </a:extLst>
            </p:cNvPr>
            <p:cNvSpPr txBox="1">
              <a:spLocks/>
            </p:cNvSpPr>
            <p:nvPr/>
          </p:nvSpPr>
          <p:spPr>
            <a:xfrm>
              <a:off x="3614024" y="4908823"/>
              <a:ext cx="4445785" cy="58955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3200" dirty="0" smtClean="0"/>
                <a:t>By</a:t>
              </a:r>
              <a:r>
                <a:rPr lang="en-US" sz="3200" b="1" dirty="0" smtClean="0">
                  <a:solidFill>
                    <a:srgbClr val="00B0F0"/>
                  </a:solidFill>
                </a:rPr>
                <a:t> </a:t>
              </a:r>
              <a:endParaRPr lang="en-US" sz="3200" b="1" dirty="0">
                <a:solidFill>
                  <a:srgbClr val="00B050"/>
                </a:solidFill>
              </a:endParaRPr>
            </a:p>
          </p:txBody>
        </p:sp>
        <p:pic>
          <p:nvPicPr>
            <p:cNvPr id="19" name="Picture 18" descr="A blue and green logo&#10;&#10;Description automatically generated">
              <a:extLst>
                <a:ext uri="{FF2B5EF4-FFF2-40B4-BE49-F238E27FC236}">
                  <a16:creationId xmlns:a16="http://schemas.microsoft.com/office/drawing/2014/main" id="{93B8DE8A-D399-DD1D-681B-D87204E487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67646" y="4908823"/>
              <a:ext cx="589558" cy="5895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28675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PreTraining</a:t>
            </a:r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Vs </a:t>
            </a:r>
            <a:r>
              <a:rPr lang="en-IN" sz="3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FineTuning</a:t>
            </a:r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Vs PEFT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75819" y="931454"/>
            <a:ext cx="5828842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PreTraining</a:t>
            </a:r>
            <a:endParaRPr lang="en-US" sz="20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Training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 model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from scratch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on a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huge, generic corpus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so it learns: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Language structure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World knowledge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Reasoning patterns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Objective</a:t>
            </a:r>
          </a:p>
          <a:p>
            <a:pPr lvl="1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Usually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self-supervised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Next-token prediction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Masked language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modeling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Internet text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Books, code, papers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Trillions of tokens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Parameters updated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All 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model </a:t>
            </a:r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parameters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Cost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Very expensive</a:t>
            </a:r>
            <a:endParaRPr lang="en-US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987540" y="2873663"/>
            <a:ext cx="429006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GPT-3, </a:t>
            </a:r>
            <a:r>
              <a:rPr lang="en-US" alt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LLaMA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Mistral base models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Training on thousands of GPUs for weeks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Mental model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“Teach the model how language works.”</a:t>
            </a:r>
          </a:p>
        </p:txBody>
      </p:sp>
    </p:spTree>
    <p:extLst>
      <p:ext uri="{BB962C8B-B14F-4D97-AF65-F5344CB8AC3E}">
        <p14:creationId xmlns:p14="http://schemas.microsoft.com/office/powerpoint/2010/main" val="227425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PreTraining</a:t>
            </a:r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Vs </a:t>
            </a:r>
            <a:r>
              <a:rPr lang="en-IN" sz="3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FineTuning</a:t>
            </a:r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Vs PEFT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75819" y="931454"/>
            <a:ext cx="5264962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FineTuning</a:t>
            </a:r>
            <a:endParaRPr lang="en-US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 smtClean="0">
                <a:latin typeface="Arial" panose="020B0604020202020204" pitchFamily="34" charset="0"/>
              </a:rPr>
              <a:t>Further </a:t>
            </a:r>
            <a:r>
              <a:rPr lang="en-US" altLang="en-US" sz="1400" dirty="0">
                <a:latin typeface="Arial" panose="020B0604020202020204" pitchFamily="34" charset="0"/>
              </a:rPr>
              <a:t>training a </a:t>
            </a:r>
            <a:r>
              <a:rPr lang="en-US" altLang="en-US" sz="1400" b="1" dirty="0" err="1">
                <a:latin typeface="Arial" panose="020B0604020202020204" pitchFamily="34" charset="0"/>
              </a:rPr>
              <a:t>pretrained</a:t>
            </a:r>
            <a:r>
              <a:rPr lang="en-US" altLang="en-US" sz="1400" b="1" dirty="0">
                <a:latin typeface="Arial" panose="020B0604020202020204" pitchFamily="34" charset="0"/>
              </a:rPr>
              <a:t> model</a:t>
            </a:r>
            <a:r>
              <a:rPr lang="en-US" altLang="en-US" sz="1400" dirty="0">
                <a:latin typeface="Arial" panose="020B0604020202020204" pitchFamily="34" charset="0"/>
              </a:rPr>
              <a:t> on a </a:t>
            </a:r>
            <a:r>
              <a:rPr lang="en-US" altLang="en-US" sz="1400" b="1" dirty="0">
                <a:latin typeface="Arial" panose="020B0604020202020204" pitchFamily="34" charset="0"/>
              </a:rPr>
              <a:t>task-specific dataset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b="1" dirty="0">
                <a:latin typeface="Arial" panose="020B0604020202020204" pitchFamily="34" charset="0"/>
              </a:rPr>
              <a:t>Objective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Instruction following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Classification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Domain adaptation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Chat alignment (SFT, RLHF)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b="1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b="1" dirty="0">
                <a:latin typeface="Arial" panose="020B0604020202020204" pitchFamily="34" charset="0"/>
              </a:rPr>
              <a:t>Data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Labeled or curated datasets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Much smaller than </a:t>
            </a:r>
            <a:r>
              <a:rPr lang="en-US" altLang="en-US" sz="1400" dirty="0" err="1">
                <a:latin typeface="Arial" panose="020B0604020202020204" pitchFamily="34" charset="0"/>
              </a:rPr>
              <a:t>pretraining</a:t>
            </a:r>
            <a:endParaRPr lang="en-US" altLang="en-US" sz="1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b="1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b="1" dirty="0">
                <a:latin typeface="Arial" panose="020B0604020202020204" pitchFamily="34" charset="0"/>
              </a:rPr>
              <a:t>Parameters updated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 smtClean="0">
                <a:latin typeface="Arial" panose="020B0604020202020204" pitchFamily="34" charset="0"/>
              </a:rPr>
              <a:t>All </a:t>
            </a:r>
            <a:r>
              <a:rPr lang="en-US" altLang="en-US" sz="1400" dirty="0">
                <a:latin typeface="Arial" panose="020B0604020202020204" pitchFamily="34" charset="0"/>
              </a:rPr>
              <a:t>parameters (same as base model)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b="1" dirty="0">
                <a:latin typeface="Arial" panose="020B0604020202020204" pitchFamily="34" charset="0"/>
              </a:rPr>
              <a:t>Cost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 smtClean="0">
                <a:latin typeface="Arial" panose="020B0604020202020204" pitchFamily="34" charset="0"/>
              </a:rPr>
              <a:t>Still expensive</a:t>
            </a:r>
            <a:endParaRPr lang="en-US" altLang="en-US" sz="1400" b="1" dirty="0"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37998" y="1456941"/>
            <a:ext cx="417576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b="1" dirty="0">
                <a:latin typeface="Arial" panose="020B0604020202020204" pitchFamily="34" charset="0"/>
              </a:rPr>
              <a:t>Pros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Maximum flexibility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Strong task performance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b="1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b="1" dirty="0">
                <a:latin typeface="Arial" panose="020B0604020202020204" pitchFamily="34" charset="0"/>
              </a:rPr>
              <a:t>Cons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High GPU memory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Risk of </a:t>
            </a:r>
            <a:r>
              <a:rPr lang="en-US" altLang="en-US" sz="1400" b="1" dirty="0">
                <a:latin typeface="Arial" panose="020B0604020202020204" pitchFamily="34" charset="0"/>
              </a:rPr>
              <a:t>catastrophic forgetting</a:t>
            </a:r>
            <a:endParaRPr lang="en-US" altLang="en-US" sz="1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b="1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b="1" dirty="0">
                <a:latin typeface="Arial" panose="020B0604020202020204" pitchFamily="34" charset="0"/>
              </a:rPr>
              <a:t>Example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Fine-tuning </a:t>
            </a:r>
            <a:r>
              <a:rPr lang="en-US" altLang="en-US" sz="1400" dirty="0" err="1">
                <a:latin typeface="Arial" panose="020B0604020202020204" pitchFamily="34" charset="0"/>
              </a:rPr>
              <a:t>LLaMA</a:t>
            </a:r>
            <a:r>
              <a:rPr lang="en-US" altLang="en-US" sz="1400" dirty="0">
                <a:latin typeface="Arial" panose="020B0604020202020204" pitchFamily="34" charset="0"/>
              </a:rPr>
              <a:t> on medical QA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Chat models trained via SFT + RLHF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b="1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b="1" dirty="0">
                <a:latin typeface="Arial" panose="020B0604020202020204" pitchFamily="34" charset="0"/>
              </a:rPr>
              <a:t>Mental model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Arial" panose="020B0604020202020204" pitchFamily="34" charset="0"/>
              </a:rPr>
              <a:t>“Rewire the entire brain for a specific task.”</a:t>
            </a:r>
          </a:p>
        </p:txBody>
      </p:sp>
    </p:spTree>
    <p:extLst>
      <p:ext uri="{BB962C8B-B14F-4D97-AF65-F5344CB8AC3E}">
        <p14:creationId xmlns:p14="http://schemas.microsoft.com/office/powerpoint/2010/main" val="4241344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PreTraining</a:t>
            </a:r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Vs </a:t>
            </a:r>
            <a:r>
              <a:rPr lang="en-IN" sz="3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FineTuning</a:t>
            </a:r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Vs PEFT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75818" y="931454"/>
            <a:ext cx="7282357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PEFT(Parameter Efficient Fine Tuning)</a:t>
            </a:r>
          </a:p>
          <a:p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Fine-tuning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only a small subset of parameters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while keeping the base model 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frozen.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Parameters updated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Base 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model </a:t>
            </a:r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frozen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Only 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adapter parameters (0.1%–2%)</a:t>
            </a:r>
            <a:endParaRPr lang="en-US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Cost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Very cheap</a:t>
            </a:r>
            <a:endParaRPr lang="en-US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Pros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Memory efficient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Faster training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Multiple adapters per base model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Cons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Slight performance trade-off vs full FT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Fine-tuning LLaMA-2-7B using </a:t>
            </a:r>
            <a:r>
              <a:rPr lang="en-US" alt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LoRA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(r=8)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Domain adapters for finance, legal, healthcare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Mental </a:t>
            </a:r>
            <a:r>
              <a:rPr lang="en-US" alt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endParaRPr lang="en-US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“Add skill modules without changing the brain.”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5340176"/>
              </p:ext>
            </p:extLst>
          </p:nvPr>
        </p:nvGraphicFramePr>
        <p:xfrm>
          <a:off x="7610475" y="2551436"/>
          <a:ext cx="4000500" cy="15544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37862">
                  <a:extLst>
                    <a:ext uri="{9D8B030D-6E8A-4147-A177-3AD203B41FA5}">
                      <a16:colId xmlns:a16="http://schemas.microsoft.com/office/drawing/2014/main" val="3747759990"/>
                    </a:ext>
                  </a:extLst>
                </a:gridCol>
                <a:gridCol w="3162638">
                  <a:extLst>
                    <a:ext uri="{9D8B030D-6E8A-4147-A177-3AD203B41FA5}">
                      <a16:colId xmlns:a16="http://schemas.microsoft.com/office/drawing/2014/main" val="956042555"/>
                    </a:ext>
                  </a:extLst>
                </a:gridCol>
              </a:tblGrid>
              <a:tr h="193895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What it does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0448811"/>
                  </a:ext>
                </a:extLst>
              </a:tr>
              <a:tr h="323159"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Adds low-rank adapters to attention/MLP layers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1101715"/>
                  </a:ext>
                </a:extLst>
              </a:tr>
              <a:tr h="193895"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QLoRA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LoRA</a:t>
                      </a: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+ 4-bit quantization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0002410"/>
                  </a:ext>
                </a:extLst>
              </a:tr>
              <a:tr h="193895"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Series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Adding adapter layers</a:t>
                      </a:r>
                      <a:r>
                        <a:rPr lang="en-IN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 series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2034774"/>
                  </a:ext>
                </a:extLst>
              </a:tr>
              <a:tr h="193895"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Parallel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Adding adapter layers in Parallel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9996007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515921" y="2148079"/>
            <a:ext cx="244009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Popular PEFT methods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77000" y="4577060"/>
            <a:ext cx="54483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Adapters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are a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parameter-efficient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way to fine-tune large models without modifying all of their original weights.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9436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PreTraining</a:t>
            </a:r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Vs </a:t>
            </a:r>
            <a:r>
              <a:rPr lang="en-IN" sz="3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FineTuning</a:t>
            </a:r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Vs PEFT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0781547"/>
              </p:ext>
            </p:extLst>
          </p:nvPr>
        </p:nvGraphicFramePr>
        <p:xfrm>
          <a:off x="992188" y="1605491"/>
          <a:ext cx="10055224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513806">
                  <a:extLst>
                    <a:ext uri="{9D8B030D-6E8A-4147-A177-3AD203B41FA5}">
                      <a16:colId xmlns:a16="http://schemas.microsoft.com/office/drawing/2014/main" val="1213063618"/>
                    </a:ext>
                  </a:extLst>
                </a:gridCol>
                <a:gridCol w="2513806">
                  <a:extLst>
                    <a:ext uri="{9D8B030D-6E8A-4147-A177-3AD203B41FA5}">
                      <a16:colId xmlns:a16="http://schemas.microsoft.com/office/drawing/2014/main" val="4070208560"/>
                    </a:ext>
                  </a:extLst>
                </a:gridCol>
                <a:gridCol w="2513806">
                  <a:extLst>
                    <a:ext uri="{9D8B030D-6E8A-4147-A177-3AD203B41FA5}">
                      <a16:colId xmlns:a16="http://schemas.microsoft.com/office/drawing/2014/main" val="650731555"/>
                    </a:ext>
                  </a:extLst>
                </a:gridCol>
                <a:gridCol w="2513806">
                  <a:extLst>
                    <a:ext uri="{9D8B030D-6E8A-4147-A177-3AD203B41FA5}">
                      <a16:colId xmlns:a16="http://schemas.microsoft.com/office/drawing/2014/main" val="6562440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Aspect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Pretraining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Fine-tuning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PEFT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408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 point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Random init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Pretrained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Pretrained model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6988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Params trained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 0.1 – 2</a:t>
                      </a: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85007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Small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3294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Very 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7767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Risk of forgetting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</a:t>
                      </a:r>
                      <a:endParaRPr lang="en-IN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Possible</a:t>
                      </a:r>
                      <a:endParaRPr lang="en-IN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en-IN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24849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6864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Adapters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31" y="2581174"/>
            <a:ext cx="5242798" cy="2819501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62000" y="897473"/>
            <a:ext cx="1034415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Adapters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are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small trainable modules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inserted into a frozen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pretrained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model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Adapters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can vary based on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where they are inserted and how they interact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with the main model. 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657850" y="1666453"/>
            <a:ext cx="6429375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a. 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Prefix Tuning / Prompt-based Adapter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Instead of adding weights in the layer, 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learns extra “prefix tokens”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that are prepended to the input sequence.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Works well for 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language models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because it can guide attention mechanisms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5850" lvl="2" indent="-171450">
              <a:buFont typeface="Wingdings" panose="05000000000000000000" pitchFamily="2" charset="2"/>
              <a:buChar char="v"/>
            </a:pP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Input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Tokens 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[Learned Prefix] + Input 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Transformer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b.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LoRA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(Low-Rank Adaptation)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Special form of adapter applied 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to projection matrices in attention layers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(Q, K, V, or output).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Replaces full weight updates with 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low-rank matrices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Efficient and often achieves comparable performance to full fine-tuning.</a:t>
            </a:r>
          </a:p>
          <a:p>
            <a:endParaRPr lang="en-US" sz="12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Standard (Sequential) Adapter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Inserted 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after each transformer layer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sequentially.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Only adapter parameters are trained.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Simple and widely used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5850" lvl="2" indent="-171450">
              <a:buFont typeface="Wingdings" panose="05000000000000000000" pitchFamily="2" charset="2"/>
              <a:buChar char="v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Transformer Layer 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Adapter 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Next Layer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d. 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Parallel Adapter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Adapter runs 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in parallel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to the layer output.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Output = Layer output + Adapter output.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Advantage: Original layer computation is preserved; adapter adds task-specific info.</a:t>
            </a:r>
          </a:p>
          <a:p>
            <a:pPr lvl="1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5850" lvl="2" indent="-171450">
              <a:buFont typeface="Wingdings" panose="05000000000000000000" pitchFamily="2" charset="2"/>
              <a:buChar char="v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Output = Layer(input) + Adapter(input)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67713" y="2126117"/>
            <a:ext cx="28007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Common types include: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6754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LoRA</a:t>
            </a:r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 (Low-Rank Adaptation)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75818" y="931454"/>
            <a:ext cx="7282357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What problem </a:t>
            </a:r>
            <a:r>
              <a:rPr lang="en-US" alt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LoRA</a:t>
            </a: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solves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Full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fine-tuning updates </a:t>
            </a: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billions of parameters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which causes: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High GPU memory usage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Slow training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Storage issues (one copy per task)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Risk of catastrophic forgetting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LoRA</a:t>
            </a: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solves this by: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Freezing the base model and learning </a:t>
            </a: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low-rank updates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to weight matrices</a:t>
            </a: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5315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LoRA</a:t>
            </a:r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 (Low-Rank Adaptation)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3" name="Picture 3" descr="Understanding LoRA - Low Rank Adaptation For Finetuning Large Models |  Towards Data Scienc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226" y="959663"/>
            <a:ext cx="5191125" cy="4200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0670" y="1168485"/>
            <a:ext cx="4503810" cy="398560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0670" y="5867328"/>
            <a:ext cx="3624962" cy="7370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03514" y="5375110"/>
            <a:ext cx="6096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Alpha (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scaling factor</a:t>
            </a:r>
            <a:r>
              <a:rPr lang="en-IN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controls the magnitude of </a:t>
            </a:r>
            <a:r>
              <a:rPr lang="en-IN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LoRA’s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 contribution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Larger </a:t>
            </a:r>
            <a:r>
              <a:rPr lang="el-GR" sz="1400" b="1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l-GR" sz="1400" dirty="0">
                <a:latin typeface="Arial" panose="020B0604020202020204" pitchFamily="34" charset="0"/>
                <a:cs typeface="Arial" panose="020B0604020202020204" pitchFamily="34" charset="0"/>
              </a:rPr>
              <a:t> →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LoRA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update has 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more influence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Smaller </a:t>
            </a:r>
            <a:r>
              <a:rPr lang="el-GR" sz="1400" b="1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l-GR" sz="1400" dirty="0">
                <a:latin typeface="Arial" panose="020B0604020202020204" pitchFamily="34" charset="0"/>
                <a:cs typeface="Arial" panose="020B0604020202020204" pitchFamily="34" charset="0"/>
              </a:rPr>
              <a:t> →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LoRA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update is 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weaker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, base model dominates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Think of alpha as a 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volume knob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for the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LoRA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adapter</a:t>
            </a:r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IN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 = Rank of </a:t>
            </a:r>
            <a:r>
              <a:rPr lang="en-IN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LoRA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2511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LoRA</a:t>
            </a:r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 (Low-Rank Adaptation)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62000" y="1025433"/>
            <a:ext cx="982428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What is “rank” (core concept)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Rank = number of linearly independent rows or columns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Equivalently: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Rank = number of independent directions the matrix can represent.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4670" y="3020062"/>
            <a:ext cx="9305925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Visual intuition (very important)</a:t>
            </a:r>
          </a:p>
          <a:p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Imagine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points in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3D space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Full-rank transformation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Points spread in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x, y, z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You need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3 independent directions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Low-rank transformation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All points lie on: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plane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→ rank = 2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line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→ rank = 1</a:t>
            </a:r>
          </a:p>
          <a:p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Shadow for a real object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093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Rank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265746"/>
            <a:ext cx="3986174" cy="124244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0710" y="4296394"/>
            <a:ext cx="1958624" cy="1084018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1839" y="1272123"/>
            <a:ext cx="3207403" cy="1282961"/>
          </a:xfrm>
          <a:prstGeom prst="rect">
            <a:avLst/>
          </a:prstGeom>
        </p:spPr>
      </p:pic>
      <p:cxnSp>
        <p:nvCxnSpPr>
          <p:cNvPr id="21" name="Straight Arrow Connector 20"/>
          <p:cNvCxnSpPr/>
          <p:nvPr/>
        </p:nvCxnSpPr>
        <p:spPr>
          <a:xfrm>
            <a:off x="5137657" y="1956007"/>
            <a:ext cx="209550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29" name="Group 28"/>
          <p:cNvGrpSpPr/>
          <p:nvPr/>
        </p:nvGrpSpPr>
        <p:grpSpPr>
          <a:xfrm>
            <a:off x="184731" y="2709296"/>
            <a:ext cx="7444665" cy="4028136"/>
            <a:chOff x="184731" y="2709296"/>
            <a:chExt cx="7444665" cy="4028136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8011" y="2828806"/>
              <a:ext cx="3221564" cy="1832169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98011" y="4765990"/>
              <a:ext cx="3111263" cy="1638322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31055" y="2709296"/>
              <a:ext cx="1493520" cy="921926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832615" y="4952911"/>
              <a:ext cx="1386960" cy="266723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491862" y="4812815"/>
              <a:ext cx="2518534" cy="937752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491862" y="5798788"/>
              <a:ext cx="2432813" cy="938644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491862" y="3760155"/>
              <a:ext cx="1693545" cy="982256"/>
            </a:xfrm>
            <a:prstGeom prst="rect">
              <a:avLst/>
            </a:prstGeom>
          </p:spPr>
        </p:pic>
        <p:sp>
          <p:nvSpPr>
            <p:cNvPr id="22" name="Double Brace 21"/>
            <p:cNvSpPr/>
            <p:nvPr/>
          </p:nvSpPr>
          <p:spPr>
            <a:xfrm>
              <a:off x="184731" y="2828806"/>
              <a:ext cx="7444665" cy="3908626"/>
            </a:xfrm>
            <a:prstGeom prst="bracePair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3" name="Right Arrow 22"/>
          <p:cNvSpPr/>
          <p:nvPr/>
        </p:nvSpPr>
        <p:spPr>
          <a:xfrm>
            <a:off x="7997153" y="4666473"/>
            <a:ext cx="685800" cy="34386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/>
          <p:cNvSpPr/>
          <p:nvPr/>
        </p:nvSpPr>
        <p:spPr>
          <a:xfrm>
            <a:off x="7731368" y="3370889"/>
            <a:ext cx="411956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4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Here the Rank = 2 i.e. 2 independent columns from which actual matrix can be represented</a:t>
            </a:r>
            <a:endParaRPr lang="en-IN" sz="1400" b="1" dirty="0">
              <a:solidFill>
                <a:srgbClr val="0070C0"/>
              </a:solidFill>
            </a:endParaRPr>
          </a:p>
        </p:txBody>
      </p:sp>
      <p:sp>
        <p:nvSpPr>
          <p:cNvPr id="26" name="Rectangle 1"/>
          <p:cNvSpPr>
            <a:spLocks noChangeArrowheads="1"/>
          </p:cNvSpPr>
          <p:nvPr/>
        </p:nvSpPr>
        <p:spPr bwMode="auto">
          <a:xfrm>
            <a:off x="7731368" y="2641710"/>
            <a:ext cx="44481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Left matrix →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column space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Right matrix →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how each column is built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064743" y="5754296"/>
            <a:ext cx="411956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4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C3,C4,C5 columns are dependent on C1,C2 where C1,C2 are independent columns</a:t>
            </a:r>
            <a:endParaRPr lang="en-IN" sz="1400" b="1" dirty="0">
              <a:solidFill>
                <a:srgbClr val="0070C0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762000" y="902548"/>
            <a:ext cx="802957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Rank = number of linearly independent rows or columns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4186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LoRA</a:t>
            </a:r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 (Low-Rank Adaptation)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4512766"/>
              </p:ext>
            </p:extLst>
          </p:nvPr>
        </p:nvGraphicFramePr>
        <p:xfrm>
          <a:off x="1079500" y="1748406"/>
          <a:ext cx="4473575" cy="34137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94715">
                  <a:extLst>
                    <a:ext uri="{9D8B030D-6E8A-4147-A177-3AD203B41FA5}">
                      <a16:colId xmlns:a16="http://schemas.microsoft.com/office/drawing/2014/main" val="1543853336"/>
                    </a:ext>
                  </a:extLst>
                </a:gridCol>
                <a:gridCol w="894715">
                  <a:extLst>
                    <a:ext uri="{9D8B030D-6E8A-4147-A177-3AD203B41FA5}">
                      <a16:colId xmlns:a16="http://schemas.microsoft.com/office/drawing/2014/main" val="401065878"/>
                    </a:ext>
                  </a:extLst>
                </a:gridCol>
                <a:gridCol w="894715">
                  <a:extLst>
                    <a:ext uri="{9D8B030D-6E8A-4147-A177-3AD203B41FA5}">
                      <a16:colId xmlns:a16="http://schemas.microsoft.com/office/drawing/2014/main" val="3411462250"/>
                    </a:ext>
                  </a:extLst>
                </a:gridCol>
                <a:gridCol w="894715">
                  <a:extLst>
                    <a:ext uri="{9D8B030D-6E8A-4147-A177-3AD203B41FA5}">
                      <a16:colId xmlns:a16="http://schemas.microsoft.com/office/drawing/2014/main" val="407284027"/>
                    </a:ext>
                  </a:extLst>
                </a:gridCol>
                <a:gridCol w="894715">
                  <a:extLst>
                    <a:ext uri="{9D8B030D-6E8A-4147-A177-3AD203B41FA5}">
                      <a16:colId xmlns:a16="http://schemas.microsoft.com/office/drawing/2014/main" val="10989968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IN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Rank</a:t>
                      </a:r>
                      <a:endParaRPr lang="en-IN" sz="1200" dirty="0">
                        <a:solidFill>
                          <a:srgbClr val="444746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21920"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7B</a:t>
                      </a:r>
                      <a:endParaRPr lang="en-IN" sz="1200">
                        <a:solidFill>
                          <a:srgbClr val="444746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13B</a:t>
                      </a:r>
                      <a:endParaRPr lang="en-IN" sz="1200">
                        <a:solidFill>
                          <a:srgbClr val="444746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70B</a:t>
                      </a:r>
                      <a:endParaRPr lang="en-IN" sz="1200">
                        <a:solidFill>
                          <a:srgbClr val="444746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180B</a:t>
                      </a:r>
                      <a:endParaRPr lang="en-IN" sz="1200">
                        <a:solidFill>
                          <a:srgbClr val="444746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52400" marT="121920" marB="121920" anchor="ctr"/>
                </a:tc>
                <a:extLst>
                  <a:ext uri="{0D108BD9-81ED-4DB2-BD59-A6C34878D82A}">
                    <a16:rowId xmlns:a16="http://schemas.microsoft.com/office/drawing/2014/main" val="546217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21920"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167k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228k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529k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849k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52400" marT="121920" marB="121920" anchor="ctr"/>
                </a:tc>
                <a:extLst>
                  <a:ext uri="{0D108BD9-81ED-4DB2-BD59-A6C34878D82A}">
                    <a16:rowId xmlns:a16="http://schemas.microsoft.com/office/drawing/2014/main" val="2643066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21920"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334k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456k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1M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2M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52400" marT="121920" marB="121920" anchor="ctr"/>
                </a:tc>
                <a:extLst>
                  <a:ext uri="{0D108BD9-81ED-4DB2-BD59-A6C34878D82A}">
                    <a16:rowId xmlns:a16="http://schemas.microsoft.com/office/drawing/2014/main" val="1537589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21920"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1M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2M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4M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7M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52400" marT="121920" marB="121920" anchor="ctr"/>
                </a:tc>
                <a:extLst>
                  <a:ext uri="{0D108BD9-81ED-4DB2-BD59-A6C34878D82A}">
                    <a16:rowId xmlns:a16="http://schemas.microsoft.com/office/drawing/2014/main" val="30960667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21920"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3M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4M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8M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14M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52400" marT="121920" marB="121920" anchor="ctr"/>
                </a:tc>
                <a:extLst>
                  <a:ext uri="{0D108BD9-81ED-4DB2-BD59-A6C34878D82A}">
                    <a16:rowId xmlns:a16="http://schemas.microsoft.com/office/drawing/2014/main" val="3081357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512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21920"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86M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117M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270M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434M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52400" marT="121920" marB="121920" anchor="ctr"/>
                </a:tc>
                <a:extLst>
                  <a:ext uri="{0D108BD9-81ED-4DB2-BD59-A6C34878D82A}">
                    <a16:rowId xmlns:a16="http://schemas.microsoft.com/office/drawing/2014/main" val="1179723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1,024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21920"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171M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233M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542M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869M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52400" marT="121920" marB="121920" anchor="ctr"/>
                </a:tc>
                <a:extLst>
                  <a:ext uri="{0D108BD9-81ED-4DB2-BD59-A6C34878D82A}">
                    <a16:rowId xmlns:a16="http://schemas.microsoft.com/office/drawing/2014/main" val="3560178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8,192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21920"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1.4B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1.8B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4.3B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7.0B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52400" marT="121920" marB="121920" anchor="ctr"/>
                </a:tc>
                <a:extLst>
                  <a:ext uri="{0D108BD9-81ED-4DB2-BD59-A6C34878D82A}">
                    <a16:rowId xmlns:a16="http://schemas.microsoft.com/office/drawing/2014/main" val="2397770048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003300" y="1193402"/>
            <a:ext cx="37369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Number of Trainable Parameters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6949630"/>
              </p:ext>
            </p:extLst>
          </p:nvPr>
        </p:nvGraphicFramePr>
        <p:xfrm>
          <a:off x="6650355" y="1715637"/>
          <a:ext cx="4579620" cy="34137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15924">
                  <a:extLst>
                    <a:ext uri="{9D8B030D-6E8A-4147-A177-3AD203B41FA5}">
                      <a16:colId xmlns:a16="http://schemas.microsoft.com/office/drawing/2014/main" val="107004616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20718475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824034778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2511010951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2811406568"/>
                    </a:ext>
                  </a:extLst>
                </a:gridCol>
              </a:tblGrid>
              <a:tr h="379143">
                <a:tc>
                  <a:txBody>
                    <a:bodyPr/>
                    <a:lstStyle/>
                    <a:p>
                      <a:pPr rtl="0"/>
                      <a:r>
                        <a:rPr lang="en-IN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Rank</a:t>
                      </a:r>
                      <a:endParaRPr lang="en-IN" sz="1200" dirty="0">
                        <a:solidFill>
                          <a:srgbClr val="444746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21920"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7B</a:t>
                      </a:r>
                      <a:endParaRPr lang="en-IN" sz="1200">
                        <a:solidFill>
                          <a:srgbClr val="444746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13B</a:t>
                      </a:r>
                      <a:endParaRPr lang="en-IN" sz="1200">
                        <a:solidFill>
                          <a:srgbClr val="444746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70B</a:t>
                      </a:r>
                      <a:endParaRPr lang="en-IN" sz="1200">
                        <a:solidFill>
                          <a:srgbClr val="444746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180B</a:t>
                      </a:r>
                      <a:endParaRPr lang="en-IN" sz="1200">
                        <a:solidFill>
                          <a:srgbClr val="444746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52400" marT="121920" marB="121920" anchor="ctr"/>
                </a:tc>
                <a:extLst>
                  <a:ext uri="{0D108BD9-81ED-4DB2-BD59-A6C34878D82A}">
                    <a16:rowId xmlns:a16="http://schemas.microsoft.com/office/drawing/2014/main" val="826517228"/>
                  </a:ext>
                </a:extLst>
              </a:tr>
              <a:tr h="379143"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21920"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0.00%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0.00%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0.00%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0.00%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52400" marT="121920" marB="121920" anchor="ctr"/>
                </a:tc>
                <a:extLst>
                  <a:ext uri="{0D108BD9-81ED-4DB2-BD59-A6C34878D82A}">
                    <a16:rowId xmlns:a16="http://schemas.microsoft.com/office/drawing/2014/main" val="336897715"/>
                  </a:ext>
                </a:extLst>
              </a:tr>
              <a:tr h="379143"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21920"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0.01%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0.00%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0.00%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0.00%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52400" marT="121920" marB="121920" anchor="ctr"/>
                </a:tc>
                <a:extLst>
                  <a:ext uri="{0D108BD9-81ED-4DB2-BD59-A6C34878D82A}">
                    <a16:rowId xmlns:a16="http://schemas.microsoft.com/office/drawing/2014/main" val="4054119437"/>
                  </a:ext>
                </a:extLst>
              </a:tr>
              <a:tr h="379143"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21920"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0.02%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0.01%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0.01%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0.00%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52400" marT="121920" marB="121920" anchor="ctr"/>
                </a:tc>
                <a:extLst>
                  <a:ext uri="{0D108BD9-81ED-4DB2-BD59-A6C34878D82A}">
                    <a16:rowId xmlns:a16="http://schemas.microsoft.com/office/drawing/2014/main" val="2135618734"/>
                  </a:ext>
                </a:extLst>
              </a:tr>
              <a:tr h="379143"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21920"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0.04%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0.03%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0.01%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0.01%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52400" marT="121920" marB="121920" anchor="ctr"/>
                </a:tc>
                <a:extLst>
                  <a:ext uri="{0D108BD9-81ED-4DB2-BD59-A6C34878D82A}">
                    <a16:rowId xmlns:a16="http://schemas.microsoft.com/office/drawing/2014/main" val="1925001387"/>
                  </a:ext>
                </a:extLst>
              </a:tr>
              <a:tr h="379143"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512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21920"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1.22%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0.90%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0.39%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0.24%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52400" marT="121920" marB="121920" anchor="ctr"/>
                </a:tc>
                <a:extLst>
                  <a:ext uri="{0D108BD9-81ED-4DB2-BD59-A6C34878D82A}">
                    <a16:rowId xmlns:a16="http://schemas.microsoft.com/office/drawing/2014/main" val="2503403378"/>
                  </a:ext>
                </a:extLst>
              </a:tr>
              <a:tr h="379143"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1,024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21920"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2.45%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1.80%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0.77%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0.48%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52400" marT="121920" marB="121920" anchor="ctr"/>
                </a:tc>
                <a:extLst>
                  <a:ext uri="{0D108BD9-81ED-4DB2-BD59-A6C34878D82A}">
                    <a16:rowId xmlns:a16="http://schemas.microsoft.com/office/drawing/2014/main" val="2826577540"/>
                  </a:ext>
                </a:extLst>
              </a:tr>
              <a:tr h="379143"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8,192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21920"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19.58%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14.37%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6.19%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3.86%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52400" marT="121920" marB="121920" anchor="ctr"/>
                </a:tc>
                <a:extLst>
                  <a:ext uri="{0D108BD9-81ED-4DB2-BD59-A6C34878D82A}">
                    <a16:rowId xmlns:a16="http://schemas.microsoft.com/office/drawing/2014/main" val="788211409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571455" y="1193402"/>
            <a:ext cx="32324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Percent of Total Parameters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3299" y="5544235"/>
            <a:ext cx="1042670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As the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Rank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increases, the number of trainable parameters grows linearly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. Start with small rank(r=8) and increase </a:t>
            </a:r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lang="en-IN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underfitting</a:t>
            </a:r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0326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FineTuning</a:t>
            </a:r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IN" sz="3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LoRA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600076" y="1022654"/>
            <a:ext cx="4562476" cy="19236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1: Load a </a:t>
            </a:r>
            <a:r>
              <a:rPr kumimoji="0" lang="en-US" altLang="en-US" sz="9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Pretrained</a:t>
            </a:r>
            <a:r>
              <a:rPr kumimoji="0" lang="en-US" altLang="en-US" sz="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LLM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latin typeface="Arial Unicode MS"/>
              </a:rPr>
              <a:t>from transformers import </a:t>
            </a:r>
            <a:r>
              <a:rPr lang="en-US" altLang="en-US" sz="1000" dirty="0" err="1">
                <a:latin typeface="Arial Unicode MS"/>
              </a:rPr>
              <a:t>AutoModelForCausalLM</a:t>
            </a:r>
            <a:r>
              <a:rPr lang="en-US" altLang="en-US" sz="1000" dirty="0">
                <a:latin typeface="Arial Unicode MS"/>
              </a:rPr>
              <a:t>, </a:t>
            </a:r>
            <a:r>
              <a:rPr lang="en-US" altLang="en-US" sz="1000" dirty="0" err="1">
                <a:latin typeface="Arial Unicode MS"/>
              </a:rPr>
              <a:t>AutoTokenizer</a:t>
            </a:r>
            <a:endParaRPr lang="en-US" altLang="en-US" sz="1000" dirty="0">
              <a:latin typeface="Arial Unicode MS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latin typeface="Arial Unicode MS"/>
              </a:rPr>
              <a:t>from </a:t>
            </a:r>
            <a:r>
              <a:rPr lang="en-US" altLang="en-US" sz="1000" dirty="0" err="1">
                <a:latin typeface="Arial Unicode MS"/>
              </a:rPr>
              <a:t>peft</a:t>
            </a:r>
            <a:r>
              <a:rPr lang="en-US" altLang="en-US" sz="1000" dirty="0">
                <a:latin typeface="Arial Unicode MS"/>
              </a:rPr>
              <a:t> import </a:t>
            </a:r>
            <a:r>
              <a:rPr lang="en-US" altLang="en-US" sz="1000" dirty="0" err="1">
                <a:latin typeface="Arial Unicode MS"/>
              </a:rPr>
              <a:t>LoraConfig</a:t>
            </a:r>
            <a:r>
              <a:rPr lang="en-US" altLang="en-US" sz="1000" dirty="0">
                <a:latin typeface="Arial Unicode MS"/>
              </a:rPr>
              <a:t>, </a:t>
            </a:r>
            <a:r>
              <a:rPr lang="en-US" altLang="en-US" sz="1000" dirty="0" err="1">
                <a:latin typeface="Arial Unicode MS"/>
              </a:rPr>
              <a:t>get_peft_model</a:t>
            </a:r>
            <a:endParaRPr lang="en-US" altLang="en-US" sz="1000" dirty="0">
              <a:latin typeface="Arial Unicode MS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000" dirty="0">
              <a:latin typeface="Arial Unicode MS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 err="1">
                <a:latin typeface="Arial Unicode MS"/>
              </a:rPr>
              <a:t>model_name</a:t>
            </a:r>
            <a:r>
              <a:rPr lang="en-US" altLang="en-US" sz="1000" dirty="0">
                <a:latin typeface="Arial Unicode MS"/>
              </a:rPr>
              <a:t> = "meta-llama/Llama-2-7b-hf"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000" dirty="0">
              <a:latin typeface="Arial Unicode MS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latin typeface="Arial Unicode MS"/>
              </a:rPr>
              <a:t>tokenizer = </a:t>
            </a:r>
            <a:r>
              <a:rPr lang="en-US" altLang="en-US" sz="1000" dirty="0" err="1">
                <a:latin typeface="Arial Unicode MS"/>
              </a:rPr>
              <a:t>AutoTokenizer.from_pretrained</a:t>
            </a:r>
            <a:r>
              <a:rPr lang="en-US" altLang="en-US" sz="1000" dirty="0">
                <a:latin typeface="Arial Unicode MS"/>
              </a:rPr>
              <a:t>(</a:t>
            </a:r>
            <a:r>
              <a:rPr lang="en-US" altLang="en-US" sz="1000" dirty="0" err="1">
                <a:latin typeface="Arial Unicode MS"/>
              </a:rPr>
              <a:t>model_name</a:t>
            </a:r>
            <a:r>
              <a:rPr lang="en-US" altLang="en-US" sz="1000" dirty="0">
                <a:latin typeface="Arial Unicode MS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latin typeface="Arial Unicode MS"/>
              </a:rPr>
              <a:t>model = </a:t>
            </a:r>
            <a:r>
              <a:rPr lang="en-US" altLang="en-US" sz="1000" dirty="0" err="1">
                <a:latin typeface="Arial Unicode MS"/>
              </a:rPr>
              <a:t>AutoModelForCausalLM.from_pretrained</a:t>
            </a:r>
            <a:r>
              <a:rPr lang="en-US" altLang="en-US" sz="1000" dirty="0">
                <a:latin typeface="Arial Unicode MS"/>
              </a:rPr>
              <a:t>(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latin typeface="Arial Unicode MS"/>
              </a:rPr>
              <a:t>    </a:t>
            </a:r>
            <a:r>
              <a:rPr lang="en-US" altLang="en-US" sz="1000" dirty="0" err="1">
                <a:latin typeface="Arial Unicode MS"/>
              </a:rPr>
              <a:t>model_name</a:t>
            </a:r>
            <a:r>
              <a:rPr lang="en-US" altLang="en-US" sz="1000" dirty="0">
                <a:latin typeface="Arial Unicode MS"/>
              </a:rPr>
              <a:t>,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latin typeface="Arial Unicode MS"/>
              </a:rPr>
              <a:t>    </a:t>
            </a:r>
            <a:r>
              <a:rPr lang="en-US" altLang="en-US" sz="1000" dirty="0" err="1">
                <a:latin typeface="Arial Unicode MS"/>
              </a:rPr>
              <a:t>device_map</a:t>
            </a:r>
            <a:r>
              <a:rPr lang="en-US" altLang="en-US" sz="1000" dirty="0">
                <a:latin typeface="Arial Unicode MS"/>
              </a:rPr>
              <a:t>="auto",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latin typeface="Arial Unicode MS"/>
              </a:rPr>
              <a:t>    load_in_8bit=False  # set True for memory constrained GPUs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latin typeface="Arial Unicode MS"/>
              </a:rPr>
              <a:t>)</a:t>
            </a: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457201" y="3004781"/>
            <a:ext cx="4705350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2: Define </a:t>
            </a:r>
            <a:r>
              <a:rPr kumimoji="0" lang="en-US" altLang="en-US" sz="9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LoRA</a:t>
            </a:r>
            <a:r>
              <a:rPr kumimoji="0" lang="en-US" altLang="en-US" sz="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9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Config</a:t>
            </a:r>
            <a:endParaRPr kumimoji="0" lang="en-US" altLang="en-US" sz="9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 err="1">
                <a:latin typeface="Arial Unicode MS"/>
              </a:rPr>
              <a:t>lora_config</a:t>
            </a:r>
            <a:r>
              <a:rPr lang="en-US" altLang="en-US" sz="1000" dirty="0">
                <a:latin typeface="Arial Unicode MS"/>
              </a:rPr>
              <a:t> = </a:t>
            </a:r>
            <a:r>
              <a:rPr lang="en-US" altLang="en-US" sz="1000" dirty="0" err="1">
                <a:latin typeface="Arial Unicode MS"/>
              </a:rPr>
              <a:t>LoraConfig</a:t>
            </a:r>
            <a:r>
              <a:rPr lang="en-US" altLang="en-US" sz="1000" dirty="0">
                <a:latin typeface="Arial Unicode MS"/>
              </a:rPr>
              <a:t>(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latin typeface="Arial Unicode MS"/>
              </a:rPr>
              <a:t>    r=8,                         # </a:t>
            </a:r>
            <a:r>
              <a:rPr lang="en-US" altLang="en-US" sz="1000" dirty="0" err="1">
                <a:latin typeface="Arial Unicode MS"/>
              </a:rPr>
              <a:t>LoRA</a:t>
            </a:r>
            <a:r>
              <a:rPr lang="en-US" altLang="en-US" sz="1000" dirty="0">
                <a:latin typeface="Arial Unicode MS"/>
              </a:rPr>
              <a:t> rank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latin typeface="Arial Unicode MS"/>
              </a:rPr>
              <a:t>    </a:t>
            </a:r>
            <a:r>
              <a:rPr lang="en-US" altLang="en-US" sz="1000" dirty="0" err="1">
                <a:latin typeface="Arial Unicode MS"/>
              </a:rPr>
              <a:t>lora_alpha</a:t>
            </a:r>
            <a:r>
              <a:rPr lang="en-US" altLang="en-US" sz="1000" dirty="0">
                <a:latin typeface="Arial Unicode MS"/>
              </a:rPr>
              <a:t>=16,                # scaling factor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latin typeface="Arial Unicode MS"/>
              </a:rPr>
              <a:t>    </a:t>
            </a:r>
            <a:r>
              <a:rPr lang="en-US" altLang="en-US" sz="1000" dirty="0" err="1">
                <a:latin typeface="Arial Unicode MS"/>
              </a:rPr>
              <a:t>target_modules</a:t>
            </a:r>
            <a:r>
              <a:rPr lang="en-US" altLang="en-US" sz="1000" dirty="0">
                <a:latin typeface="Arial Unicode MS"/>
              </a:rPr>
              <a:t>=["</a:t>
            </a:r>
            <a:r>
              <a:rPr lang="en-US" altLang="en-US" sz="1000" dirty="0" err="1">
                <a:latin typeface="Arial Unicode MS"/>
              </a:rPr>
              <a:t>q_proj</a:t>
            </a:r>
            <a:r>
              <a:rPr lang="en-US" altLang="en-US" sz="1000" dirty="0">
                <a:latin typeface="Arial Unicode MS"/>
              </a:rPr>
              <a:t>", "</a:t>
            </a:r>
            <a:r>
              <a:rPr lang="en-US" altLang="en-US" sz="1000" dirty="0" err="1">
                <a:latin typeface="Arial Unicode MS"/>
              </a:rPr>
              <a:t>v_proj</a:t>
            </a:r>
            <a:r>
              <a:rPr lang="en-US" altLang="en-US" sz="1000" dirty="0">
                <a:latin typeface="Arial Unicode MS"/>
              </a:rPr>
              <a:t>"],  # which layers to adapt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latin typeface="Arial Unicode MS"/>
              </a:rPr>
              <a:t>    </a:t>
            </a:r>
            <a:r>
              <a:rPr lang="en-US" altLang="en-US" sz="1000" dirty="0" err="1">
                <a:latin typeface="Arial Unicode MS"/>
              </a:rPr>
              <a:t>lora_dropout</a:t>
            </a:r>
            <a:r>
              <a:rPr lang="en-US" altLang="en-US" sz="1000" dirty="0">
                <a:latin typeface="Arial Unicode MS"/>
              </a:rPr>
              <a:t>=0.05,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latin typeface="Arial Unicode MS"/>
              </a:rPr>
              <a:t>    bias="none",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latin typeface="Arial Unicode MS"/>
              </a:rPr>
              <a:t>    </a:t>
            </a:r>
            <a:r>
              <a:rPr lang="en-US" altLang="en-US" sz="1000" dirty="0" err="1">
                <a:latin typeface="Arial Unicode MS"/>
              </a:rPr>
              <a:t>task_type</a:t>
            </a:r>
            <a:r>
              <a:rPr lang="en-US" altLang="en-US" sz="1000" dirty="0">
                <a:latin typeface="Arial Unicode MS"/>
              </a:rPr>
              <a:t>="CAUSAL_LM"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latin typeface="Arial Unicode MS"/>
              </a:rPr>
              <a:t>)</a:t>
            </a:r>
            <a:endParaRPr kumimoji="0" lang="en-US" altLang="en-US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</p:txBody>
      </p:sp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457201" y="4663742"/>
            <a:ext cx="4348163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3: Attach </a:t>
            </a:r>
            <a:r>
              <a:rPr kumimoji="0" lang="en-US" altLang="en-US" sz="9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LoRA</a:t>
            </a:r>
            <a:r>
              <a:rPr kumimoji="0" lang="en-US" altLang="en-US" sz="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Adapters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latin typeface="Arial Unicode MS"/>
              </a:rPr>
              <a:t>model = </a:t>
            </a:r>
            <a:r>
              <a:rPr lang="en-US" altLang="en-US" sz="1000" dirty="0" err="1">
                <a:latin typeface="Arial Unicode MS"/>
              </a:rPr>
              <a:t>get_peft_model</a:t>
            </a:r>
            <a:r>
              <a:rPr lang="en-US" altLang="en-US" sz="1000" dirty="0">
                <a:latin typeface="Arial Unicode MS"/>
              </a:rPr>
              <a:t>(model, </a:t>
            </a:r>
            <a:r>
              <a:rPr lang="en-US" altLang="en-US" sz="1000" dirty="0" err="1">
                <a:latin typeface="Arial Unicode MS"/>
              </a:rPr>
              <a:t>lora_config</a:t>
            </a:r>
            <a:r>
              <a:rPr lang="en-US" altLang="en-US" sz="1000" dirty="0">
                <a:latin typeface="Arial Unicode MS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 err="1">
                <a:latin typeface="Arial Unicode MS"/>
              </a:rPr>
              <a:t>model.print_trainable_parameters</a:t>
            </a:r>
            <a:r>
              <a:rPr lang="en-US" altLang="en-US" sz="1000" dirty="0">
                <a:latin typeface="Arial Unicode MS"/>
              </a:rPr>
              <a:t>()  # check trainable </a:t>
            </a:r>
            <a:r>
              <a:rPr lang="en-US" altLang="en-US" sz="1000" dirty="0" err="1">
                <a:latin typeface="Arial Unicode MS"/>
              </a:rPr>
              <a:t>params</a:t>
            </a:r>
            <a:r>
              <a:rPr lang="en-US" altLang="en-US" sz="1000" dirty="0">
                <a:latin typeface="Arial Unicode MS"/>
              </a:rPr>
              <a:t> (~0.1%)</a:t>
            </a:r>
          </a:p>
        </p:txBody>
      </p:sp>
      <p:sp>
        <p:nvSpPr>
          <p:cNvPr id="16" name="Rectangle 7"/>
          <p:cNvSpPr>
            <a:spLocks noChangeArrowheads="1"/>
          </p:cNvSpPr>
          <p:nvPr/>
        </p:nvSpPr>
        <p:spPr bwMode="auto">
          <a:xfrm>
            <a:off x="5695951" y="831931"/>
            <a:ext cx="5753100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4: Prepare Data (Example with </a:t>
            </a:r>
            <a:r>
              <a:rPr kumimoji="0" lang="en-US" altLang="en-US" sz="9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HuggingFace</a:t>
            </a:r>
            <a:r>
              <a:rPr kumimoji="0" lang="en-US" altLang="en-US" sz="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dataset)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latin typeface="Arial Unicode MS"/>
              </a:rPr>
              <a:t>from datasets import </a:t>
            </a:r>
            <a:r>
              <a:rPr lang="en-US" altLang="en-US" sz="1000" dirty="0" err="1">
                <a:latin typeface="Arial Unicode MS"/>
              </a:rPr>
              <a:t>load_dataset</a:t>
            </a:r>
            <a:endParaRPr lang="en-US" altLang="en-US" sz="1000" dirty="0">
              <a:latin typeface="Arial Unicode MS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000" dirty="0">
              <a:latin typeface="Arial Unicode MS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latin typeface="Arial Unicode MS"/>
              </a:rPr>
              <a:t>dataset = </a:t>
            </a:r>
            <a:r>
              <a:rPr lang="en-US" altLang="en-US" sz="1000" dirty="0" err="1">
                <a:latin typeface="Arial Unicode MS"/>
              </a:rPr>
              <a:t>load_dataset</a:t>
            </a:r>
            <a:r>
              <a:rPr lang="en-US" altLang="en-US" sz="1000" dirty="0">
                <a:latin typeface="Arial Unicode MS"/>
              </a:rPr>
              <a:t>("</a:t>
            </a:r>
            <a:r>
              <a:rPr lang="en-US" altLang="en-US" sz="1000" dirty="0" err="1">
                <a:latin typeface="Arial Unicode MS"/>
              </a:rPr>
              <a:t>samsum</a:t>
            </a:r>
            <a:r>
              <a:rPr lang="en-US" altLang="en-US" sz="1000" dirty="0">
                <a:latin typeface="Arial Unicode MS"/>
              </a:rPr>
              <a:t>")  # dialogue summarization example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000" dirty="0">
              <a:latin typeface="Arial Unicode MS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 err="1">
                <a:latin typeface="Arial Unicode MS"/>
              </a:rPr>
              <a:t>def</a:t>
            </a:r>
            <a:r>
              <a:rPr lang="en-US" altLang="en-US" sz="1000" dirty="0">
                <a:latin typeface="Arial Unicode MS"/>
              </a:rPr>
              <a:t> </a:t>
            </a:r>
            <a:r>
              <a:rPr lang="en-US" altLang="en-US" sz="1000" dirty="0" err="1">
                <a:latin typeface="Arial Unicode MS"/>
              </a:rPr>
              <a:t>tokenize_fn</a:t>
            </a:r>
            <a:r>
              <a:rPr lang="en-US" altLang="en-US" sz="1000" dirty="0">
                <a:latin typeface="Arial Unicode MS"/>
              </a:rPr>
              <a:t>(batch):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latin typeface="Arial Unicode MS"/>
              </a:rPr>
              <a:t>    return tokenizer(batch["dialogue"], truncation=True, padding="</a:t>
            </a:r>
            <a:r>
              <a:rPr lang="en-US" altLang="en-US" sz="1000" dirty="0" err="1">
                <a:latin typeface="Arial Unicode MS"/>
              </a:rPr>
              <a:t>max_length</a:t>
            </a:r>
            <a:r>
              <a:rPr lang="en-US" altLang="en-US" sz="1000" dirty="0">
                <a:latin typeface="Arial Unicode MS"/>
              </a:rPr>
              <a:t>", </a:t>
            </a:r>
            <a:r>
              <a:rPr lang="en-US" altLang="en-US" sz="1000" dirty="0" err="1">
                <a:latin typeface="Arial Unicode MS"/>
              </a:rPr>
              <a:t>max_length</a:t>
            </a:r>
            <a:r>
              <a:rPr lang="en-US" altLang="en-US" sz="1000" dirty="0">
                <a:latin typeface="Arial Unicode MS"/>
              </a:rPr>
              <a:t>=512)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000" dirty="0">
              <a:latin typeface="Arial Unicode MS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 err="1">
                <a:latin typeface="Arial Unicode MS"/>
              </a:rPr>
              <a:t>tokenized_dataset</a:t>
            </a:r>
            <a:r>
              <a:rPr lang="en-US" altLang="en-US" sz="1000" dirty="0">
                <a:latin typeface="Arial Unicode MS"/>
              </a:rPr>
              <a:t> = </a:t>
            </a:r>
            <a:r>
              <a:rPr lang="en-US" altLang="en-US" sz="1000" dirty="0" err="1">
                <a:latin typeface="Arial Unicode MS"/>
              </a:rPr>
              <a:t>dataset.map</a:t>
            </a:r>
            <a:r>
              <a:rPr lang="en-US" altLang="en-US" sz="1000" dirty="0">
                <a:latin typeface="Arial Unicode MS"/>
              </a:rPr>
              <a:t>(</a:t>
            </a:r>
            <a:r>
              <a:rPr lang="en-US" altLang="en-US" sz="1000" dirty="0" err="1">
                <a:latin typeface="Arial Unicode MS"/>
              </a:rPr>
              <a:t>tokenize_fn</a:t>
            </a:r>
            <a:r>
              <a:rPr lang="en-US" altLang="en-US" sz="1000" dirty="0">
                <a:latin typeface="Arial Unicode MS"/>
              </a:rPr>
              <a:t>, batched=True)</a:t>
            </a:r>
          </a:p>
        </p:txBody>
      </p:sp>
      <p:sp>
        <p:nvSpPr>
          <p:cNvPr id="18" name="Rectangle 9"/>
          <p:cNvSpPr>
            <a:spLocks noChangeArrowheads="1"/>
          </p:cNvSpPr>
          <p:nvPr/>
        </p:nvSpPr>
        <p:spPr bwMode="auto">
          <a:xfrm>
            <a:off x="5622132" y="2432369"/>
            <a:ext cx="5750718" cy="390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5: Training Loop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latin typeface="Arial Unicode MS"/>
              </a:rPr>
              <a:t>from transformers import Trainer, </a:t>
            </a:r>
            <a:r>
              <a:rPr lang="en-US" altLang="en-US" sz="1000" dirty="0" err="1">
                <a:latin typeface="Arial Unicode MS"/>
              </a:rPr>
              <a:t>TrainingArguments</a:t>
            </a:r>
            <a:endParaRPr lang="en-US" altLang="en-US" sz="1000" dirty="0">
              <a:latin typeface="Arial Unicode MS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000" dirty="0">
              <a:latin typeface="Arial Unicode MS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 err="1">
                <a:latin typeface="Arial Unicode MS"/>
              </a:rPr>
              <a:t>training_args</a:t>
            </a:r>
            <a:r>
              <a:rPr lang="en-US" altLang="en-US" sz="1000" dirty="0">
                <a:latin typeface="Arial Unicode MS"/>
              </a:rPr>
              <a:t> = </a:t>
            </a:r>
            <a:r>
              <a:rPr lang="en-US" altLang="en-US" sz="1000" dirty="0" err="1">
                <a:latin typeface="Arial Unicode MS"/>
              </a:rPr>
              <a:t>TrainingArguments</a:t>
            </a:r>
            <a:r>
              <a:rPr lang="en-US" altLang="en-US" sz="1000" dirty="0">
                <a:latin typeface="Arial Unicode MS"/>
              </a:rPr>
              <a:t>(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latin typeface="Arial Unicode MS"/>
              </a:rPr>
              <a:t>    </a:t>
            </a:r>
            <a:r>
              <a:rPr lang="en-US" altLang="en-US" sz="1000" dirty="0" err="1">
                <a:latin typeface="Arial Unicode MS"/>
              </a:rPr>
              <a:t>per_device_train_batch_size</a:t>
            </a:r>
            <a:r>
              <a:rPr lang="en-US" altLang="en-US" sz="1000" dirty="0">
                <a:latin typeface="Arial Unicode MS"/>
              </a:rPr>
              <a:t>=2,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latin typeface="Arial Unicode MS"/>
              </a:rPr>
              <a:t>    </a:t>
            </a:r>
            <a:r>
              <a:rPr lang="en-US" altLang="en-US" sz="1000" dirty="0" err="1">
                <a:latin typeface="Arial Unicode MS"/>
              </a:rPr>
              <a:t>gradient_accumulation_steps</a:t>
            </a:r>
            <a:r>
              <a:rPr lang="en-US" altLang="en-US" sz="1000" dirty="0">
                <a:latin typeface="Arial Unicode MS"/>
              </a:rPr>
              <a:t>=4,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latin typeface="Arial Unicode MS"/>
              </a:rPr>
              <a:t>    </a:t>
            </a:r>
            <a:r>
              <a:rPr lang="en-US" altLang="en-US" sz="1000" dirty="0" err="1">
                <a:latin typeface="Arial Unicode MS"/>
              </a:rPr>
              <a:t>warmup_steps</a:t>
            </a:r>
            <a:r>
              <a:rPr lang="en-US" altLang="en-US" sz="1000" dirty="0">
                <a:latin typeface="Arial Unicode MS"/>
              </a:rPr>
              <a:t>=50,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latin typeface="Arial Unicode MS"/>
              </a:rPr>
              <a:t>    </a:t>
            </a:r>
            <a:r>
              <a:rPr lang="en-US" altLang="en-US" sz="1000" dirty="0" err="1">
                <a:latin typeface="Arial Unicode MS"/>
              </a:rPr>
              <a:t>num_train_epochs</a:t>
            </a:r>
            <a:r>
              <a:rPr lang="en-US" altLang="en-US" sz="1000" dirty="0">
                <a:latin typeface="Arial Unicode MS"/>
              </a:rPr>
              <a:t>=1,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latin typeface="Arial Unicode MS"/>
              </a:rPr>
              <a:t>    </a:t>
            </a:r>
            <a:r>
              <a:rPr lang="en-US" altLang="en-US" sz="1000" dirty="0" err="1">
                <a:latin typeface="Arial Unicode MS"/>
              </a:rPr>
              <a:t>learning_rate</a:t>
            </a:r>
            <a:r>
              <a:rPr lang="en-US" altLang="en-US" sz="1000" dirty="0">
                <a:latin typeface="Arial Unicode MS"/>
              </a:rPr>
              <a:t>=3e-4,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latin typeface="Arial Unicode MS"/>
              </a:rPr>
              <a:t>    fp16=True,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latin typeface="Arial Unicode MS"/>
              </a:rPr>
              <a:t>    </a:t>
            </a:r>
            <a:r>
              <a:rPr lang="en-US" altLang="en-US" sz="1000" dirty="0" err="1">
                <a:latin typeface="Arial Unicode MS"/>
              </a:rPr>
              <a:t>logging_steps</a:t>
            </a:r>
            <a:r>
              <a:rPr lang="en-US" altLang="en-US" sz="1000" dirty="0">
                <a:latin typeface="Arial Unicode MS"/>
              </a:rPr>
              <a:t>=10,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latin typeface="Arial Unicode MS"/>
              </a:rPr>
              <a:t>    </a:t>
            </a:r>
            <a:r>
              <a:rPr lang="en-US" altLang="en-US" sz="1000" dirty="0" err="1">
                <a:latin typeface="Arial Unicode MS"/>
              </a:rPr>
              <a:t>output_dir</a:t>
            </a:r>
            <a:r>
              <a:rPr lang="en-US" altLang="en-US" sz="1000" dirty="0">
                <a:latin typeface="Arial Unicode MS"/>
              </a:rPr>
              <a:t>="./</a:t>
            </a:r>
            <a:r>
              <a:rPr lang="en-US" altLang="en-US" sz="1000" dirty="0" err="1">
                <a:latin typeface="Arial Unicode MS"/>
              </a:rPr>
              <a:t>lora_summarization</a:t>
            </a:r>
            <a:r>
              <a:rPr lang="en-US" altLang="en-US" sz="1000" dirty="0">
                <a:latin typeface="Arial Unicode MS"/>
              </a:rPr>
              <a:t>",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latin typeface="Arial Unicode MS"/>
              </a:rPr>
              <a:t>    </a:t>
            </a:r>
            <a:r>
              <a:rPr lang="en-US" altLang="en-US" sz="1000" dirty="0" err="1">
                <a:latin typeface="Arial Unicode MS"/>
              </a:rPr>
              <a:t>save_strategy</a:t>
            </a:r>
            <a:r>
              <a:rPr lang="en-US" altLang="en-US" sz="1000" dirty="0">
                <a:latin typeface="Arial Unicode MS"/>
              </a:rPr>
              <a:t>="steps",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latin typeface="Arial Unicode MS"/>
              </a:rPr>
              <a:t>    </a:t>
            </a:r>
            <a:r>
              <a:rPr lang="en-US" altLang="en-US" sz="1000" dirty="0" err="1">
                <a:latin typeface="Arial Unicode MS"/>
              </a:rPr>
              <a:t>save_steps</a:t>
            </a:r>
            <a:r>
              <a:rPr lang="en-US" altLang="en-US" sz="1000" dirty="0">
                <a:latin typeface="Arial Unicode MS"/>
              </a:rPr>
              <a:t>=200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latin typeface="Arial Unicode MS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000" dirty="0">
              <a:latin typeface="Arial Unicode MS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latin typeface="Arial Unicode MS"/>
              </a:rPr>
              <a:t>trainer = Trainer(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latin typeface="Arial Unicode MS"/>
              </a:rPr>
              <a:t>    model=model,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latin typeface="Arial Unicode MS"/>
              </a:rPr>
              <a:t>    </a:t>
            </a:r>
            <a:r>
              <a:rPr lang="en-US" altLang="en-US" sz="1000" dirty="0" err="1">
                <a:latin typeface="Arial Unicode MS"/>
              </a:rPr>
              <a:t>args</a:t>
            </a:r>
            <a:r>
              <a:rPr lang="en-US" altLang="en-US" sz="1000" dirty="0">
                <a:latin typeface="Arial Unicode MS"/>
              </a:rPr>
              <a:t>=</a:t>
            </a:r>
            <a:r>
              <a:rPr lang="en-US" altLang="en-US" sz="1000" dirty="0" err="1">
                <a:latin typeface="Arial Unicode MS"/>
              </a:rPr>
              <a:t>training_args</a:t>
            </a:r>
            <a:r>
              <a:rPr lang="en-US" altLang="en-US" sz="1000" dirty="0">
                <a:latin typeface="Arial Unicode MS"/>
              </a:rPr>
              <a:t>,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latin typeface="Arial Unicode MS"/>
              </a:rPr>
              <a:t>    </a:t>
            </a:r>
            <a:r>
              <a:rPr lang="en-US" altLang="en-US" sz="1000" dirty="0" err="1">
                <a:latin typeface="Arial Unicode MS"/>
              </a:rPr>
              <a:t>train_dataset</a:t>
            </a:r>
            <a:r>
              <a:rPr lang="en-US" altLang="en-US" sz="1000" dirty="0">
                <a:latin typeface="Arial Unicode MS"/>
              </a:rPr>
              <a:t>=</a:t>
            </a:r>
            <a:r>
              <a:rPr lang="en-US" altLang="en-US" sz="1000" dirty="0" err="1">
                <a:latin typeface="Arial Unicode MS"/>
              </a:rPr>
              <a:t>tokenized_dataset</a:t>
            </a:r>
            <a:r>
              <a:rPr lang="en-US" altLang="en-US" sz="1000" dirty="0">
                <a:latin typeface="Arial Unicode MS"/>
              </a:rPr>
              <a:t>["train"],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latin typeface="Arial Unicode MS"/>
              </a:rPr>
              <a:t>    </a:t>
            </a:r>
            <a:r>
              <a:rPr lang="en-US" altLang="en-US" sz="1000" dirty="0" err="1">
                <a:latin typeface="Arial Unicode MS"/>
              </a:rPr>
              <a:t>eval_dataset</a:t>
            </a:r>
            <a:r>
              <a:rPr lang="en-US" altLang="en-US" sz="1000" dirty="0">
                <a:latin typeface="Arial Unicode MS"/>
              </a:rPr>
              <a:t>=</a:t>
            </a:r>
            <a:r>
              <a:rPr lang="en-US" altLang="en-US" sz="1000" dirty="0" err="1">
                <a:latin typeface="Arial Unicode MS"/>
              </a:rPr>
              <a:t>tokenized_dataset</a:t>
            </a:r>
            <a:r>
              <a:rPr lang="en-US" altLang="en-US" sz="1000" dirty="0">
                <a:latin typeface="Arial Unicode MS"/>
              </a:rPr>
              <a:t>["validation"]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latin typeface="Arial Unicode MS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000" dirty="0">
              <a:latin typeface="Arial Unicode MS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 err="1">
                <a:latin typeface="Arial Unicode MS"/>
              </a:rPr>
              <a:t>trainer.train</a:t>
            </a:r>
            <a:r>
              <a:rPr lang="en-US" altLang="en-US" sz="1000" dirty="0">
                <a:latin typeface="Arial Unicode MS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580715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FineTuning</a:t>
            </a:r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IN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LoRA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62000" y="1124791"/>
            <a:ext cx="508444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Libraries You </a:t>
            </a:r>
            <a:r>
              <a:rPr lang="en-IN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Need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pip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install 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transformers  	# </a:t>
            </a:r>
            <a:r>
              <a:rPr lang="en-US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load LLMs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pip install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peft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 	# </a:t>
            </a:r>
            <a:r>
              <a:rPr lang="en-US" alt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LoRA</a:t>
            </a: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adapters + PEFT </a:t>
            </a:r>
            <a:r>
              <a:rPr lang="en-US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training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pip install 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accelerate 	# </a:t>
            </a: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multi-GPU / </a:t>
            </a:r>
            <a:r>
              <a:rPr lang="en-US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mixed-precision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pip install 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datasets  	# </a:t>
            </a: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optional for training </a:t>
            </a:r>
            <a:r>
              <a:rPr lang="en-US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pip install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bitsandbytes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	#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optional, for 4-bit or 8-bit fine-tuning (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QLoRA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762000" y="2879117"/>
            <a:ext cx="4711065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Saving the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LoRA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Adapter Only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model.save_pretrained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("./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lora_summarization_adapter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Only adapter weights are saved</a:t>
            </a: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Main model can be reloaded later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4816200"/>
              </p:ext>
            </p:extLst>
          </p:nvPr>
        </p:nvGraphicFramePr>
        <p:xfrm>
          <a:off x="6192309" y="4153746"/>
          <a:ext cx="5418666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37291">
                  <a:extLst>
                    <a:ext uri="{9D8B030D-6E8A-4147-A177-3AD203B41FA5}">
                      <a16:colId xmlns:a16="http://schemas.microsoft.com/office/drawing/2014/main" val="2393352843"/>
                    </a:ext>
                  </a:extLst>
                </a:gridCol>
                <a:gridCol w="3381375">
                  <a:extLst>
                    <a:ext uri="{9D8B030D-6E8A-4147-A177-3AD203B41FA5}">
                      <a16:colId xmlns:a16="http://schemas.microsoft.com/office/drawing/2014/main" val="41029352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Recommended target_modules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1995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Instruction tuning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["q_proj", "v_proj"]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7596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Chat / alignment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["q_proj", "k_proj", "v_proj", "o_proj"]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5882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Domain adaptation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 MLP projections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6344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 VRAM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Attention-only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3269279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914400" y="4202940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Target_modules</a:t>
            </a:r>
            <a:r>
              <a:rPr lang="en-IN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IN" sz="1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LoRA</a:t>
            </a:r>
            <a:endParaRPr lang="en-IN" sz="12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Self-Attention</a:t>
            </a:r>
            <a:endParaRPr lang="en-IN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Query projection (</a:t>
            </a:r>
            <a:r>
              <a:rPr lang="en-IN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q_proj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Key projection (</a:t>
            </a:r>
            <a:r>
              <a:rPr lang="en-IN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k_proj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Value projection (</a:t>
            </a:r>
            <a:r>
              <a:rPr lang="en-IN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v_proj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Output projection (</a:t>
            </a:r>
            <a:r>
              <a:rPr lang="en-IN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o_proj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Feed-Forward </a:t>
            </a:r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Network (MLP)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Gate projection (</a:t>
            </a:r>
            <a:r>
              <a:rPr lang="en-IN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gate_proj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Up projection (</a:t>
            </a:r>
            <a:r>
              <a:rPr lang="en-IN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up_proj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Down projection (</a:t>
            </a:r>
            <a:r>
              <a:rPr lang="en-IN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down_proj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02268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Inference - </a:t>
            </a:r>
            <a:r>
              <a:rPr lang="en-IN" sz="3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LoRA</a:t>
            </a:r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Adapters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40542" y="979698"/>
            <a:ext cx="329744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Loading Existing 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LoRA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Adapter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57300" y="1575116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peft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import 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PeftModel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# Load base model first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model = 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AutoModelForCausalLM.from_pretrained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model_name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device_map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="auto"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# Load adapter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model = 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PeftModel.from_pretrained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(model, "./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lora_summarization_adapter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")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77658" y="4089835"/>
            <a:ext cx="28232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Using Model for Inference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57299" y="4624429"/>
            <a:ext cx="545782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prompt = "Summarize the following conversation:\n" \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       "Alice: Hi, how are you?\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nBob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: I'm good, thanks!\n"</a:t>
            </a:r>
          </a:p>
          <a:p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inputs = tokenizer(prompt, 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return_tensors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="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pt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").to(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model.device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outputs = 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model.generate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(**inputs, 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max_new_tokens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=50)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print(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tokenizer.decode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(outputs[0], 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skip_special_tokens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=True))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57298" y="6020798"/>
            <a:ext cx="723900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Adapter is applied automatically during forward pass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11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Quantization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71244" y="1075323"/>
            <a:ext cx="10410825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Quantization is the process of reducing numerical precision by mapping high-precision values (FP32/FP16) to lower-precision representations (INT8/INT4/FP8).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Why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quantization is used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Reduce </a:t>
            </a: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memory footprint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Increase </a:t>
            </a: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inference speed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Reduce </a:t>
            </a: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bandwidth &amp; cache pressure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Enable deployment on </a:t>
            </a: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CPUs / edge </a:t>
            </a:r>
            <a:r>
              <a:rPr lang="en-US" alt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devices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Types of </a:t>
            </a:r>
            <a:r>
              <a:rPr lang="en-IN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Quantization:</a:t>
            </a:r>
          </a:p>
          <a:p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Based on target datatype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Integer quantization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FP → INT8 / INT4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Floating-point quantization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: 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FP32 → FP16 / BF16 / </a:t>
            </a:r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FP8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651944"/>
              </p:ext>
            </p:extLst>
          </p:nvPr>
        </p:nvGraphicFramePr>
        <p:xfrm>
          <a:off x="2235200" y="4936464"/>
          <a:ext cx="6888480" cy="1483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18640">
                  <a:extLst>
                    <a:ext uri="{9D8B030D-6E8A-4147-A177-3AD203B41FA5}">
                      <a16:colId xmlns:a16="http://schemas.microsoft.com/office/drawing/2014/main" val="600814689"/>
                    </a:ext>
                  </a:extLst>
                </a:gridCol>
                <a:gridCol w="1330960">
                  <a:extLst>
                    <a:ext uri="{9D8B030D-6E8A-4147-A177-3AD203B41FA5}">
                      <a16:colId xmlns:a16="http://schemas.microsoft.com/office/drawing/2014/main" val="2467544946"/>
                    </a:ext>
                  </a:extLst>
                </a:gridCol>
                <a:gridCol w="983488">
                  <a:extLst>
                    <a:ext uri="{9D8B030D-6E8A-4147-A177-3AD203B41FA5}">
                      <a16:colId xmlns:a16="http://schemas.microsoft.com/office/drawing/2014/main" val="1098601"/>
                    </a:ext>
                  </a:extLst>
                </a:gridCol>
                <a:gridCol w="1769872">
                  <a:extLst>
                    <a:ext uri="{9D8B030D-6E8A-4147-A177-3AD203B41FA5}">
                      <a16:colId xmlns:a16="http://schemas.microsoft.com/office/drawing/2014/main" val="1405764683"/>
                    </a:ext>
                  </a:extLst>
                </a:gridCol>
                <a:gridCol w="985520">
                  <a:extLst>
                    <a:ext uri="{9D8B030D-6E8A-4147-A177-3AD203B41FA5}">
                      <a16:colId xmlns:a16="http://schemas.microsoft.com/office/drawing/2014/main" val="5539264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Format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Mantissa (Fraction)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Bits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2957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FP32 (single precision)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5068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FP16 (IEEE half)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3625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BF16 (Brain Float 16)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67425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8151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Integer Quantization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59484" y="1207403"/>
            <a:ext cx="10410825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IN" altLang="en-US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interger</a:t>
            </a:r>
            <a:r>
              <a:rPr lang="en-IN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quantization we have 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Symmetric vs Asymmetric </a:t>
            </a:r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Quantization.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Float values are real values: 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float to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range mapping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centered at zero (weights)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shifted away from zero (activations)</a:t>
            </a:r>
          </a:p>
          <a:p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You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cannot represent both efficiently with one 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scheme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so will use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Symmetric quantization for weights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Asymmetric quantization for activations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We need to calculate 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Scale and Zero point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to get the quantization done.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4285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Symmetric Quantization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50957" y="989372"/>
            <a:ext cx="549211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Symmetric Quantization: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Integer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range is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centered at zero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Zero maps exactly to zero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No 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zero-point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Ex: </a:t>
            </a:r>
          </a:p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Float values: x values 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[ -3.5 , -1.0 , 0.0 , 1.2 , 2.5 ]</a:t>
            </a:r>
          </a:p>
          <a:p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max(|x|) = 3.5</a:t>
            </a:r>
          </a:p>
          <a:p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scale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= 3.5 / 127 ≈ </a:t>
            </a:r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0.02756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7062073" y="835484"/>
            <a:ext cx="4967367" cy="3094964"/>
            <a:chOff x="7318890" y="1273713"/>
            <a:chExt cx="5029633" cy="3094964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18890" y="1655957"/>
              <a:ext cx="5029633" cy="2712720"/>
            </a:xfrm>
            <a:prstGeom prst="rect">
              <a:avLst/>
            </a:prstGeom>
          </p:spPr>
        </p:pic>
        <p:sp>
          <p:nvSpPr>
            <p:cNvPr id="4" name="Rectangle 1"/>
            <p:cNvSpPr>
              <a:spLocks noChangeArrowheads="1"/>
            </p:cNvSpPr>
            <p:nvPr/>
          </p:nvSpPr>
          <p:spPr bwMode="auto">
            <a:xfrm>
              <a:off x="8204835" y="1273713"/>
              <a:ext cx="3637280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Integer range : </a:t>
              </a:r>
              <a:r>
                <a:rPr kumimoji="0" lang="en-US" altLang="en-US" sz="1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INT8 → [-127 , +127]</a:t>
              </a:r>
            </a:p>
          </p:txBody>
        </p:sp>
      </p:grp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710844"/>
              </p:ext>
            </p:extLst>
          </p:nvPr>
        </p:nvGraphicFramePr>
        <p:xfrm>
          <a:off x="850957" y="4402566"/>
          <a:ext cx="3957319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77552">
                  <a:extLst>
                    <a:ext uri="{9D8B030D-6E8A-4147-A177-3AD203B41FA5}">
                      <a16:colId xmlns:a16="http://schemas.microsoft.com/office/drawing/2014/main" val="4205290271"/>
                    </a:ext>
                  </a:extLst>
                </a:gridCol>
                <a:gridCol w="2365367">
                  <a:extLst>
                    <a:ext uri="{9D8B030D-6E8A-4147-A177-3AD203B41FA5}">
                      <a16:colId xmlns:a16="http://schemas.microsoft.com/office/drawing/2014/main" val="2590368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893182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Float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Calculation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5959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-3.5 / 0.02756 = -127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-127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795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-1.0 / 0.02756 = -36.3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0949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 / 0.02756 =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0907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1.2 / 0.02756 = 43.5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50954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2.5 / 0.02756 = 90.7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1211890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8357751"/>
              </p:ext>
            </p:extLst>
          </p:nvPr>
        </p:nvGraphicFramePr>
        <p:xfrm>
          <a:off x="5455920" y="4392924"/>
          <a:ext cx="2733040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51280">
                  <a:extLst>
                    <a:ext uri="{9D8B030D-6E8A-4147-A177-3AD203B41FA5}">
                      <a16:colId xmlns:a16="http://schemas.microsoft.com/office/drawing/2014/main" val="2966002071"/>
                    </a:ext>
                  </a:extLst>
                </a:gridCol>
                <a:gridCol w="1381760">
                  <a:extLst>
                    <a:ext uri="{9D8B030D-6E8A-4147-A177-3AD203B41FA5}">
                      <a16:colId xmlns:a16="http://schemas.microsoft.com/office/drawing/2014/main" val="37399952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INT8 * Scale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Dequantized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1107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IN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127 * 0.02756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-3.50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6543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IN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 </a:t>
                      </a:r>
                      <a:r>
                        <a:rPr lang="en-IN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 0.02756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-0.99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7740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 </a:t>
                      </a:r>
                      <a:r>
                        <a:rPr lang="en-IN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 0.02756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286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44 </a:t>
                      </a:r>
                      <a:r>
                        <a:rPr lang="en-IN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 0.02756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7235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91 </a:t>
                      </a:r>
                      <a:r>
                        <a:rPr lang="en-IN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 0.02756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2.51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9500379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1485268" y="3998826"/>
            <a:ext cx="17187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n-IN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= round(x/scale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19800" y="4023592"/>
            <a:ext cx="12618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X ≈ q × scale</a:t>
            </a:r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627069" y="5418908"/>
            <a:ext cx="249762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l-PL" sz="1400" b="1" dirty="0">
                <a:latin typeface="Arial" panose="020B0604020202020204" pitchFamily="34" charset="0"/>
                <a:cs typeface="Arial" panose="020B0604020202020204" pitchFamily="34" charset="0"/>
              </a:rPr>
              <a:t>Zero maps to </a:t>
            </a:r>
            <a:r>
              <a:rPr lang="pl-PL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zer</a:t>
            </a:r>
            <a:r>
              <a:rPr lang="en-IN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l-PL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No </a:t>
            </a:r>
            <a:r>
              <a:rPr lang="pl-PL" sz="1400" b="1" dirty="0">
                <a:latin typeface="Arial" panose="020B0604020202020204" pitchFamily="34" charset="0"/>
                <a:cs typeface="Arial" panose="020B0604020202020204" pitchFamily="34" charset="0"/>
              </a:rPr>
              <a:t>zero-point needed</a:t>
            </a:r>
          </a:p>
        </p:txBody>
      </p:sp>
    </p:spTree>
    <p:extLst>
      <p:ext uri="{BB962C8B-B14F-4D97-AF65-F5344CB8AC3E}">
        <p14:creationId xmlns:p14="http://schemas.microsoft.com/office/powerpoint/2010/main" val="1154821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smtClean="0">
                <a:latin typeface="Arial" panose="020B0604020202020204" pitchFamily="34" charset="0"/>
                <a:cs typeface="Arial" panose="020B0604020202020204" pitchFamily="34" charset="0"/>
              </a:rPr>
              <a:t>Asymmetric Quantization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79805" y="930379"/>
            <a:ext cx="5989955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Asymmetric Quantization :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Some integer ranges are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not 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symmetric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14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Integer range is </a:t>
            </a:r>
            <a:r>
              <a:rPr lang="en-IN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shifted</a:t>
            </a:r>
            <a:endParaRPr lang="en-IN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Zero may not map to integer zero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Requires </a:t>
            </a:r>
            <a:r>
              <a:rPr lang="en-IN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zero-point</a:t>
            </a:r>
            <a:endParaRPr lang="en-IN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Ex:</a:t>
            </a:r>
          </a:p>
          <a:p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Float 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values (activations):</a:t>
            </a:r>
            <a:endParaRPr lang="en-IN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[ 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1.0 , 2.0 , 3.5 , 5.0 ]</a:t>
            </a:r>
          </a:p>
          <a:p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x_min = 1.0</a:t>
            </a:r>
          </a:p>
          <a:p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x_max = 5.0</a:t>
            </a:r>
          </a:p>
          <a:p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scale = (5.0 - 1.0) / 255</a:t>
            </a:r>
          </a:p>
          <a:p>
            <a:r>
              <a:rPr lang="it-IT" sz="1400" b="1" dirty="0">
                <a:latin typeface="Arial" panose="020B0604020202020204" pitchFamily="34" charset="0"/>
                <a:cs typeface="Arial" panose="020B0604020202020204" pitchFamily="34" charset="0"/>
              </a:rPr>
              <a:t>scale</a:t>
            </a:r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 ≈ 0.01569</a:t>
            </a:r>
          </a:p>
          <a:p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zero_point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= round(-1.0 / 0.01569)</a:t>
            </a:r>
          </a:p>
          <a:p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zero_point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≈ -64 →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clamp to 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0 (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clamp to valid integer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range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7525632" y="1398685"/>
            <a:ext cx="4473328" cy="3361016"/>
            <a:chOff x="7495152" y="971965"/>
            <a:chExt cx="4473328" cy="3361016"/>
          </a:xfrm>
        </p:grpSpPr>
        <p:sp>
          <p:nvSpPr>
            <p:cNvPr id="8" name="Rectangle 2"/>
            <p:cNvSpPr>
              <a:spLocks noChangeArrowheads="1"/>
            </p:cNvSpPr>
            <p:nvPr/>
          </p:nvSpPr>
          <p:spPr bwMode="auto">
            <a:xfrm>
              <a:off x="8019575" y="971965"/>
              <a:ext cx="3159760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Integer range</a:t>
              </a:r>
              <a:r>
                <a:rPr kumimoji="0" lang="en-US" altLang="en-US" sz="1400" b="1" i="0" u="none" strike="noStrike" cap="none" normalizeH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1400" b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:</a:t>
              </a:r>
              <a:r>
                <a:rPr kumimoji="0" lang="en-US" altLang="en-US" sz="1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UINT8 → [0 , 255]</a:t>
              </a:r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95152" y="1498095"/>
              <a:ext cx="4473328" cy="2834886"/>
            </a:xfrm>
            <a:prstGeom prst="rect">
              <a:avLst/>
            </a:prstGeom>
          </p:spPr>
        </p:pic>
      </p:grp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8682787"/>
              </p:ext>
            </p:extLst>
          </p:nvPr>
        </p:nvGraphicFramePr>
        <p:xfrm>
          <a:off x="668901" y="5116140"/>
          <a:ext cx="4654939" cy="1371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81187">
                  <a:extLst>
                    <a:ext uri="{9D8B030D-6E8A-4147-A177-3AD203B41FA5}">
                      <a16:colId xmlns:a16="http://schemas.microsoft.com/office/drawing/2014/main" val="2250814353"/>
                    </a:ext>
                  </a:extLst>
                </a:gridCol>
                <a:gridCol w="2779672">
                  <a:extLst>
                    <a:ext uri="{9D8B030D-6E8A-4147-A177-3AD203B41FA5}">
                      <a16:colId xmlns:a16="http://schemas.microsoft.com/office/drawing/2014/main" val="3450192048"/>
                    </a:ext>
                  </a:extLst>
                </a:gridCol>
                <a:gridCol w="894080">
                  <a:extLst>
                    <a:ext uri="{9D8B030D-6E8A-4147-A177-3AD203B41FA5}">
                      <a16:colId xmlns:a16="http://schemas.microsoft.com/office/drawing/2014/main" val="1040662680"/>
                    </a:ext>
                  </a:extLst>
                </a:gridCol>
              </a:tblGrid>
              <a:tr h="209635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Float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Calculation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UINT8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8064250"/>
                  </a:ext>
                </a:extLst>
              </a:tr>
              <a:tr h="209635"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round(1.0 / 0.01569) + 0 = 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1718956"/>
                  </a:ext>
                </a:extLst>
              </a:tr>
              <a:tr h="209635"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9012978"/>
                  </a:ext>
                </a:extLst>
              </a:tr>
              <a:tr h="209635"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7574389"/>
                  </a:ext>
                </a:extLst>
              </a:tr>
              <a:tr h="209635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7510381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8950426"/>
              </p:ext>
            </p:extLst>
          </p:nvPr>
        </p:nvGraphicFramePr>
        <p:xfrm>
          <a:off x="6019800" y="5116140"/>
          <a:ext cx="3586480" cy="1371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03680">
                  <a:extLst>
                    <a:ext uri="{9D8B030D-6E8A-4147-A177-3AD203B41FA5}">
                      <a16:colId xmlns:a16="http://schemas.microsoft.com/office/drawing/2014/main" val="836814401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238767507"/>
                    </a:ext>
                  </a:extLst>
                </a:gridCol>
              </a:tblGrid>
              <a:tr h="183219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UINT8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Dequantized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3257613"/>
                  </a:ext>
                </a:extLst>
              </a:tr>
              <a:tr h="183219"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6488694"/>
                  </a:ext>
                </a:extLst>
              </a:tr>
              <a:tr h="183219"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0535547"/>
                  </a:ext>
                </a:extLst>
              </a:tr>
              <a:tr h="183219"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7577640"/>
                  </a:ext>
                </a:extLst>
              </a:tr>
              <a:tr h="183219"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76840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736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QLORA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00124" y="1065163"/>
            <a:ext cx="10410825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QLoRA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Quantized 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LoRA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Combines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LoRA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adapters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with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4-bit quantization of the base model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Allows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fine-tuning very large language models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(up to 65B+)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on a single GPU or limited hardware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Key idea: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freeze the quantized base weights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learn low-rank adapters on top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00123" y="2361599"/>
            <a:ext cx="10410826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Why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QLoRA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Exists</a:t>
            </a:r>
          </a:p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Problem with traditional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LoRA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LoRA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reduces training parameters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But base model (e.g., 13B+) still consumes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hundreds of GB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memory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Reduces memory requirements ~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4–5×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No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major loss in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performance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QLoRA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may be slightly slower 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than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LoRA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fp16 per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forward/backward pass </a:t>
            </a:r>
            <a:endParaRPr lang="en-US" sz="14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due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to on-the-fly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dequantization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of the base weights to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float16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for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matrix multiplication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but memory usage is drastically reduced because the base model is stored in 4-bit and only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LoRA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adapters store gradients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Base weights are </a:t>
            </a: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stored in 4-bit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→ tiny memory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But GPUs cannot multiply float16 activations by 4-bit weights directly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So </a:t>
            </a: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W is </a:t>
            </a:r>
            <a:r>
              <a:rPr lang="en-US" alt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dequantized</a:t>
            </a: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to float16 temporarily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→ multiply by activations (X @ W_float16)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LoRA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updates (B @ A) are added → result = next layer </a:t>
            </a:r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activations</a:t>
            </a: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2590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FineTuning</a:t>
            </a:r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- QLORA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00124" y="1065163"/>
            <a:ext cx="10410825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#pip install transformers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peft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accelerate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bitsandbytes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datasets</a:t>
            </a:r>
          </a:p>
          <a:p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transformers import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AutoModelForCausalLM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AutoTokenizer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peft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import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LoraConfig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get_peft_model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model_name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= "meta-llama/Llama-2-13b-hf"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tokenizer =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AutoTokenizer.from_pretrained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model_name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model =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AutoModelForCausalLM.from_pretrained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model_name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device_map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="auto",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 load_in_4bit=True,            #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QLoRA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setup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quantization_config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={"bnb_4bit_compute_dtype": "float16"}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LoRA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adapter</a:t>
            </a:r>
          </a:p>
          <a:p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lora_config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LoraConfig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 r=16,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lora_alpha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=32,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target_modules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=["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q_proj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", "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v_proj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"],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lora_dropout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=0.05,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task_type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="CAUSAL_LM"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model =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get_peft_model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(model,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lora_config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86247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Inference - QLORA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00124" y="1065163"/>
            <a:ext cx="10410825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from transformers import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AutoModelForCausalLM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AutoTokenizer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peft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import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PeftModel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base_model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AutoModelForCausalLM.from_pretrained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("meta-llama/Llama-2-13b-hf",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load_in_4bit=True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model =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PeftModel.from_pretrained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base_model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"./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lora_adapter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")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tokenizer =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AutoTokenizer.from_pretrained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("meta-llama/Llama-2-13b-hf")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prompt = "Explain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QLoRA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in simple words:"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inputs = tokenizer(prompt,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return_tensors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="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").to(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model.device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outputs =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model.generate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(**inputs,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max_new_tokens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=50)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print(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tokenizer.decode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(outputs[0],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skip_special_tokens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=True))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671627" y="4056133"/>
            <a:ext cx="641096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Dequantization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during inference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Base model is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still stored in 4-bit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During forward pass,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bitsandbytes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dequantizes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W → float16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temporarily for matrix multiplication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LoRA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adapters (ΔW) are added as usual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Important: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Temporary float16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dequantization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is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still required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but since no backward pass, memory usage is much smaller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Activations are also only stored for the current forward pass → smaller footprint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8347" y="4728153"/>
            <a:ext cx="4671465" cy="1333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564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Quantization - Variants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44872" y="3815123"/>
            <a:ext cx="474617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Q4_0, Q4_K, Q4_K_S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Q8_K_M etc.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Quantization </a:t>
            </a: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formats (or variants)</a:t>
            </a: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_0, _1 → Legacy quantization formats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_K → Modern K-quant quantization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_K_S, _K_M, _K_L → Modern K-quant variants balancing size vs quality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6505579"/>
              </p:ext>
            </p:extLst>
          </p:nvPr>
        </p:nvGraphicFramePr>
        <p:xfrm>
          <a:off x="6602122" y="3557215"/>
          <a:ext cx="4675478" cy="15697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90691">
                  <a:extLst>
                    <a:ext uri="{9D8B030D-6E8A-4147-A177-3AD203B41FA5}">
                      <a16:colId xmlns:a16="http://schemas.microsoft.com/office/drawing/2014/main" val="926086679"/>
                    </a:ext>
                  </a:extLst>
                </a:gridCol>
                <a:gridCol w="3484787">
                  <a:extLst>
                    <a:ext uri="{9D8B030D-6E8A-4147-A177-3AD203B41FA5}">
                      <a16:colId xmlns:a16="http://schemas.microsoft.com/office/drawing/2014/main" val="554345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3871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4-bit weight quantization (INT4)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0580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_K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K-quantization (block-wise, grouped scaling used by llama.cpp)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0447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_M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 precision for block scale metadata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5011072"/>
                  </a:ext>
                </a:extLst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568565"/>
              </p:ext>
            </p:extLst>
          </p:nvPr>
        </p:nvGraphicFramePr>
        <p:xfrm>
          <a:off x="3341037" y="1264460"/>
          <a:ext cx="4500014" cy="1524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36167">
                  <a:extLst>
                    <a:ext uri="{9D8B030D-6E8A-4147-A177-3AD203B41FA5}">
                      <a16:colId xmlns:a16="http://schemas.microsoft.com/office/drawing/2014/main" val="4074956776"/>
                    </a:ext>
                  </a:extLst>
                </a:gridCol>
                <a:gridCol w="2863847">
                  <a:extLst>
                    <a:ext uri="{9D8B030D-6E8A-4147-A177-3AD203B41FA5}">
                      <a16:colId xmlns:a16="http://schemas.microsoft.com/office/drawing/2014/main" val="2197209578"/>
                    </a:ext>
                  </a:extLst>
                </a:gridCol>
              </a:tblGrid>
              <a:tr h="260644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Format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Quantization naming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5865224"/>
                  </a:ext>
                </a:extLst>
              </a:tr>
              <a:tr h="260644"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.gguf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Q4_0, Q4_K_M, Q8_K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5337648"/>
                  </a:ext>
                </a:extLst>
              </a:tr>
              <a:tr h="260644"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fp16, int8, nf4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6620268"/>
                  </a:ext>
                </a:extLst>
              </a:tr>
              <a:tr h="260644"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.safetensors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fp16, bf16, int8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8867104"/>
                  </a:ext>
                </a:extLst>
              </a:tr>
              <a:tr h="260644"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.onnx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int8, fp16, QDQ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0318801"/>
                  </a:ext>
                </a:extLst>
              </a:tr>
            </a:tbl>
          </a:graphicData>
        </a:graphic>
      </p:graphicFrame>
      <p:sp>
        <p:nvSpPr>
          <p:cNvPr id="24" name="Rectangle 23"/>
          <p:cNvSpPr/>
          <p:nvPr/>
        </p:nvSpPr>
        <p:spPr>
          <a:xfrm>
            <a:off x="844872" y="3002043"/>
            <a:ext cx="4650632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GGUF Quantization Formats: 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_0, _1, _K, _K_S, _</a:t>
            </a:r>
            <a:r>
              <a:rPr lang="en-IN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K_M</a:t>
            </a:r>
          </a:p>
          <a:p>
            <a:pPr lvl="0"/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used by llama.cpp, </a:t>
            </a:r>
            <a:r>
              <a:rPr lang="en-US" altLang="en-US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ollama</a:t>
            </a:r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etc. </a:t>
            </a: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0927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Quantization : _K_M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674915" y="901078"/>
            <a:ext cx="11299372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_K means :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Instead of one scale for the entire tensor, we split the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tensors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into fixed-size blocks and compute one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scale</a:t>
            </a:r>
            <a:endParaRPr kumimoji="0" lang="en-US" altLang="en-US" sz="1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Weights are split into blocks (usually 256 values)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Each block has:</a:t>
            </a:r>
          </a:p>
          <a:p>
            <a:pPr marL="1200150" lvl="2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Quantized INT8 values</a:t>
            </a:r>
          </a:p>
          <a:p>
            <a:pPr marL="1200150" lvl="2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block scale</a:t>
            </a:r>
          </a:p>
          <a:p>
            <a:pPr marL="1200150" lvl="2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Ex: </a:t>
            </a:r>
            <a:r>
              <a:rPr kumimoji="0" lang="en-US" altLang="en-US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FP16 to int8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Weights(FP16): </a:t>
            </a:r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[ 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0.1, 0.2, 0.15, 0.18,  3.2, 3.5, 3.1, 3.4 ]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Block size = </a:t>
            </a:r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Block1 : </a:t>
            </a:r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[0.1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0.2, 0.15, 0.18] → scale₁ = max(|x|)/127 = 0.2 / 127 ≈ 0.0015748</a:t>
            </a:r>
            <a:endParaRPr lang="en-US" alt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en-US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Qunatized</a:t>
            </a:r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values : int8 </a:t>
            </a:r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[64,127,95,114]</a:t>
            </a: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Block2 : </a:t>
            </a:r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[3.2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3.5, 3.1, 3.4] → scale₂ = max(|x|)/127 = 3.5 / 127 ≈ 0.027559</a:t>
            </a:r>
            <a:endParaRPr lang="en-US" alt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Qunatized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values 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 int8 </a:t>
            </a:r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[116,127,113,123]</a:t>
            </a: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Stored values:</a:t>
            </a:r>
            <a:endParaRPr kumimoji="0" lang="en-US" alt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[int8 values] + [scale₁] + [scale₂]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_M means </a:t>
            </a:r>
            <a:r>
              <a:rPr lang="en-US" alt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_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 controls how the block scale itself is </a:t>
            </a:r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stored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 K-quantization: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You don’t just quantize weights — you also store scale values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_M = Medium precision scale </a:t>
            </a:r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representation</a:t>
            </a: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0495940"/>
              </p:ext>
            </p:extLst>
          </p:nvPr>
        </p:nvGraphicFramePr>
        <p:xfrm>
          <a:off x="6574972" y="5128333"/>
          <a:ext cx="5312229" cy="1097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8828">
                  <a:extLst>
                    <a:ext uri="{9D8B030D-6E8A-4147-A177-3AD203B41FA5}">
                      <a16:colId xmlns:a16="http://schemas.microsoft.com/office/drawing/2014/main" val="638325674"/>
                    </a:ext>
                  </a:extLst>
                </a:gridCol>
                <a:gridCol w="1936138">
                  <a:extLst>
                    <a:ext uri="{9D8B030D-6E8A-4147-A177-3AD203B41FA5}">
                      <a16:colId xmlns:a16="http://schemas.microsoft.com/office/drawing/2014/main" val="1054772319"/>
                    </a:ext>
                  </a:extLst>
                </a:gridCol>
                <a:gridCol w="1061428">
                  <a:extLst>
                    <a:ext uri="{9D8B030D-6E8A-4147-A177-3AD203B41FA5}">
                      <a16:colId xmlns:a16="http://schemas.microsoft.com/office/drawing/2014/main" val="67115038"/>
                    </a:ext>
                  </a:extLst>
                </a:gridCol>
                <a:gridCol w="1345835">
                  <a:extLst>
                    <a:ext uri="{9D8B030D-6E8A-4147-A177-3AD203B41FA5}">
                      <a16:colId xmlns:a16="http://schemas.microsoft.com/office/drawing/2014/main" val="3639686351"/>
                    </a:ext>
                  </a:extLst>
                </a:gridCol>
              </a:tblGrid>
              <a:tr h="216119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Scale storage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Size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4184139"/>
                  </a:ext>
                </a:extLst>
              </a:tr>
              <a:tr h="127129"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_S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Very low 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Lowest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Smallest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442286"/>
                  </a:ext>
                </a:extLst>
              </a:tr>
              <a:tr h="127129"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_M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 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Balanced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074003"/>
                  </a:ext>
                </a:extLst>
              </a:tr>
              <a:tr h="127129"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_L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 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Best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Larger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13353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7104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PTQ Vs QAT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762000" y="1331680"/>
            <a:ext cx="10515600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Post-Training Quantization (PTQ)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PTQ is a method where you take a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fully trained model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(usually in FP32 or FP16) and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convert its weights and/or activations to lower precision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(like INT8, INT4)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after training is complete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There is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 retraining involved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though sometimes a small calibration dataset is used.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GPTQ and AWQ are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PTQ methods designed to reduce accuracy loss when quantizing weights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0150" lvl="2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GPTQ -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Generative Pre-trained Transformer Quantization</a:t>
            </a:r>
            <a:endParaRPr lang="en-US" alt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0150" lvl="2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AWQ - Activation-aware Weight Quantization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Quantization-Aware Training (QAT)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QAT simulates quantization </a:t>
            </a: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during training itself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model “learns” to work well with lower-precision numbers.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Both </a:t>
            </a: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weights and activations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are effectively trained to be robust under quantization.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9361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PTQ Vs QAT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9113147"/>
              </p:ext>
            </p:extLst>
          </p:nvPr>
        </p:nvGraphicFramePr>
        <p:xfrm>
          <a:off x="939801" y="1766146"/>
          <a:ext cx="10159998" cy="25958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386666">
                  <a:extLst>
                    <a:ext uri="{9D8B030D-6E8A-4147-A177-3AD203B41FA5}">
                      <a16:colId xmlns:a16="http://schemas.microsoft.com/office/drawing/2014/main" val="1330741859"/>
                    </a:ext>
                  </a:extLst>
                </a:gridCol>
                <a:gridCol w="3386666">
                  <a:extLst>
                    <a:ext uri="{9D8B030D-6E8A-4147-A177-3AD203B41FA5}">
                      <a16:colId xmlns:a16="http://schemas.microsoft.com/office/drawing/2014/main" val="2767688939"/>
                    </a:ext>
                  </a:extLst>
                </a:gridCol>
                <a:gridCol w="3386666">
                  <a:extLst>
                    <a:ext uri="{9D8B030D-6E8A-4147-A177-3AD203B41FA5}">
                      <a16:colId xmlns:a16="http://schemas.microsoft.com/office/drawing/2014/main" val="37420828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Post-Training Quantization (PTQ)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Quantization-Aware Training (QAT)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1858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When applied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After training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During training/fine-tuning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5605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Requires retraining?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4381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Accuracy drop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Can be significant for sensitive 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Minimal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0670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91664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Best for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Quick deployment, low compute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High-accuracy deployment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9945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Bit-level aggressiveness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INT8 usually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INT8, INT4, very low bits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48398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2004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ADCAF8-8823-4E89-8612-21029831A4B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CA07B2-0819-4B62-9425-7A52BBDD707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A02BEE4-A5D4-40AF-882D-49D34B086FF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5843EB-154F-4459-8954-BB1DF64BBD1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5905135-55D9-431B-8D5A-4C5C92B1FED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B732812-A0BB-4324-B390-DFEF26C109E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1FEC055-6F76-4E20-BC93-76C2F58EAF3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74CD21D-122E-4F3D-82AF-F4A37C278AF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A7FF51F-3820-41BE-8690-7E758ECFA7C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5EAD889-EA4D-485F-BA9C-F6473A43299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A438EA56-8646-05A2-36D5-9122791CBC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5368" y="2043663"/>
            <a:ext cx="6105194" cy="2031055"/>
          </a:xfrm>
        </p:spPr>
        <p:txBody>
          <a:bodyPr>
            <a:normAutofit/>
          </a:bodyPr>
          <a:lstStyle/>
          <a:p>
            <a:r>
              <a:rPr lang="en-US" sz="6600" b="1" dirty="0">
                <a:solidFill>
                  <a:schemeClr val="tx2"/>
                </a:solidFill>
              </a:rPr>
              <a:t>Thank you</a:t>
            </a:r>
            <a:endParaRPr lang="en-IN" sz="6600" b="1" dirty="0">
              <a:solidFill>
                <a:schemeClr val="tx2"/>
              </a:solidFill>
            </a:endParaRPr>
          </a:p>
        </p:txBody>
      </p:sp>
      <p:pic>
        <p:nvPicPr>
          <p:cNvPr id="16" name="Picture 15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7415" y="75515"/>
            <a:ext cx="610970" cy="61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714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2714</Words>
  <Application>Microsoft Office PowerPoint</Application>
  <PresentationFormat>Widescreen</PresentationFormat>
  <Paragraphs>718</Paragraphs>
  <Slides>26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Aptos</vt:lpstr>
      <vt:lpstr>Aptos Display</vt:lpstr>
      <vt:lpstr>Arial</vt:lpstr>
      <vt:lpstr>Arial Unicode MS</vt:lpstr>
      <vt:lpstr>Wingdings</vt:lpstr>
      <vt:lpstr>Office Theme</vt:lpstr>
      <vt:lpstr>PEFT(Parameter Efficient FineTuning)</vt:lpstr>
      <vt:lpstr>PreTraining Vs FineTuning Vs PEFT</vt:lpstr>
      <vt:lpstr>PreTraining Vs FineTuning Vs PEFT</vt:lpstr>
      <vt:lpstr>PreTraining Vs FineTuning Vs PEFT</vt:lpstr>
      <vt:lpstr>PreTraining Vs FineTuning Vs PEFT</vt:lpstr>
      <vt:lpstr>Adapters</vt:lpstr>
      <vt:lpstr>LoRA (Low-Rank Adaptation)</vt:lpstr>
      <vt:lpstr>LoRA (Low-Rank Adaptation)</vt:lpstr>
      <vt:lpstr>LoRA (Low-Rank Adaptation)</vt:lpstr>
      <vt:lpstr>Rank</vt:lpstr>
      <vt:lpstr>LoRA (Low-Rank Adaptation)</vt:lpstr>
      <vt:lpstr>FineTuning - LoRA</vt:lpstr>
      <vt:lpstr>FineTuning - LoRA</vt:lpstr>
      <vt:lpstr>Inference - LoRA Adapters</vt:lpstr>
      <vt:lpstr>Quantization</vt:lpstr>
      <vt:lpstr>Integer Quantization</vt:lpstr>
      <vt:lpstr>Symmetric Quantization</vt:lpstr>
      <vt:lpstr>Asymmetric Quantization</vt:lpstr>
      <vt:lpstr>QLORA</vt:lpstr>
      <vt:lpstr>FineTuning - QLORA</vt:lpstr>
      <vt:lpstr>Inference - QLORA</vt:lpstr>
      <vt:lpstr>Quantization - Variants</vt:lpstr>
      <vt:lpstr>Quantization : _K_M</vt:lpstr>
      <vt:lpstr>PTQ Vs QAT</vt:lpstr>
      <vt:lpstr>PTQ Vs QAT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Programming</dc:title>
  <dc:creator/>
  <cp:lastModifiedBy/>
  <cp:revision>1184</cp:revision>
  <dcterms:created xsi:type="dcterms:W3CDTF">2024-09-04T04:29:20Z</dcterms:created>
  <dcterms:modified xsi:type="dcterms:W3CDTF">2026-01-04T21:19:56Z</dcterms:modified>
</cp:coreProperties>
</file>